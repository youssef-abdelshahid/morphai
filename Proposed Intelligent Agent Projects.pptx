
<file path=[Content_Types].xml><?xml version="1.0" encoding="utf-8"?>
<Types xmlns="http://schemas.openxmlformats.org/package/2006/content-types">
  <Default Extension="fntdata" ContentType="application/x-fontdata"/>
  <Default Extension="jpeg" ContentType="image/jpeg"/>
  <Default Extension="jpg" ContentType="image/jp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12192000" cy="6858000"/>
  <p:notesSz cx="6858000" cy="12192000"/>
  <p:embeddedFontLst>
    <p:embeddedFont>
      <p:font typeface="微软雅黑" panose="020B0503020204020204" pitchFamily="34" charset="-122"/>
      <p:regular r:id="rId14"/>
      <p:bold r:id="rId15"/>
    </p:embeddedFont>
    <p:embeddedFont>
      <p:font typeface="Liter" panose="020B0604020202020204" charset="0"/>
      <p:regular r:id="rId16"/>
    </p:embeddedFont>
    <p:embeddedFont>
      <p:font typeface="Quattrocento Sans" panose="020B0502050000020003" pitchFamily="34" charset="0"/>
      <p:regular r:id="rId17"/>
      <p:bold r:id="rId1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11" d="100"/>
          <a:sy n="111" d="100"/>
        </p:scale>
        <p:origin x="2178"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font" Target="fonts/font5.fntdata"/><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4.fntdata"/><Relationship Id="rId2" Type="http://schemas.openxmlformats.org/officeDocument/2006/relationships/slide" Target="slides/slide1.xml"/><Relationship Id="rId16" Type="http://schemas.openxmlformats.org/officeDocument/2006/relationships/font" Target="fonts/font3.fntdata"/><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2.fntdata"/><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1.fntdata"/><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9955061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PTIST_MASTER">
    <p:bg>
      <p:bgPr>
        <a:solidFill>
          <a:srgbClr val="FFFFFF"/>
        </a:solid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1D24"/>
        </a:solidFill>
        <a:effectLst/>
      </p:bgPr>
    </p:bg>
    <p:spTree>
      <p:nvGrpSpPr>
        <p:cNvPr id="1" name=""/>
        <p:cNvGrpSpPr/>
        <p:nvPr/>
      </p:nvGrpSpPr>
      <p:grpSpPr>
        <a:xfrm>
          <a:off x="0" y="0"/>
          <a:ext cx="0" cy="0"/>
          <a:chOff x="0" y="0"/>
          <a:chExt cx="0" cy="0"/>
        </a:xfrm>
      </p:grpSpPr>
      <p:pic>
        <p:nvPicPr>
          <p:cNvPr id="2" name="Image 0" descr="https://kimi-web-img.moonshot.cn/img/thumbs.dreamstime.com/d059bbfa5d1e729da7671e22ecb5e978ccd2ee63.jpg"/>
          <p:cNvPicPr>
            <a:picLocks noChangeAspect="1"/>
          </p:cNvPicPr>
          <p:nvPr/>
        </p:nvPicPr>
        <p:blipFill>
          <a:blip r:embed="rId3">
            <a:alphaModFix amt="30000"/>
          </a:blip>
          <a:srcRect t="21875" b="21875"/>
          <a:stretch/>
        </p:blipFill>
        <p:spPr>
          <a:xfrm>
            <a:off x="0" y="0"/>
            <a:ext cx="12192000" cy="6858000"/>
          </a:xfrm>
          <a:prstGeom prst="roundRect">
            <a:avLst>
              <a:gd name="adj" fmla="val 0"/>
            </a:avLst>
          </a:prstGeom>
        </p:spPr>
      </p:pic>
      <p:sp>
        <p:nvSpPr>
          <p:cNvPr id="3" name="Shape 0"/>
          <p:cNvSpPr/>
          <p:nvPr/>
        </p:nvSpPr>
        <p:spPr>
          <a:xfrm>
            <a:off x="0" y="0"/>
            <a:ext cx="12192000" cy="6858000"/>
          </a:xfrm>
          <a:custGeom>
            <a:avLst/>
            <a:gdLst/>
            <a:ahLst/>
            <a:cxnLst/>
            <a:rect l="l" t="t" r="r" b="b"/>
            <a:pathLst>
              <a:path w="12192000" h="6858000">
                <a:moveTo>
                  <a:pt x="0" y="0"/>
                </a:moveTo>
                <a:lnTo>
                  <a:pt x="12192000" y="0"/>
                </a:lnTo>
                <a:lnTo>
                  <a:pt x="12192000" y="6858000"/>
                </a:lnTo>
                <a:lnTo>
                  <a:pt x="0" y="6858000"/>
                </a:lnTo>
                <a:lnTo>
                  <a:pt x="0" y="0"/>
                </a:lnTo>
                <a:close/>
              </a:path>
            </a:pathLst>
          </a:custGeom>
          <a:gradFill flip="none" rotWithShape="1">
            <a:gsLst>
              <a:gs pos="0">
                <a:srgbClr val="1A1D24">
                  <a:alpha val="95000"/>
                </a:srgbClr>
              </a:gs>
              <a:gs pos="50000">
                <a:srgbClr val="1A1D24">
                  <a:alpha val="85000"/>
                </a:srgbClr>
              </a:gs>
              <a:gs pos="100000">
                <a:srgbClr val="4A6C8C">
                  <a:alpha val="40000"/>
                </a:srgbClr>
              </a:gs>
            </a:gsLst>
            <a:lin ang="2700000" scaled="1"/>
          </a:gradFill>
          <a:ln/>
        </p:spPr>
        <p:txBody>
          <a:bodyPr/>
          <a:lstStyle/>
          <a:p>
            <a:endParaRPr lang="en-GB"/>
          </a:p>
        </p:txBody>
      </p:sp>
      <p:sp>
        <p:nvSpPr>
          <p:cNvPr id="4" name="Shape 1"/>
          <p:cNvSpPr/>
          <p:nvPr/>
        </p:nvSpPr>
        <p:spPr>
          <a:xfrm>
            <a:off x="400050" y="957263"/>
            <a:ext cx="3009900" cy="419100"/>
          </a:xfrm>
          <a:custGeom>
            <a:avLst/>
            <a:gdLst/>
            <a:ahLst/>
            <a:cxnLst/>
            <a:rect l="l" t="t" r="r" b="b"/>
            <a:pathLst>
              <a:path w="3009900" h="419100">
                <a:moveTo>
                  <a:pt x="0" y="0"/>
                </a:moveTo>
                <a:lnTo>
                  <a:pt x="3009900" y="0"/>
                </a:lnTo>
                <a:lnTo>
                  <a:pt x="3009900" y="419100"/>
                </a:lnTo>
                <a:lnTo>
                  <a:pt x="0" y="419100"/>
                </a:lnTo>
                <a:lnTo>
                  <a:pt x="0" y="0"/>
                </a:lnTo>
                <a:close/>
              </a:path>
            </a:pathLst>
          </a:custGeom>
          <a:solidFill>
            <a:srgbClr val="C9A86A">
              <a:alpha val="20000"/>
            </a:srgbClr>
          </a:solidFill>
          <a:ln/>
        </p:spPr>
        <p:txBody>
          <a:bodyPr/>
          <a:lstStyle/>
          <a:p>
            <a:endParaRPr lang="en-GB"/>
          </a:p>
        </p:txBody>
      </p:sp>
      <p:sp>
        <p:nvSpPr>
          <p:cNvPr id="5" name="Shape 2"/>
          <p:cNvSpPr/>
          <p:nvPr/>
        </p:nvSpPr>
        <p:spPr>
          <a:xfrm>
            <a:off x="400050" y="957263"/>
            <a:ext cx="38100" cy="419100"/>
          </a:xfrm>
          <a:custGeom>
            <a:avLst/>
            <a:gdLst/>
            <a:ahLst/>
            <a:cxnLst/>
            <a:rect l="l" t="t" r="r" b="b"/>
            <a:pathLst>
              <a:path w="38100" h="419100">
                <a:moveTo>
                  <a:pt x="0" y="0"/>
                </a:moveTo>
                <a:lnTo>
                  <a:pt x="38100" y="0"/>
                </a:lnTo>
                <a:lnTo>
                  <a:pt x="38100" y="419100"/>
                </a:lnTo>
                <a:lnTo>
                  <a:pt x="0" y="419100"/>
                </a:lnTo>
                <a:lnTo>
                  <a:pt x="0" y="0"/>
                </a:lnTo>
                <a:close/>
              </a:path>
            </a:pathLst>
          </a:custGeom>
          <a:solidFill>
            <a:srgbClr val="C9A86A"/>
          </a:solidFill>
          <a:ln/>
        </p:spPr>
        <p:txBody>
          <a:bodyPr/>
          <a:lstStyle/>
          <a:p>
            <a:endParaRPr lang="en-GB"/>
          </a:p>
        </p:txBody>
      </p:sp>
      <p:sp>
        <p:nvSpPr>
          <p:cNvPr id="6" name="Text 3"/>
          <p:cNvSpPr/>
          <p:nvPr/>
        </p:nvSpPr>
        <p:spPr>
          <a:xfrm>
            <a:off x="609600" y="1033462"/>
            <a:ext cx="2695575" cy="266700"/>
          </a:xfrm>
          <a:prstGeom prst="rect">
            <a:avLst/>
          </a:prstGeom>
          <a:noFill/>
          <a:ln/>
        </p:spPr>
        <p:txBody>
          <a:bodyPr wrap="square" lIns="0" tIns="0" rIns="0" bIns="0" rtlCol="0" anchor="ctr"/>
          <a:lstStyle/>
          <a:p>
            <a:pPr>
              <a:lnSpc>
                <a:spcPct val="130000"/>
              </a:lnSpc>
            </a:pPr>
            <a:r>
              <a:rPr lang="en-US" sz="1350" b="1" kern="0" spc="135" dirty="0">
                <a:solidFill>
                  <a:srgbClr val="C9A86A"/>
                </a:solidFill>
                <a:latin typeface="Quattrocento Sans" pitchFamily="34" charset="0"/>
                <a:ea typeface="Quattrocento Sans" pitchFamily="34" charset="-122"/>
                <a:cs typeface="Quattrocento Sans" pitchFamily="34" charset="-120"/>
              </a:rPr>
              <a:t>Project Proposal</a:t>
            </a:r>
            <a:endParaRPr lang="en-US" sz="1600" dirty="0"/>
          </a:p>
        </p:txBody>
      </p:sp>
      <p:sp>
        <p:nvSpPr>
          <p:cNvPr id="7" name="Text 4"/>
          <p:cNvSpPr/>
          <p:nvPr/>
        </p:nvSpPr>
        <p:spPr>
          <a:xfrm>
            <a:off x="381000" y="1681163"/>
            <a:ext cx="11772900" cy="2571750"/>
          </a:xfrm>
          <a:prstGeom prst="rect">
            <a:avLst/>
          </a:prstGeom>
          <a:noFill/>
          <a:ln/>
        </p:spPr>
        <p:txBody>
          <a:bodyPr wrap="square" lIns="0" tIns="0" rIns="0" bIns="0" rtlCol="0" anchor="ctr"/>
          <a:lstStyle/>
          <a:p>
            <a:pPr>
              <a:lnSpc>
                <a:spcPct val="100000"/>
              </a:lnSpc>
            </a:pPr>
            <a:r>
              <a:rPr lang="en-US" sz="5400" b="1" dirty="0">
                <a:solidFill>
                  <a:srgbClr val="EDF2F4"/>
                </a:solidFill>
                <a:latin typeface="Liter" pitchFamily="34" charset="0"/>
                <a:ea typeface="Liter" pitchFamily="34" charset="-122"/>
                <a:cs typeface="Liter" pitchFamily="34" charset="-120"/>
              </a:rPr>
              <a:t>Proposed</a:t>
            </a:r>
            <a:endParaRPr lang="en-US" sz="1600" dirty="0"/>
          </a:p>
          <a:p>
            <a:pPr>
              <a:lnSpc>
                <a:spcPct val="100000"/>
              </a:lnSpc>
            </a:pPr>
            <a:r>
              <a:rPr lang="en-US" sz="5400" b="1" dirty="0">
                <a:solidFill>
                  <a:srgbClr val="EDF2F4"/>
                </a:solidFill>
                <a:latin typeface="Liter" pitchFamily="34" charset="0"/>
                <a:ea typeface="Liter" pitchFamily="34" charset="-122"/>
                <a:cs typeface="Liter" pitchFamily="34" charset="-120"/>
              </a:rPr>
              <a:t>Intelligent Agent</a:t>
            </a:r>
            <a:endParaRPr lang="en-US" sz="1600" dirty="0"/>
          </a:p>
          <a:p>
            <a:pPr>
              <a:lnSpc>
                <a:spcPct val="100000"/>
              </a:lnSpc>
            </a:pPr>
            <a:r>
              <a:rPr lang="en-US" sz="5400" b="1" dirty="0">
                <a:solidFill>
                  <a:srgbClr val="EDF2F4"/>
                </a:solidFill>
                <a:latin typeface="Liter" pitchFamily="34" charset="0"/>
                <a:ea typeface="Liter" pitchFamily="34" charset="-122"/>
                <a:cs typeface="Liter" pitchFamily="34" charset="-120"/>
              </a:rPr>
              <a:t>Projects</a:t>
            </a:r>
            <a:endParaRPr lang="en-US" sz="1600" dirty="0"/>
          </a:p>
        </p:txBody>
      </p:sp>
      <p:sp>
        <p:nvSpPr>
          <p:cNvPr id="8" name="Shape 5"/>
          <p:cNvSpPr/>
          <p:nvPr/>
        </p:nvSpPr>
        <p:spPr>
          <a:xfrm>
            <a:off x="381000" y="4481513"/>
            <a:ext cx="1219200" cy="38100"/>
          </a:xfrm>
          <a:custGeom>
            <a:avLst/>
            <a:gdLst/>
            <a:ahLst/>
            <a:cxnLst/>
            <a:rect l="l" t="t" r="r" b="b"/>
            <a:pathLst>
              <a:path w="1219200" h="38100">
                <a:moveTo>
                  <a:pt x="0" y="0"/>
                </a:moveTo>
                <a:lnTo>
                  <a:pt x="1219200" y="0"/>
                </a:lnTo>
                <a:lnTo>
                  <a:pt x="1219200" y="38100"/>
                </a:lnTo>
                <a:lnTo>
                  <a:pt x="0" y="38100"/>
                </a:lnTo>
                <a:lnTo>
                  <a:pt x="0" y="0"/>
                </a:lnTo>
                <a:close/>
              </a:path>
            </a:pathLst>
          </a:custGeom>
          <a:solidFill>
            <a:srgbClr val="C9A86A"/>
          </a:solidFill>
          <a:ln/>
        </p:spPr>
        <p:txBody>
          <a:bodyPr/>
          <a:lstStyle/>
          <a:p>
            <a:endParaRPr lang="en-GB"/>
          </a:p>
        </p:txBody>
      </p:sp>
      <p:sp>
        <p:nvSpPr>
          <p:cNvPr id="9" name="Text 6"/>
          <p:cNvSpPr/>
          <p:nvPr/>
        </p:nvSpPr>
        <p:spPr>
          <a:xfrm>
            <a:off x="381000" y="4824413"/>
            <a:ext cx="6515100" cy="304800"/>
          </a:xfrm>
          <a:prstGeom prst="rect">
            <a:avLst/>
          </a:prstGeom>
          <a:noFill/>
          <a:ln/>
        </p:spPr>
        <p:txBody>
          <a:bodyPr wrap="square" lIns="0" tIns="0" rIns="0" bIns="0" rtlCol="0" anchor="ctr"/>
          <a:lstStyle/>
          <a:p>
            <a:pPr>
              <a:lnSpc>
                <a:spcPct val="110000"/>
              </a:lnSpc>
            </a:pPr>
            <a:r>
              <a:rPr lang="en-US" sz="1600" dirty="0">
                <a:solidFill>
                  <a:srgbClr val="8D99AE"/>
                </a:solidFill>
                <a:latin typeface="Quattrocento Sans" pitchFamily="34" charset="0"/>
              </a:rPr>
              <a:t>Designing Intelligent Agents</a:t>
            </a:r>
            <a:endParaRPr lang="en-US" sz="1600" dirty="0"/>
          </a:p>
        </p:txBody>
      </p:sp>
      <p:sp>
        <p:nvSpPr>
          <p:cNvPr id="10" name="Shape 7"/>
          <p:cNvSpPr/>
          <p:nvPr/>
        </p:nvSpPr>
        <p:spPr>
          <a:xfrm>
            <a:off x="381000" y="5710238"/>
            <a:ext cx="11430000" cy="9525"/>
          </a:xfrm>
          <a:custGeom>
            <a:avLst/>
            <a:gdLst/>
            <a:ahLst/>
            <a:cxnLst/>
            <a:rect l="l" t="t" r="r" b="b"/>
            <a:pathLst>
              <a:path w="11430000" h="9525">
                <a:moveTo>
                  <a:pt x="0" y="0"/>
                </a:moveTo>
                <a:lnTo>
                  <a:pt x="11430000" y="0"/>
                </a:lnTo>
                <a:lnTo>
                  <a:pt x="11430000" y="9525"/>
                </a:lnTo>
                <a:lnTo>
                  <a:pt x="0" y="9525"/>
                </a:lnTo>
                <a:lnTo>
                  <a:pt x="0" y="0"/>
                </a:lnTo>
                <a:close/>
              </a:path>
            </a:pathLst>
          </a:custGeom>
          <a:solidFill>
            <a:srgbClr val="4A6C8C">
              <a:alpha val="30196"/>
            </a:srgbClr>
          </a:solidFill>
          <a:ln/>
        </p:spPr>
        <p:txBody>
          <a:bodyPr/>
          <a:lstStyle/>
          <a:p>
            <a:endParaRPr lang="en-GB"/>
          </a:p>
        </p:txBody>
      </p:sp>
      <p:sp>
        <p:nvSpPr>
          <p:cNvPr id="11" name="Text 8"/>
          <p:cNvSpPr/>
          <p:nvPr/>
        </p:nvSpPr>
        <p:spPr>
          <a:xfrm>
            <a:off x="381000" y="5943600"/>
            <a:ext cx="3724275" cy="190500"/>
          </a:xfrm>
          <a:prstGeom prst="rect">
            <a:avLst/>
          </a:prstGeom>
          <a:noFill/>
          <a:ln/>
        </p:spPr>
        <p:txBody>
          <a:bodyPr wrap="square" lIns="0" tIns="0" rIns="0" bIns="0" rtlCol="0" anchor="ctr"/>
          <a:lstStyle/>
          <a:p>
            <a:pPr>
              <a:lnSpc>
                <a:spcPct val="120000"/>
              </a:lnSpc>
            </a:pPr>
            <a:r>
              <a:rPr lang="en-US" sz="1050" kern="0" spc="53" dirty="0">
                <a:solidFill>
                  <a:srgbClr val="8D99AE"/>
                </a:solidFill>
                <a:latin typeface="Quattrocento Sans" pitchFamily="34" charset="0"/>
                <a:ea typeface="Quattrocento Sans" pitchFamily="34" charset="-122"/>
                <a:cs typeface="Quattrocento Sans" pitchFamily="34" charset="-120"/>
              </a:rPr>
              <a:t>Team</a:t>
            </a:r>
            <a:endParaRPr lang="en-US" sz="1600" dirty="0"/>
          </a:p>
        </p:txBody>
      </p:sp>
      <p:sp>
        <p:nvSpPr>
          <p:cNvPr id="12" name="Text 9"/>
          <p:cNvSpPr/>
          <p:nvPr/>
        </p:nvSpPr>
        <p:spPr>
          <a:xfrm>
            <a:off x="381000" y="6210300"/>
            <a:ext cx="3752850" cy="266700"/>
          </a:xfrm>
          <a:prstGeom prst="rect">
            <a:avLst/>
          </a:prstGeom>
          <a:noFill/>
          <a:ln/>
        </p:spPr>
        <p:txBody>
          <a:bodyPr wrap="square" lIns="0" tIns="0" rIns="0" bIns="0" rtlCol="0" anchor="ctr"/>
          <a:lstStyle/>
          <a:p>
            <a:pPr>
              <a:lnSpc>
                <a:spcPct val="120000"/>
              </a:lnSpc>
            </a:pPr>
            <a:r>
              <a:rPr lang="en-US" sz="1500" b="1" dirty="0">
                <a:solidFill>
                  <a:srgbClr val="EDF2F4"/>
                </a:solidFill>
                <a:latin typeface="Quattrocento Sans" pitchFamily="34" charset="0"/>
              </a:rPr>
              <a:t>Team 1</a:t>
            </a:r>
            <a:endParaRPr lang="en-US" sz="1600" dirty="0"/>
          </a:p>
        </p:txBody>
      </p:sp>
      <p:sp>
        <p:nvSpPr>
          <p:cNvPr id="13" name="Text 10"/>
          <p:cNvSpPr/>
          <p:nvPr/>
        </p:nvSpPr>
        <p:spPr>
          <a:xfrm>
            <a:off x="4267200" y="5943600"/>
            <a:ext cx="3724275" cy="190500"/>
          </a:xfrm>
          <a:prstGeom prst="rect">
            <a:avLst/>
          </a:prstGeom>
          <a:noFill/>
          <a:ln/>
        </p:spPr>
        <p:txBody>
          <a:bodyPr wrap="square" lIns="0" tIns="0" rIns="0" bIns="0" rtlCol="0" anchor="ctr"/>
          <a:lstStyle/>
          <a:p>
            <a:pPr>
              <a:lnSpc>
                <a:spcPct val="120000"/>
              </a:lnSpc>
            </a:pPr>
            <a:r>
              <a:rPr lang="en-US" sz="1050" kern="0" spc="53" dirty="0">
                <a:solidFill>
                  <a:srgbClr val="8D99AE"/>
                </a:solidFill>
                <a:latin typeface="Quattrocento Sans" pitchFamily="34" charset="0"/>
                <a:ea typeface="Quattrocento Sans" pitchFamily="34" charset="-122"/>
                <a:cs typeface="Quattrocento Sans" pitchFamily="34" charset="-120"/>
              </a:rPr>
              <a:t>Members</a:t>
            </a:r>
            <a:endParaRPr lang="en-US" sz="1600" dirty="0"/>
          </a:p>
        </p:txBody>
      </p:sp>
      <p:sp>
        <p:nvSpPr>
          <p:cNvPr id="14" name="Text 11"/>
          <p:cNvSpPr/>
          <p:nvPr/>
        </p:nvSpPr>
        <p:spPr>
          <a:xfrm>
            <a:off x="4267200" y="6210300"/>
            <a:ext cx="3743325" cy="266700"/>
          </a:xfrm>
          <a:prstGeom prst="rect">
            <a:avLst/>
          </a:prstGeom>
          <a:noFill/>
          <a:ln/>
        </p:spPr>
        <p:txBody>
          <a:bodyPr wrap="square" lIns="0" tIns="0" rIns="0" bIns="0" rtlCol="0" anchor="ctr"/>
          <a:lstStyle/>
          <a:p>
            <a:pPr>
              <a:lnSpc>
                <a:spcPct val="130000"/>
              </a:lnSpc>
            </a:pPr>
            <a:r>
              <a:rPr lang="en-US" sz="1350" dirty="0">
                <a:solidFill>
                  <a:srgbClr val="EDF2F4"/>
                </a:solidFill>
                <a:latin typeface="Quattrocento Sans" pitchFamily="34" charset="0"/>
                <a:ea typeface="Quattrocento Sans" pitchFamily="34" charset="-122"/>
                <a:cs typeface="Quattrocento Sans" pitchFamily="34" charset="-120"/>
              </a:rPr>
              <a:t>5 Members</a:t>
            </a:r>
            <a:endParaRPr lang="en-US" sz="1600" dirty="0"/>
          </a:p>
        </p:txBody>
      </p:sp>
      <p:sp>
        <p:nvSpPr>
          <p:cNvPr id="15" name="Text 12"/>
          <p:cNvSpPr/>
          <p:nvPr/>
        </p:nvSpPr>
        <p:spPr>
          <a:xfrm>
            <a:off x="8153400" y="5943600"/>
            <a:ext cx="3724275" cy="190500"/>
          </a:xfrm>
          <a:prstGeom prst="rect">
            <a:avLst/>
          </a:prstGeom>
          <a:noFill/>
          <a:ln/>
        </p:spPr>
        <p:txBody>
          <a:bodyPr wrap="square" lIns="0" tIns="0" rIns="0" bIns="0" rtlCol="0" anchor="ctr"/>
          <a:lstStyle/>
          <a:p>
            <a:pPr>
              <a:lnSpc>
                <a:spcPct val="120000"/>
              </a:lnSpc>
            </a:pPr>
            <a:r>
              <a:rPr lang="en-US" sz="1050" kern="0" spc="53" dirty="0">
                <a:solidFill>
                  <a:srgbClr val="8D99AE"/>
                </a:solidFill>
                <a:latin typeface="Quattrocento Sans" pitchFamily="34" charset="0"/>
                <a:ea typeface="Quattrocento Sans" pitchFamily="34" charset="-122"/>
                <a:cs typeface="Quattrocento Sans" pitchFamily="34" charset="-120"/>
              </a:rPr>
              <a:t>Date</a:t>
            </a:r>
            <a:endParaRPr lang="en-US" sz="1600" dirty="0"/>
          </a:p>
        </p:txBody>
      </p:sp>
      <p:sp>
        <p:nvSpPr>
          <p:cNvPr id="16" name="Text 13"/>
          <p:cNvSpPr/>
          <p:nvPr/>
        </p:nvSpPr>
        <p:spPr>
          <a:xfrm>
            <a:off x="8153400" y="6210300"/>
            <a:ext cx="3752850" cy="266700"/>
          </a:xfrm>
          <a:prstGeom prst="rect">
            <a:avLst/>
          </a:prstGeom>
          <a:noFill/>
          <a:ln/>
        </p:spPr>
        <p:txBody>
          <a:bodyPr wrap="square" lIns="0" tIns="0" rIns="0" bIns="0" rtlCol="0" anchor="ctr"/>
          <a:lstStyle/>
          <a:p>
            <a:pPr>
              <a:lnSpc>
                <a:spcPct val="120000"/>
              </a:lnSpc>
            </a:pPr>
            <a:r>
              <a:rPr lang="en-US" sz="1500" b="1" dirty="0">
                <a:solidFill>
                  <a:srgbClr val="C9A86A"/>
                </a:solidFill>
                <a:latin typeface="Quattrocento Sans" pitchFamily="34" charset="0"/>
                <a:ea typeface="Quattrocento Sans" pitchFamily="34" charset="-122"/>
                <a:cs typeface="Quattrocento Sans" pitchFamily="34" charset="-120"/>
              </a:rPr>
              <a:t>March 2026</a:t>
            </a:r>
            <a:endParaRPr lang="en-US" sz="1600" dirty="0"/>
          </a:p>
        </p:txBody>
      </p:sp>
    </p:spTree>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A1D24"/>
        </a:solidFill>
        <a:effectLst/>
      </p:bgPr>
    </p:bg>
    <p:spTree>
      <p:nvGrpSpPr>
        <p:cNvPr id="1" name=""/>
        <p:cNvGrpSpPr/>
        <p:nvPr/>
      </p:nvGrpSpPr>
      <p:grpSpPr>
        <a:xfrm>
          <a:off x="0" y="0"/>
          <a:ext cx="0" cy="0"/>
          <a:chOff x="0" y="0"/>
          <a:chExt cx="0" cy="0"/>
        </a:xfrm>
      </p:grpSpPr>
      <p:sp>
        <p:nvSpPr>
          <p:cNvPr id="2" name="Text 0"/>
          <p:cNvSpPr/>
          <p:nvPr/>
        </p:nvSpPr>
        <p:spPr>
          <a:xfrm>
            <a:off x="381000" y="381000"/>
            <a:ext cx="11506200" cy="228600"/>
          </a:xfrm>
          <a:prstGeom prst="rect">
            <a:avLst/>
          </a:prstGeom>
          <a:noFill/>
          <a:ln/>
        </p:spPr>
        <p:txBody>
          <a:bodyPr wrap="square" lIns="0" tIns="0" rIns="0" bIns="0" rtlCol="0" anchor="ctr"/>
          <a:lstStyle/>
          <a:p>
            <a:pPr>
              <a:lnSpc>
                <a:spcPct val="130000"/>
              </a:lnSpc>
            </a:pPr>
            <a:r>
              <a:rPr lang="en-US" sz="1200" b="1" kern="0" spc="120" dirty="0">
                <a:solidFill>
                  <a:srgbClr val="C9A86A"/>
                </a:solidFill>
                <a:latin typeface="Quattrocento Sans" pitchFamily="34" charset="0"/>
                <a:ea typeface="Quattrocento Sans" pitchFamily="34" charset="-122"/>
                <a:cs typeface="Quattrocento Sans" pitchFamily="34" charset="-120"/>
              </a:rPr>
              <a:t>Project Overview</a:t>
            </a:r>
            <a:endParaRPr lang="en-US" sz="1600" dirty="0"/>
          </a:p>
        </p:txBody>
      </p:sp>
      <p:sp>
        <p:nvSpPr>
          <p:cNvPr id="3" name="Text 1"/>
          <p:cNvSpPr/>
          <p:nvPr/>
        </p:nvSpPr>
        <p:spPr>
          <a:xfrm>
            <a:off x="381000" y="723900"/>
            <a:ext cx="11658600" cy="457200"/>
          </a:xfrm>
          <a:prstGeom prst="rect">
            <a:avLst/>
          </a:prstGeom>
          <a:noFill/>
          <a:ln/>
        </p:spPr>
        <p:txBody>
          <a:bodyPr wrap="square" lIns="0" tIns="0" rIns="0" bIns="0" rtlCol="0" anchor="ctr"/>
          <a:lstStyle/>
          <a:p>
            <a:pPr>
              <a:lnSpc>
                <a:spcPct val="80000"/>
              </a:lnSpc>
            </a:pPr>
            <a:r>
              <a:rPr lang="en-US" sz="3600" b="1" dirty="0">
                <a:solidFill>
                  <a:srgbClr val="EDF2F4"/>
                </a:solidFill>
                <a:latin typeface="Liter" pitchFamily="34" charset="0"/>
                <a:ea typeface="Liter" pitchFamily="34" charset="-122"/>
                <a:cs typeface="Liter" pitchFamily="34" charset="-120"/>
              </a:rPr>
              <a:t>Our Two Proposed Projects</a:t>
            </a:r>
            <a:endParaRPr lang="en-US" sz="1600" dirty="0"/>
          </a:p>
        </p:txBody>
      </p:sp>
      <p:sp>
        <p:nvSpPr>
          <p:cNvPr id="4" name="Shape 2"/>
          <p:cNvSpPr/>
          <p:nvPr/>
        </p:nvSpPr>
        <p:spPr>
          <a:xfrm>
            <a:off x="381000" y="1333500"/>
            <a:ext cx="914400" cy="38100"/>
          </a:xfrm>
          <a:custGeom>
            <a:avLst/>
            <a:gdLst/>
            <a:ahLst/>
            <a:cxnLst/>
            <a:rect l="l" t="t" r="r" b="b"/>
            <a:pathLst>
              <a:path w="914400" h="38100">
                <a:moveTo>
                  <a:pt x="0" y="0"/>
                </a:moveTo>
                <a:lnTo>
                  <a:pt x="914400" y="0"/>
                </a:lnTo>
                <a:lnTo>
                  <a:pt x="914400" y="38100"/>
                </a:lnTo>
                <a:lnTo>
                  <a:pt x="0" y="38100"/>
                </a:lnTo>
                <a:lnTo>
                  <a:pt x="0" y="0"/>
                </a:lnTo>
                <a:close/>
              </a:path>
            </a:pathLst>
          </a:custGeom>
          <a:solidFill>
            <a:srgbClr val="C9A86A"/>
          </a:solidFill>
          <a:ln/>
        </p:spPr>
        <p:txBody>
          <a:bodyPr/>
          <a:lstStyle/>
          <a:p>
            <a:endParaRPr lang="en-GB"/>
          </a:p>
        </p:txBody>
      </p:sp>
      <p:sp>
        <p:nvSpPr>
          <p:cNvPr id="5" name="Shape 3"/>
          <p:cNvSpPr/>
          <p:nvPr/>
        </p:nvSpPr>
        <p:spPr>
          <a:xfrm>
            <a:off x="390525" y="1609725"/>
            <a:ext cx="5543550" cy="4076700"/>
          </a:xfrm>
          <a:custGeom>
            <a:avLst/>
            <a:gdLst/>
            <a:ahLst/>
            <a:cxnLst/>
            <a:rect l="l" t="t" r="r" b="b"/>
            <a:pathLst>
              <a:path w="5543550" h="4076700">
                <a:moveTo>
                  <a:pt x="114311" y="0"/>
                </a:moveTo>
                <a:lnTo>
                  <a:pt x="5429239" y="0"/>
                </a:lnTo>
                <a:cubicBezTo>
                  <a:pt x="5492371" y="0"/>
                  <a:pt x="5543550" y="51179"/>
                  <a:pt x="5543550" y="114311"/>
                </a:cubicBezTo>
                <a:lnTo>
                  <a:pt x="5543550" y="3962389"/>
                </a:lnTo>
                <a:cubicBezTo>
                  <a:pt x="5543550" y="4025521"/>
                  <a:pt x="5492371" y="4076700"/>
                  <a:pt x="5429239" y="4076700"/>
                </a:cubicBezTo>
                <a:lnTo>
                  <a:pt x="114311" y="4076700"/>
                </a:lnTo>
                <a:cubicBezTo>
                  <a:pt x="51179" y="4076700"/>
                  <a:pt x="0" y="4025521"/>
                  <a:pt x="0" y="3962389"/>
                </a:cubicBezTo>
                <a:lnTo>
                  <a:pt x="0" y="114311"/>
                </a:lnTo>
                <a:cubicBezTo>
                  <a:pt x="0" y="51179"/>
                  <a:pt x="51179" y="0"/>
                  <a:pt x="114311" y="0"/>
                </a:cubicBezTo>
                <a:close/>
              </a:path>
            </a:pathLst>
          </a:custGeom>
          <a:gradFill flip="none" rotWithShape="1">
            <a:gsLst>
              <a:gs pos="0">
                <a:srgbClr val="4A6C8C">
                  <a:alpha val="20000"/>
                </a:srgbClr>
              </a:gs>
              <a:gs pos="100000">
                <a:srgbClr val="4A6C8C">
                  <a:alpha val="5000"/>
                </a:srgbClr>
              </a:gs>
            </a:gsLst>
            <a:lin ang="2700000" scaled="1"/>
          </a:gradFill>
          <a:ln w="25400">
            <a:solidFill>
              <a:srgbClr val="4A6C8C"/>
            </a:solidFill>
            <a:prstDash val="solid"/>
          </a:ln>
        </p:spPr>
        <p:txBody>
          <a:bodyPr/>
          <a:lstStyle/>
          <a:p>
            <a:endParaRPr lang="en-GB"/>
          </a:p>
        </p:txBody>
      </p:sp>
      <p:sp>
        <p:nvSpPr>
          <p:cNvPr id="6" name="Shape 4"/>
          <p:cNvSpPr/>
          <p:nvPr/>
        </p:nvSpPr>
        <p:spPr>
          <a:xfrm>
            <a:off x="4705350" y="1619250"/>
            <a:ext cx="1219200" cy="1219200"/>
          </a:xfrm>
          <a:custGeom>
            <a:avLst/>
            <a:gdLst/>
            <a:ahLst/>
            <a:cxnLst/>
            <a:rect l="l" t="t" r="r" b="b"/>
            <a:pathLst>
              <a:path w="1219200" h="1219200">
                <a:moveTo>
                  <a:pt x="0" y="0"/>
                </a:moveTo>
                <a:lnTo>
                  <a:pt x="1219200" y="0"/>
                </a:lnTo>
                <a:lnTo>
                  <a:pt x="1219200" y="1219200"/>
                </a:lnTo>
                <a:lnTo>
                  <a:pt x="609600" y="1219200"/>
                </a:lnTo>
                <a:cubicBezTo>
                  <a:pt x="273153" y="1219200"/>
                  <a:pt x="0" y="946047"/>
                  <a:pt x="0" y="609600"/>
                </a:cubicBezTo>
                <a:lnTo>
                  <a:pt x="0" y="0"/>
                </a:lnTo>
                <a:close/>
              </a:path>
            </a:pathLst>
          </a:custGeom>
          <a:solidFill>
            <a:srgbClr val="4A6C8C">
              <a:alpha val="10196"/>
            </a:srgbClr>
          </a:solidFill>
          <a:ln/>
        </p:spPr>
        <p:txBody>
          <a:bodyPr/>
          <a:lstStyle/>
          <a:p>
            <a:endParaRPr lang="en-GB"/>
          </a:p>
        </p:txBody>
      </p:sp>
      <p:sp>
        <p:nvSpPr>
          <p:cNvPr id="7" name="Shape 5"/>
          <p:cNvSpPr/>
          <p:nvPr/>
        </p:nvSpPr>
        <p:spPr>
          <a:xfrm>
            <a:off x="6257925" y="1609725"/>
            <a:ext cx="5543550" cy="4076700"/>
          </a:xfrm>
          <a:custGeom>
            <a:avLst/>
            <a:gdLst/>
            <a:ahLst/>
            <a:cxnLst/>
            <a:rect l="l" t="t" r="r" b="b"/>
            <a:pathLst>
              <a:path w="5543550" h="4076700">
                <a:moveTo>
                  <a:pt x="114311" y="0"/>
                </a:moveTo>
                <a:lnTo>
                  <a:pt x="5429239" y="0"/>
                </a:lnTo>
                <a:cubicBezTo>
                  <a:pt x="5492371" y="0"/>
                  <a:pt x="5543550" y="51179"/>
                  <a:pt x="5543550" y="114311"/>
                </a:cubicBezTo>
                <a:lnTo>
                  <a:pt x="5543550" y="3962389"/>
                </a:lnTo>
                <a:cubicBezTo>
                  <a:pt x="5543550" y="4025521"/>
                  <a:pt x="5492371" y="4076700"/>
                  <a:pt x="5429239" y="4076700"/>
                </a:cubicBezTo>
                <a:lnTo>
                  <a:pt x="114311" y="4076700"/>
                </a:lnTo>
                <a:cubicBezTo>
                  <a:pt x="51179" y="4076700"/>
                  <a:pt x="0" y="4025521"/>
                  <a:pt x="0" y="3962389"/>
                </a:cubicBezTo>
                <a:lnTo>
                  <a:pt x="0" y="114311"/>
                </a:lnTo>
                <a:cubicBezTo>
                  <a:pt x="0" y="51179"/>
                  <a:pt x="51179" y="0"/>
                  <a:pt x="114311" y="0"/>
                </a:cubicBezTo>
                <a:close/>
              </a:path>
            </a:pathLst>
          </a:custGeom>
          <a:gradFill flip="none" rotWithShape="1">
            <a:gsLst>
              <a:gs pos="0">
                <a:srgbClr val="C9A86A">
                  <a:alpha val="20000"/>
                </a:srgbClr>
              </a:gs>
              <a:gs pos="100000">
                <a:srgbClr val="C9A86A">
                  <a:alpha val="5000"/>
                </a:srgbClr>
              </a:gs>
            </a:gsLst>
            <a:lin ang="2700000" scaled="1"/>
          </a:gradFill>
          <a:ln w="25400">
            <a:solidFill>
              <a:srgbClr val="C9A86A"/>
            </a:solidFill>
            <a:prstDash val="solid"/>
          </a:ln>
        </p:spPr>
        <p:txBody>
          <a:bodyPr/>
          <a:lstStyle/>
          <a:p>
            <a:endParaRPr lang="en-GB"/>
          </a:p>
        </p:txBody>
      </p:sp>
      <p:sp>
        <p:nvSpPr>
          <p:cNvPr id="8" name="Shape 6"/>
          <p:cNvSpPr/>
          <p:nvPr/>
        </p:nvSpPr>
        <p:spPr>
          <a:xfrm>
            <a:off x="10572750" y="1619250"/>
            <a:ext cx="1219200" cy="1219200"/>
          </a:xfrm>
          <a:custGeom>
            <a:avLst/>
            <a:gdLst/>
            <a:ahLst/>
            <a:cxnLst/>
            <a:rect l="l" t="t" r="r" b="b"/>
            <a:pathLst>
              <a:path w="1219200" h="1219200">
                <a:moveTo>
                  <a:pt x="0" y="0"/>
                </a:moveTo>
                <a:lnTo>
                  <a:pt x="1219200" y="0"/>
                </a:lnTo>
                <a:lnTo>
                  <a:pt x="1219200" y="1219200"/>
                </a:lnTo>
                <a:lnTo>
                  <a:pt x="609600" y="1219200"/>
                </a:lnTo>
                <a:cubicBezTo>
                  <a:pt x="273153" y="1219200"/>
                  <a:pt x="0" y="946047"/>
                  <a:pt x="0" y="609600"/>
                </a:cubicBezTo>
                <a:lnTo>
                  <a:pt x="0" y="0"/>
                </a:lnTo>
                <a:close/>
              </a:path>
            </a:pathLst>
          </a:custGeom>
          <a:solidFill>
            <a:srgbClr val="C9A86A">
              <a:alpha val="10196"/>
            </a:srgbClr>
          </a:solidFill>
          <a:ln/>
        </p:spPr>
        <p:txBody>
          <a:bodyPr/>
          <a:lstStyle/>
          <a:p>
            <a:endParaRPr lang="en-GB"/>
          </a:p>
        </p:txBody>
      </p:sp>
      <p:sp>
        <p:nvSpPr>
          <p:cNvPr id="9" name="Shape 7"/>
          <p:cNvSpPr/>
          <p:nvPr/>
        </p:nvSpPr>
        <p:spPr>
          <a:xfrm>
            <a:off x="385763" y="5929313"/>
            <a:ext cx="11420475" cy="542925"/>
          </a:xfrm>
          <a:custGeom>
            <a:avLst/>
            <a:gdLst/>
            <a:ahLst/>
            <a:cxnLst/>
            <a:rect l="l" t="t" r="r" b="b"/>
            <a:pathLst>
              <a:path w="11420475" h="542925">
                <a:moveTo>
                  <a:pt x="76200" y="0"/>
                </a:moveTo>
                <a:lnTo>
                  <a:pt x="11344275" y="0"/>
                </a:lnTo>
                <a:cubicBezTo>
                  <a:pt x="11386359" y="0"/>
                  <a:pt x="11420475" y="34116"/>
                  <a:pt x="11420475" y="76200"/>
                </a:cubicBezTo>
                <a:lnTo>
                  <a:pt x="11420475" y="466725"/>
                </a:lnTo>
                <a:cubicBezTo>
                  <a:pt x="11420475" y="508809"/>
                  <a:pt x="11386359" y="542925"/>
                  <a:pt x="11344275" y="542925"/>
                </a:cubicBezTo>
                <a:lnTo>
                  <a:pt x="76200" y="542925"/>
                </a:lnTo>
                <a:cubicBezTo>
                  <a:pt x="34116" y="542925"/>
                  <a:pt x="0" y="508809"/>
                  <a:pt x="0" y="466725"/>
                </a:cubicBezTo>
                <a:lnTo>
                  <a:pt x="0" y="76200"/>
                </a:lnTo>
                <a:cubicBezTo>
                  <a:pt x="0" y="34144"/>
                  <a:pt x="34144" y="0"/>
                  <a:pt x="76200" y="0"/>
                </a:cubicBezTo>
                <a:close/>
              </a:path>
            </a:pathLst>
          </a:custGeom>
          <a:solidFill>
            <a:srgbClr val="4A6C8C">
              <a:alpha val="10196"/>
            </a:srgbClr>
          </a:solidFill>
          <a:ln w="12700">
            <a:solidFill>
              <a:srgbClr val="4A6C8C">
                <a:alpha val="30196"/>
              </a:srgbClr>
            </a:solidFill>
            <a:prstDash val="solid"/>
          </a:ln>
        </p:spPr>
        <p:txBody>
          <a:bodyPr/>
          <a:lstStyle/>
          <a:p>
            <a:endParaRPr lang="en-GB"/>
          </a:p>
        </p:txBody>
      </p:sp>
      <p:sp>
        <p:nvSpPr>
          <p:cNvPr id="10" name="Shape 8"/>
          <p:cNvSpPr/>
          <p:nvPr/>
        </p:nvSpPr>
        <p:spPr>
          <a:xfrm>
            <a:off x="2505819" y="6124575"/>
            <a:ext cx="114300" cy="152400"/>
          </a:xfrm>
          <a:custGeom>
            <a:avLst/>
            <a:gdLst/>
            <a:ahLst/>
            <a:cxnLst/>
            <a:rect l="l" t="t" r="r" b="b"/>
            <a:pathLst>
              <a:path w="114300" h="152400">
                <a:moveTo>
                  <a:pt x="87184" y="114300"/>
                </a:moveTo>
                <a:cubicBezTo>
                  <a:pt x="89356" y="107662"/>
                  <a:pt x="93702" y="101650"/>
                  <a:pt x="98614" y="96470"/>
                </a:cubicBezTo>
                <a:cubicBezTo>
                  <a:pt x="108347" y="86231"/>
                  <a:pt x="114300" y="72390"/>
                  <a:pt x="114300" y="57150"/>
                </a:cubicBezTo>
                <a:cubicBezTo>
                  <a:pt x="114300" y="25598"/>
                  <a:pt x="88702" y="0"/>
                  <a:pt x="57150" y="0"/>
                </a:cubicBezTo>
                <a:cubicBezTo>
                  <a:pt x="25598" y="0"/>
                  <a:pt x="0" y="25598"/>
                  <a:pt x="0" y="57150"/>
                </a:cubicBezTo>
                <a:cubicBezTo>
                  <a:pt x="0" y="72390"/>
                  <a:pt x="5953" y="86231"/>
                  <a:pt x="15686" y="96470"/>
                </a:cubicBezTo>
                <a:cubicBezTo>
                  <a:pt x="20598" y="101650"/>
                  <a:pt x="24973" y="107662"/>
                  <a:pt x="27116" y="114300"/>
                </a:cubicBezTo>
                <a:lnTo>
                  <a:pt x="87154" y="114300"/>
                </a:lnTo>
                <a:close/>
                <a:moveTo>
                  <a:pt x="85725" y="128588"/>
                </a:moveTo>
                <a:lnTo>
                  <a:pt x="28575" y="128588"/>
                </a:lnTo>
                <a:lnTo>
                  <a:pt x="28575" y="133350"/>
                </a:lnTo>
                <a:cubicBezTo>
                  <a:pt x="28575" y="146506"/>
                  <a:pt x="39231" y="157163"/>
                  <a:pt x="52388" y="157163"/>
                </a:cubicBezTo>
                <a:lnTo>
                  <a:pt x="61912" y="157163"/>
                </a:lnTo>
                <a:cubicBezTo>
                  <a:pt x="75069" y="157163"/>
                  <a:pt x="85725" y="146506"/>
                  <a:pt x="85725" y="133350"/>
                </a:cubicBezTo>
                <a:lnTo>
                  <a:pt x="85725" y="128588"/>
                </a:lnTo>
                <a:close/>
                <a:moveTo>
                  <a:pt x="54769" y="33338"/>
                </a:moveTo>
                <a:cubicBezTo>
                  <a:pt x="42922" y="33338"/>
                  <a:pt x="33338" y="42922"/>
                  <a:pt x="33338" y="54769"/>
                </a:cubicBezTo>
                <a:cubicBezTo>
                  <a:pt x="33338" y="58728"/>
                  <a:pt x="30153" y="61912"/>
                  <a:pt x="26194" y="61912"/>
                </a:cubicBezTo>
                <a:cubicBezTo>
                  <a:pt x="22235" y="61912"/>
                  <a:pt x="19050" y="58728"/>
                  <a:pt x="19050" y="54769"/>
                </a:cubicBezTo>
                <a:cubicBezTo>
                  <a:pt x="19050" y="35034"/>
                  <a:pt x="35034" y="19050"/>
                  <a:pt x="54769" y="19050"/>
                </a:cubicBezTo>
                <a:cubicBezTo>
                  <a:pt x="58728" y="19050"/>
                  <a:pt x="61912" y="22235"/>
                  <a:pt x="61912" y="26194"/>
                </a:cubicBezTo>
                <a:cubicBezTo>
                  <a:pt x="61912" y="30153"/>
                  <a:pt x="58728" y="33338"/>
                  <a:pt x="54769" y="33338"/>
                </a:cubicBezTo>
                <a:close/>
              </a:path>
            </a:pathLst>
          </a:custGeom>
          <a:solidFill>
            <a:srgbClr val="C9A86A"/>
          </a:solidFill>
          <a:ln/>
        </p:spPr>
        <p:txBody>
          <a:bodyPr/>
          <a:lstStyle/>
          <a:p>
            <a:endParaRPr lang="en-GB"/>
          </a:p>
        </p:txBody>
      </p:sp>
      <p:sp>
        <p:nvSpPr>
          <p:cNvPr id="11" name="Text 9"/>
          <p:cNvSpPr/>
          <p:nvPr/>
        </p:nvSpPr>
        <p:spPr>
          <a:xfrm>
            <a:off x="752475" y="6086475"/>
            <a:ext cx="10934700" cy="228600"/>
          </a:xfrm>
          <a:prstGeom prst="rect">
            <a:avLst/>
          </a:prstGeom>
          <a:noFill/>
          <a:ln/>
        </p:spPr>
        <p:txBody>
          <a:bodyPr wrap="square" lIns="0" tIns="0" rIns="0" bIns="0" rtlCol="0" anchor="ctr"/>
          <a:lstStyle/>
          <a:p>
            <a:pPr algn="ctr">
              <a:lnSpc>
                <a:spcPct val="130000"/>
              </a:lnSpc>
            </a:pPr>
            <a:r>
              <a:rPr lang="en-US" sz="1200" b="1" dirty="0">
                <a:solidFill>
                  <a:srgbClr val="EDF2F4"/>
                </a:solidFill>
                <a:latin typeface="Quattrocento Sans" pitchFamily="34" charset="0"/>
                <a:ea typeface="Quattrocento Sans" pitchFamily="34" charset="-122"/>
                <a:cs typeface="Quattrocento Sans" pitchFamily="34" charset="-120"/>
              </a:rPr>
              <a:t>Goal:</a:t>
            </a:r>
            <a:r>
              <a:rPr lang="en-US" sz="1200" dirty="0">
                <a:solidFill>
                  <a:srgbClr val="8D99AE"/>
                </a:solidFill>
                <a:latin typeface="Quattrocento Sans" pitchFamily="34" charset="0"/>
                <a:ea typeface="Quattrocento Sans" pitchFamily="34" charset="-122"/>
                <a:cs typeface="Quattrocento Sans" pitchFamily="34" charset="-120"/>
              </a:rPr>
              <a:t> Demonstrate intelligent agent design with strong architectural reasoning and real-world applicability</a:t>
            </a:r>
            <a:endParaRPr lang="en-US" sz="1600" dirty="0"/>
          </a:p>
        </p:txBody>
      </p:sp>
      <p:sp>
        <p:nvSpPr>
          <p:cNvPr id="12" name="Shape 10"/>
          <p:cNvSpPr/>
          <p:nvPr/>
        </p:nvSpPr>
        <p:spPr>
          <a:xfrm>
            <a:off x="704850" y="1924050"/>
            <a:ext cx="609600" cy="609600"/>
          </a:xfrm>
          <a:custGeom>
            <a:avLst/>
            <a:gdLst/>
            <a:ahLst/>
            <a:cxnLst/>
            <a:rect l="l" t="t" r="r" b="b"/>
            <a:pathLst>
              <a:path w="609600" h="609600">
                <a:moveTo>
                  <a:pt x="114300" y="0"/>
                </a:moveTo>
                <a:lnTo>
                  <a:pt x="495300" y="0"/>
                </a:lnTo>
                <a:cubicBezTo>
                  <a:pt x="558384" y="0"/>
                  <a:pt x="609600" y="51216"/>
                  <a:pt x="609600" y="114300"/>
                </a:cubicBezTo>
                <a:lnTo>
                  <a:pt x="609600" y="495300"/>
                </a:lnTo>
                <a:cubicBezTo>
                  <a:pt x="609600" y="558384"/>
                  <a:pt x="558384" y="609600"/>
                  <a:pt x="495300" y="609600"/>
                </a:cubicBezTo>
                <a:lnTo>
                  <a:pt x="114300" y="609600"/>
                </a:lnTo>
                <a:cubicBezTo>
                  <a:pt x="51216" y="609600"/>
                  <a:pt x="0" y="558384"/>
                  <a:pt x="0" y="495300"/>
                </a:cubicBezTo>
                <a:lnTo>
                  <a:pt x="0" y="114300"/>
                </a:lnTo>
                <a:cubicBezTo>
                  <a:pt x="0" y="51216"/>
                  <a:pt x="51216" y="0"/>
                  <a:pt x="114300" y="0"/>
                </a:cubicBezTo>
                <a:close/>
              </a:path>
            </a:pathLst>
          </a:custGeom>
          <a:solidFill>
            <a:srgbClr val="4A6C8C"/>
          </a:solidFill>
          <a:ln/>
        </p:spPr>
        <p:txBody>
          <a:bodyPr/>
          <a:lstStyle/>
          <a:p>
            <a:endParaRPr lang="en-GB"/>
          </a:p>
        </p:txBody>
      </p:sp>
      <p:sp>
        <p:nvSpPr>
          <p:cNvPr id="13" name="Text 11"/>
          <p:cNvSpPr/>
          <p:nvPr/>
        </p:nvSpPr>
        <p:spPr>
          <a:xfrm>
            <a:off x="952500" y="2057400"/>
            <a:ext cx="257175" cy="342900"/>
          </a:xfrm>
          <a:prstGeom prst="rect">
            <a:avLst/>
          </a:prstGeom>
          <a:noFill/>
          <a:ln/>
        </p:spPr>
        <p:txBody>
          <a:bodyPr wrap="square" lIns="0" tIns="0" rIns="0" bIns="0" rtlCol="0" anchor="ctr"/>
          <a:lstStyle/>
          <a:p>
            <a:pPr>
              <a:lnSpc>
                <a:spcPct val="100000"/>
              </a:lnSpc>
            </a:pPr>
            <a:r>
              <a:rPr lang="en-US" sz="2250" b="1" dirty="0">
                <a:solidFill>
                  <a:srgbClr val="EDF2F4"/>
                </a:solidFill>
                <a:latin typeface="Liter" pitchFamily="34" charset="0"/>
                <a:ea typeface="Liter" pitchFamily="34" charset="-122"/>
                <a:cs typeface="Liter" pitchFamily="34" charset="-120"/>
              </a:rPr>
              <a:t>1</a:t>
            </a:r>
            <a:endParaRPr lang="en-US" sz="1600" dirty="0"/>
          </a:p>
        </p:txBody>
      </p:sp>
      <p:sp>
        <p:nvSpPr>
          <p:cNvPr id="14" name="Text 12"/>
          <p:cNvSpPr/>
          <p:nvPr/>
        </p:nvSpPr>
        <p:spPr>
          <a:xfrm>
            <a:off x="1466850" y="1943100"/>
            <a:ext cx="4267200" cy="571500"/>
          </a:xfrm>
          <a:prstGeom prst="rect">
            <a:avLst/>
          </a:prstGeom>
          <a:noFill/>
          <a:ln/>
        </p:spPr>
        <p:txBody>
          <a:bodyPr wrap="square" lIns="0" tIns="0" rIns="0" bIns="0" rtlCol="0" anchor="ctr"/>
          <a:lstStyle/>
          <a:p>
            <a:pPr>
              <a:lnSpc>
                <a:spcPct val="100000"/>
              </a:lnSpc>
            </a:pPr>
            <a:r>
              <a:rPr lang="en-US" sz="1800" b="1" dirty="0">
                <a:solidFill>
                  <a:srgbClr val="EDF2F4"/>
                </a:solidFill>
                <a:latin typeface="Liter" pitchFamily="34" charset="0"/>
                <a:ea typeface="Liter" pitchFamily="34" charset="-122"/>
                <a:cs typeface="Liter" pitchFamily="34" charset="-120"/>
              </a:rPr>
              <a:t>Multi-Modal Adaptive Data Preprocessing Agent</a:t>
            </a:r>
            <a:endParaRPr lang="en-US" sz="1600" dirty="0"/>
          </a:p>
        </p:txBody>
      </p:sp>
      <p:sp>
        <p:nvSpPr>
          <p:cNvPr id="15" name="Text 13"/>
          <p:cNvSpPr/>
          <p:nvPr/>
        </p:nvSpPr>
        <p:spPr>
          <a:xfrm>
            <a:off x="704850" y="3369469"/>
            <a:ext cx="5000625" cy="561975"/>
          </a:xfrm>
          <a:prstGeom prst="rect">
            <a:avLst/>
          </a:prstGeom>
          <a:noFill/>
          <a:ln/>
        </p:spPr>
        <p:txBody>
          <a:bodyPr wrap="square" lIns="0" tIns="0" rIns="0" bIns="0" rtlCol="0" anchor="ctr"/>
          <a:lstStyle/>
          <a:p>
            <a:pPr>
              <a:lnSpc>
                <a:spcPct val="140000"/>
              </a:lnSpc>
            </a:pPr>
            <a:r>
              <a:rPr lang="en-US" sz="1350" dirty="0">
                <a:solidFill>
                  <a:srgbClr val="8D99AE"/>
                </a:solidFill>
                <a:latin typeface="Quattrocento Sans" pitchFamily="34" charset="0"/>
                <a:ea typeface="Quattrocento Sans" pitchFamily="34" charset="-122"/>
                <a:cs typeface="Quattrocento Sans" pitchFamily="34" charset="-120"/>
              </a:rPr>
              <a:t>An autonomous intelligent agent that learns and adapts optimal data preprocessing strategies across multiple data modalities.</a:t>
            </a:r>
            <a:endParaRPr lang="en-US" sz="1600" dirty="0"/>
          </a:p>
        </p:txBody>
      </p:sp>
      <p:sp>
        <p:nvSpPr>
          <p:cNvPr id="16" name="Shape 14"/>
          <p:cNvSpPr/>
          <p:nvPr/>
        </p:nvSpPr>
        <p:spPr>
          <a:xfrm>
            <a:off x="728663" y="4174331"/>
            <a:ext cx="190500" cy="190500"/>
          </a:xfrm>
          <a:custGeom>
            <a:avLst/>
            <a:gdLst/>
            <a:ahLst/>
            <a:cxnLst/>
            <a:rect l="l" t="t" r="r" b="b"/>
            <a:pathLst>
              <a:path w="190500" h="190500">
                <a:moveTo>
                  <a:pt x="44648" y="20836"/>
                </a:moveTo>
                <a:cubicBezTo>
                  <a:pt x="44648" y="9339"/>
                  <a:pt x="53987" y="0"/>
                  <a:pt x="65484" y="0"/>
                </a:cubicBezTo>
                <a:lnTo>
                  <a:pt x="74414" y="0"/>
                </a:lnTo>
                <a:cubicBezTo>
                  <a:pt x="81000" y="0"/>
                  <a:pt x="86320" y="5321"/>
                  <a:pt x="86320" y="11906"/>
                </a:cubicBezTo>
                <a:lnTo>
                  <a:pt x="86320" y="178594"/>
                </a:lnTo>
                <a:cubicBezTo>
                  <a:pt x="86320" y="185179"/>
                  <a:pt x="81000" y="190500"/>
                  <a:pt x="74414" y="190500"/>
                </a:cubicBezTo>
                <a:lnTo>
                  <a:pt x="62508" y="190500"/>
                </a:lnTo>
                <a:cubicBezTo>
                  <a:pt x="51420" y="190500"/>
                  <a:pt x="42081" y="182910"/>
                  <a:pt x="39439" y="172641"/>
                </a:cubicBezTo>
                <a:cubicBezTo>
                  <a:pt x="39179" y="172641"/>
                  <a:pt x="38956" y="172641"/>
                  <a:pt x="38695" y="172641"/>
                </a:cubicBezTo>
                <a:cubicBezTo>
                  <a:pt x="22250" y="172641"/>
                  <a:pt x="8930" y="159321"/>
                  <a:pt x="8930" y="142875"/>
                </a:cubicBezTo>
                <a:cubicBezTo>
                  <a:pt x="8930" y="136178"/>
                  <a:pt x="11162" y="130001"/>
                  <a:pt x="14883" y="125016"/>
                </a:cubicBezTo>
                <a:cubicBezTo>
                  <a:pt x="7665" y="119583"/>
                  <a:pt x="2977" y="110951"/>
                  <a:pt x="2977" y="101203"/>
                </a:cubicBezTo>
                <a:cubicBezTo>
                  <a:pt x="2977" y="89706"/>
                  <a:pt x="9525" y="79697"/>
                  <a:pt x="19050" y="74749"/>
                </a:cubicBezTo>
                <a:cubicBezTo>
                  <a:pt x="16408" y="70284"/>
                  <a:pt x="14883" y="65075"/>
                  <a:pt x="14883" y="59531"/>
                </a:cubicBezTo>
                <a:cubicBezTo>
                  <a:pt x="14883" y="43086"/>
                  <a:pt x="28203" y="29766"/>
                  <a:pt x="44648" y="29766"/>
                </a:cubicBezTo>
                <a:lnTo>
                  <a:pt x="44648" y="20836"/>
                </a:lnTo>
                <a:close/>
                <a:moveTo>
                  <a:pt x="145852" y="20836"/>
                </a:moveTo>
                <a:lnTo>
                  <a:pt x="145852" y="29766"/>
                </a:lnTo>
                <a:cubicBezTo>
                  <a:pt x="162297" y="29766"/>
                  <a:pt x="175617" y="43086"/>
                  <a:pt x="175617" y="59531"/>
                </a:cubicBezTo>
                <a:cubicBezTo>
                  <a:pt x="175617" y="65112"/>
                  <a:pt x="174092" y="70321"/>
                  <a:pt x="171450" y="74749"/>
                </a:cubicBezTo>
                <a:cubicBezTo>
                  <a:pt x="181012" y="79697"/>
                  <a:pt x="187523" y="89669"/>
                  <a:pt x="187523" y="101203"/>
                </a:cubicBezTo>
                <a:cubicBezTo>
                  <a:pt x="187523" y="110951"/>
                  <a:pt x="182835" y="119583"/>
                  <a:pt x="175617" y="125016"/>
                </a:cubicBezTo>
                <a:cubicBezTo>
                  <a:pt x="179338" y="130001"/>
                  <a:pt x="181570" y="136178"/>
                  <a:pt x="181570" y="142875"/>
                </a:cubicBezTo>
                <a:cubicBezTo>
                  <a:pt x="181570" y="159321"/>
                  <a:pt x="168250" y="172641"/>
                  <a:pt x="151805" y="172641"/>
                </a:cubicBezTo>
                <a:cubicBezTo>
                  <a:pt x="151544" y="172641"/>
                  <a:pt x="151321" y="172641"/>
                  <a:pt x="151061" y="172641"/>
                </a:cubicBezTo>
                <a:cubicBezTo>
                  <a:pt x="148419" y="182910"/>
                  <a:pt x="139080" y="190500"/>
                  <a:pt x="127992" y="190500"/>
                </a:cubicBezTo>
                <a:lnTo>
                  <a:pt x="116086" y="190500"/>
                </a:lnTo>
                <a:cubicBezTo>
                  <a:pt x="109500" y="190500"/>
                  <a:pt x="104180" y="185179"/>
                  <a:pt x="104180" y="178594"/>
                </a:cubicBezTo>
                <a:lnTo>
                  <a:pt x="104180" y="11906"/>
                </a:lnTo>
                <a:cubicBezTo>
                  <a:pt x="104180" y="5321"/>
                  <a:pt x="109500" y="0"/>
                  <a:pt x="116086" y="0"/>
                </a:cubicBezTo>
                <a:lnTo>
                  <a:pt x="125016" y="0"/>
                </a:lnTo>
                <a:cubicBezTo>
                  <a:pt x="136513" y="0"/>
                  <a:pt x="145852" y="9339"/>
                  <a:pt x="145852" y="20836"/>
                </a:cubicBezTo>
                <a:close/>
              </a:path>
            </a:pathLst>
          </a:custGeom>
          <a:solidFill>
            <a:srgbClr val="C9A86A"/>
          </a:solidFill>
          <a:ln/>
        </p:spPr>
        <p:txBody>
          <a:bodyPr/>
          <a:lstStyle/>
          <a:p>
            <a:endParaRPr lang="en-GB"/>
          </a:p>
        </p:txBody>
      </p:sp>
      <p:sp>
        <p:nvSpPr>
          <p:cNvPr id="17" name="Text 15"/>
          <p:cNvSpPr/>
          <p:nvPr/>
        </p:nvSpPr>
        <p:spPr>
          <a:xfrm>
            <a:off x="1057275" y="4155281"/>
            <a:ext cx="2676525" cy="228600"/>
          </a:xfrm>
          <a:prstGeom prst="rect">
            <a:avLst/>
          </a:prstGeom>
          <a:noFill/>
          <a:ln/>
        </p:spPr>
        <p:txBody>
          <a:bodyPr wrap="square" lIns="0" tIns="0" rIns="0" bIns="0" rtlCol="0" anchor="ctr"/>
          <a:lstStyle/>
          <a:p>
            <a:pPr>
              <a:lnSpc>
                <a:spcPct val="130000"/>
              </a:lnSpc>
            </a:pPr>
            <a:r>
              <a:rPr lang="en-US" sz="1200" b="1" dirty="0">
                <a:solidFill>
                  <a:srgbClr val="C9A86A"/>
                </a:solidFill>
                <a:latin typeface="Quattrocento Sans" pitchFamily="34" charset="0"/>
                <a:ea typeface="Quattrocento Sans" pitchFamily="34" charset="-122"/>
                <a:cs typeface="Quattrocento Sans" pitchFamily="34" charset="-120"/>
              </a:rPr>
              <a:t>Adaptive:</a:t>
            </a:r>
            <a:r>
              <a:rPr lang="en-US" sz="1200" dirty="0">
                <a:solidFill>
                  <a:srgbClr val="EDF2F4"/>
                </a:solidFill>
                <a:latin typeface="Quattrocento Sans" pitchFamily="34" charset="0"/>
                <a:ea typeface="Quattrocento Sans" pitchFamily="34" charset="-122"/>
                <a:cs typeface="Quattrocento Sans" pitchFamily="34" charset="-120"/>
              </a:rPr>
              <a:t> Self-learning decision system</a:t>
            </a:r>
            <a:endParaRPr lang="en-US" sz="1600" dirty="0"/>
          </a:p>
        </p:txBody>
      </p:sp>
      <p:sp>
        <p:nvSpPr>
          <p:cNvPr id="18" name="Shape 16"/>
          <p:cNvSpPr/>
          <p:nvPr/>
        </p:nvSpPr>
        <p:spPr>
          <a:xfrm>
            <a:off x="728663" y="4555331"/>
            <a:ext cx="190500" cy="190500"/>
          </a:xfrm>
          <a:custGeom>
            <a:avLst/>
            <a:gdLst/>
            <a:ahLst/>
            <a:cxnLst/>
            <a:rect l="l" t="t" r="r" b="b"/>
            <a:pathLst>
              <a:path w="190500" h="190500">
                <a:moveTo>
                  <a:pt x="86506" y="1935"/>
                </a:moveTo>
                <a:cubicBezTo>
                  <a:pt x="92050" y="-633"/>
                  <a:pt x="98450" y="-633"/>
                  <a:pt x="103994" y="1935"/>
                </a:cubicBezTo>
                <a:lnTo>
                  <a:pt x="185328" y="39514"/>
                </a:lnTo>
                <a:cubicBezTo>
                  <a:pt x="188491" y="40965"/>
                  <a:pt x="190500" y="44128"/>
                  <a:pt x="190500" y="47625"/>
                </a:cubicBezTo>
                <a:cubicBezTo>
                  <a:pt x="190500" y="51122"/>
                  <a:pt x="188491" y="54285"/>
                  <a:pt x="185328" y="55736"/>
                </a:cubicBezTo>
                <a:lnTo>
                  <a:pt x="103994" y="93315"/>
                </a:lnTo>
                <a:cubicBezTo>
                  <a:pt x="98450" y="95883"/>
                  <a:pt x="92050" y="95883"/>
                  <a:pt x="86506" y="93315"/>
                </a:cubicBezTo>
                <a:lnTo>
                  <a:pt x="5172" y="55736"/>
                </a:lnTo>
                <a:cubicBezTo>
                  <a:pt x="2009" y="54248"/>
                  <a:pt x="0" y="51085"/>
                  <a:pt x="0" y="47625"/>
                </a:cubicBezTo>
                <a:cubicBezTo>
                  <a:pt x="0" y="44165"/>
                  <a:pt x="2009" y="40965"/>
                  <a:pt x="5172" y="39514"/>
                </a:cubicBezTo>
                <a:lnTo>
                  <a:pt x="86506" y="1935"/>
                </a:lnTo>
                <a:close/>
                <a:moveTo>
                  <a:pt x="17897" y="81260"/>
                </a:moveTo>
                <a:lnTo>
                  <a:pt x="79028" y="109500"/>
                </a:lnTo>
                <a:cubicBezTo>
                  <a:pt x="89334" y="114263"/>
                  <a:pt x="101203" y="114263"/>
                  <a:pt x="111509" y="109500"/>
                </a:cubicBezTo>
                <a:lnTo>
                  <a:pt x="172641" y="81260"/>
                </a:lnTo>
                <a:lnTo>
                  <a:pt x="185328" y="87139"/>
                </a:lnTo>
                <a:cubicBezTo>
                  <a:pt x="188491" y="88590"/>
                  <a:pt x="190500" y="91753"/>
                  <a:pt x="190500" y="95250"/>
                </a:cubicBezTo>
                <a:cubicBezTo>
                  <a:pt x="190500" y="98747"/>
                  <a:pt x="188491" y="101910"/>
                  <a:pt x="185328" y="103361"/>
                </a:cubicBezTo>
                <a:lnTo>
                  <a:pt x="103994" y="140940"/>
                </a:lnTo>
                <a:cubicBezTo>
                  <a:pt x="98450" y="143508"/>
                  <a:pt x="92050" y="143508"/>
                  <a:pt x="86506" y="140940"/>
                </a:cubicBezTo>
                <a:lnTo>
                  <a:pt x="5172" y="103361"/>
                </a:lnTo>
                <a:cubicBezTo>
                  <a:pt x="2009" y="101873"/>
                  <a:pt x="0" y="98710"/>
                  <a:pt x="0" y="95250"/>
                </a:cubicBezTo>
                <a:cubicBezTo>
                  <a:pt x="0" y="91790"/>
                  <a:pt x="2009" y="88590"/>
                  <a:pt x="5172" y="87139"/>
                </a:cubicBezTo>
                <a:lnTo>
                  <a:pt x="17859" y="81260"/>
                </a:lnTo>
                <a:close/>
                <a:moveTo>
                  <a:pt x="5172" y="134764"/>
                </a:moveTo>
                <a:lnTo>
                  <a:pt x="17859" y="128885"/>
                </a:lnTo>
                <a:lnTo>
                  <a:pt x="78991" y="157125"/>
                </a:lnTo>
                <a:cubicBezTo>
                  <a:pt x="89297" y="161888"/>
                  <a:pt x="101166" y="161888"/>
                  <a:pt x="111472" y="157125"/>
                </a:cubicBezTo>
                <a:lnTo>
                  <a:pt x="172603" y="128885"/>
                </a:lnTo>
                <a:lnTo>
                  <a:pt x="185291" y="134764"/>
                </a:lnTo>
                <a:cubicBezTo>
                  <a:pt x="188454" y="136215"/>
                  <a:pt x="190463" y="139378"/>
                  <a:pt x="190463" y="142875"/>
                </a:cubicBezTo>
                <a:cubicBezTo>
                  <a:pt x="190463" y="146372"/>
                  <a:pt x="188454" y="149535"/>
                  <a:pt x="185291" y="150986"/>
                </a:cubicBezTo>
                <a:lnTo>
                  <a:pt x="103956" y="188565"/>
                </a:lnTo>
                <a:cubicBezTo>
                  <a:pt x="98413" y="191133"/>
                  <a:pt x="92013" y="191133"/>
                  <a:pt x="86469" y="188565"/>
                </a:cubicBezTo>
                <a:lnTo>
                  <a:pt x="5172" y="150986"/>
                </a:lnTo>
                <a:cubicBezTo>
                  <a:pt x="2009" y="149498"/>
                  <a:pt x="0" y="146335"/>
                  <a:pt x="0" y="142875"/>
                </a:cubicBezTo>
                <a:cubicBezTo>
                  <a:pt x="0" y="139415"/>
                  <a:pt x="2009" y="136215"/>
                  <a:pt x="5172" y="134764"/>
                </a:cubicBezTo>
                <a:close/>
              </a:path>
            </a:pathLst>
          </a:custGeom>
          <a:solidFill>
            <a:srgbClr val="C9A86A"/>
          </a:solidFill>
          <a:ln/>
        </p:spPr>
        <p:txBody>
          <a:bodyPr/>
          <a:lstStyle/>
          <a:p>
            <a:endParaRPr lang="en-GB"/>
          </a:p>
        </p:txBody>
      </p:sp>
      <p:sp>
        <p:nvSpPr>
          <p:cNvPr id="19" name="Text 17"/>
          <p:cNvSpPr/>
          <p:nvPr/>
        </p:nvSpPr>
        <p:spPr>
          <a:xfrm>
            <a:off x="1057275" y="4536281"/>
            <a:ext cx="2924175" cy="228600"/>
          </a:xfrm>
          <a:prstGeom prst="rect">
            <a:avLst/>
          </a:prstGeom>
          <a:noFill/>
          <a:ln/>
        </p:spPr>
        <p:txBody>
          <a:bodyPr wrap="square" lIns="0" tIns="0" rIns="0" bIns="0" rtlCol="0" anchor="ctr"/>
          <a:lstStyle/>
          <a:p>
            <a:pPr>
              <a:lnSpc>
                <a:spcPct val="130000"/>
              </a:lnSpc>
            </a:pPr>
            <a:r>
              <a:rPr lang="en-US" sz="1200" b="1" dirty="0">
                <a:solidFill>
                  <a:srgbClr val="C9A86A"/>
                </a:solidFill>
                <a:latin typeface="Quattrocento Sans" pitchFamily="34" charset="0"/>
                <a:ea typeface="Quattrocento Sans" pitchFamily="34" charset="-122"/>
                <a:cs typeface="Quattrocento Sans" pitchFamily="34" charset="-120"/>
              </a:rPr>
              <a:t>Multi-Modal:</a:t>
            </a:r>
            <a:r>
              <a:rPr lang="en-US" sz="1200" dirty="0">
                <a:solidFill>
                  <a:srgbClr val="EDF2F4"/>
                </a:solidFill>
                <a:latin typeface="Quattrocento Sans" pitchFamily="34" charset="0"/>
                <a:ea typeface="Quattrocento Sans" pitchFamily="34" charset="-122"/>
                <a:cs typeface="Quattrocento Sans" pitchFamily="34" charset="-120"/>
              </a:rPr>
              <a:t> Tabular, image, audio support</a:t>
            </a:r>
            <a:endParaRPr lang="en-US" sz="1600" dirty="0"/>
          </a:p>
        </p:txBody>
      </p:sp>
      <p:sp>
        <p:nvSpPr>
          <p:cNvPr id="20" name="Shape 18"/>
          <p:cNvSpPr/>
          <p:nvPr/>
        </p:nvSpPr>
        <p:spPr>
          <a:xfrm>
            <a:off x="6572250" y="1924050"/>
            <a:ext cx="609600" cy="609600"/>
          </a:xfrm>
          <a:custGeom>
            <a:avLst/>
            <a:gdLst/>
            <a:ahLst/>
            <a:cxnLst/>
            <a:rect l="l" t="t" r="r" b="b"/>
            <a:pathLst>
              <a:path w="609600" h="609600">
                <a:moveTo>
                  <a:pt x="114300" y="0"/>
                </a:moveTo>
                <a:lnTo>
                  <a:pt x="495300" y="0"/>
                </a:lnTo>
                <a:cubicBezTo>
                  <a:pt x="558384" y="0"/>
                  <a:pt x="609600" y="51216"/>
                  <a:pt x="609600" y="114300"/>
                </a:cubicBezTo>
                <a:lnTo>
                  <a:pt x="609600" y="495300"/>
                </a:lnTo>
                <a:cubicBezTo>
                  <a:pt x="609600" y="558384"/>
                  <a:pt x="558384" y="609600"/>
                  <a:pt x="495300" y="609600"/>
                </a:cubicBezTo>
                <a:lnTo>
                  <a:pt x="114300" y="609600"/>
                </a:lnTo>
                <a:cubicBezTo>
                  <a:pt x="51216" y="609600"/>
                  <a:pt x="0" y="558384"/>
                  <a:pt x="0" y="495300"/>
                </a:cubicBezTo>
                <a:lnTo>
                  <a:pt x="0" y="114300"/>
                </a:lnTo>
                <a:cubicBezTo>
                  <a:pt x="0" y="51216"/>
                  <a:pt x="51216" y="0"/>
                  <a:pt x="114300" y="0"/>
                </a:cubicBezTo>
                <a:close/>
              </a:path>
            </a:pathLst>
          </a:custGeom>
          <a:solidFill>
            <a:srgbClr val="C9A86A"/>
          </a:solidFill>
          <a:ln/>
        </p:spPr>
        <p:txBody>
          <a:bodyPr/>
          <a:lstStyle/>
          <a:p>
            <a:endParaRPr lang="en-GB"/>
          </a:p>
        </p:txBody>
      </p:sp>
      <p:sp>
        <p:nvSpPr>
          <p:cNvPr id="21" name="Text 19"/>
          <p:cNvSpPr/>
          <p:nvPr/>
        </p:nvSpPr>
        <p:spPr>
          <a:xfrm>
            <a:off x="6794004" y="2057400"/>
            <a:ext cx="304800" cy="342900"/>
          </a:xfrm>
          <a:prstGeom prst="rect">
            <a:avLst/>
          </a:prstGeom>
          <a:noFill/>
          <a:ln/>
        </p:spPr>
        <p:txBody>
          <a:bodyPr wrap="square" lIns="0" tIns="0" rIns="0" bIns="0" rtlCol="0" anchor="ctr"/>
          <a:lstStyle/>
          <a:p>
            <a:pPr>
              <a:lnSpc>
                <a:spcPct val="100000"/>
              </a:lnSpc>
            </a:pPr>
            <a:r>
              <a:rPr lang="en-US" sz="2250" b="1" dirty="0">
                <a:solidFill>
                  <a:srgbClr val="1A1D24"/>
                </a:solidFill>
                <a:latin typeface="Liter" pitchFamily="34" charset="0"/>
                <a:ea typeface="Liter" pitchFamily="34" charset="-122"/>
                <a:cs typeface="Liter" pitchFamily="34" charset="-120"/>
              </a:rPr>
              <a:t>2</a:t>
            </a:r>
            <a:endParaRPr lang="en-US" sz="1600" dirty="0"/>
          </a:p>
        </p:txBody>
      </p:sp>
      <p:sp>
        <p:nvSpPr>
          <p:cNvPr id="22" name="Text 20"/>
          <p:cNvSpPr/>
          <p:nvPr/>
        </p:nvSpPr>
        <p:spPr>
          <a:xfrm>
            <a:off x="7334250" y="1943100"/>
            <a:ext cx="4267200" cy="571500"/>
          </a:xfrm>
          <a:prstGeom prst="rect">
            <a:avLst/>
          </a:prstGeom>
          <a:noFill/>
          <a:ln/>
        </p:spPr>
        <p:txBody>
          <a:bodyPr wrap="square" lIns="0" tIns="0" rIns="0" bIns="0" rtlCol="0" anchor="ctr"/>
          <a:lstStyle/>
          <a:p>
            <a:pPr>
              <a:lnSpc>
                <a:spcPct val="100000"/>
              </a:lnSpc>
            </a:pPr>
            <a:r>
              <a:rPr lang="en-US" sz="1800" b="1" dirty="0">
                <a:solidFill>
                  <a:srgbClr val="EDF2F4"/>
                </a:solidFill>
                <a:latin typeface="Liter" pitchFamily="34" charset="0"/>
                <a:ea typeface="Liter" pitchFamily="34" charset="-122"/>
                <a:cs typeface="Liter" pitchFamily="34" charset="-120"/>
              </a:rPr>
              <a:t>Autonomous Garbage Detection &amp; Collection Robot</a:t>
            </a:r>
            <a:endParaRPr lang="en-US" sz="1600" dirty="0"/>
          </a:p>
        </p:txBody>
      </p:sp>
      <p:sp>
        <p:nvSpPr>
          <p:cNvPr id="23" name="Text 21"/>
          <p:cNvSpPr/>
          <p:nvPr/>
        </p:nvSpPr>
        <p:spPr>
          <a:xfrm>
            <a:off x="6572250" y="3369469"/>
            <a:ext cx="5000625" cy="561975"/>
          </a:xfrm>
          <a:prstGeom prst="rect">
            <a:avLst/>
          </a:prstGeom>
          <a:noFill/>
          <a:ln/>
        </p:spPr>
        <p:txBody>
          <a:bodyPr wrap="square" lIns="0" tIns="0" rIns="0" bIns="0" rtlCol="0" anchor="ctr"/>
          <a:lstStyle/>
          <a:p>
            <a:pPr>
              <a:lnSpc>
                <a:spcPct val="140000"/>
              </a:lnSpc>
            </a:pPr>
            <a:r>
              <a:rPr lang="en-US" sz="1350" dirty="0">
                <a:solidFill>
                  <a:srgbClr val="8D99AE"/>
                </a:solidFill>
                <a:latin typeface="Quattrocento Sans" pitchFamily="34" charset="0"/>
                <a:ea typeface="Quattrocento Sans" pitchFamily="34" charset="-122"/>
                <a:cs typeface="Quattrocento Sans" pitchFamily="34" charset="-120"/>
              </a:rPr>
              <a:t>A smart robotics solution for automated waste detection, navigation, and collection in urban environments.</a:t>
            </a:r>
            <a:endParaRPr lang="en-US" sz="1600" dirty="0"/>
          </a:p>
        </p:txBody>
      </p:sp>
      <p:sp>
        <p:nvSpPr>
          <p:cNvPr id="24" name="Shape 22"/>
          <p:cNvSpPr/>
          <p:nvPr/>
        </p:nvSpPr>
        <p:spPr>
          <a:xfrm>
            <a:off x="6584156" y="4174331"/>
            <a:ext cx="214313" cy="190500"/>
          </a:xfrm>
          <a:custGeom>
            <a:avLst/>
            <a:gdLst/>
            <a:ahLst/>
            <a:cxnLst/>
            <a:rect l="l" t="t" r="r" b="b"/>
            <a:pathLst>
              <a:path w="214313" h="190500">
                <a:moveTo>
                  <a:pt x="107156" y="11906"/>
                </a:moveTo>
                <a:cubicBezTo>
                  <a:pt x="77093" y="11906"/>
                  <a:pt x="53020" y="25598"/>
                  <a:pt x="35496" y="41895"/>
                </a:cubicBezTo>
                <a:cubicBezTo>
                  <a:pt x="18083" y="58080"/>
                  <a:pt x="6437" y="77391"/>
                  <a:pt x="893" y="90674"/>
                </a:cubicBezTo>
                <a:cubicBezTo>
                  <a:pt x="-335" y="93613"/>
                  <a:pt x="-335" y="96887"/>
                  <a:pt x="893" y="99826"/>
                </a:cubicBezTo>
                <a:cubicBezTo>
                  <a:pt x="6437" y="113109"/>
                  <a:pt x="18083" y="132457"/>
                  <a:pt x="35496" y="148605"/>
                </a:cubicBezTo>
                <a:cubicBezTo>
                  <a:pt x="53020" y="164864"/>
                  <a:pt x="77093" y="178594"/>
                  <a:pt x="107156" y="178594"/>
                </a:cubicBezTo>
                <a:cubicBezTo>
                  <a:pt x="137220" y="178594"/>
                  <a:pt x="161292" y="164902"/>
                  <a:pt x="178817" y="148605"/>
                </a:cubicBezTo>
                <a:cubicBezTo>
                  <a:pt x="196230" y="132420"/>
                  <a:pt x="207876" y="113109"/>
                  <a:pt x="213420" y="99826"/>
                </a:cubicBezTo>
                <a:cubicBezTo>
                  <a:pt x="214647" y="96887"/>
                  <a:pt x="214647" y="93613"/>
                  <a:pt x="213420" y="90674"/>
                </a:cubicBezTo>
                <a:cubicBezTo>
                  <a:pt x="207876" y="77391"/>
                  <a:pt x="196230" y="58043"/>
                  <a:pt x="178817" y="41895"/>
                </a:cubicBezTo>
                <a:cubicBezTo>
                  <a:pt x="161292" y="25636"/>
                  <a:pt x="137220" y="11906"/>
                  <a:pt x="107156" y="11906"/>
                </a:cubicBezTo>
                <a:close/>
                <a:moveTo>
                  <a:pt x="53578" y="95250"/>
                </a:moveTo>
                <a:cubicBezTo>
                  <a:pt x="53578" y="65679"/>
                  <a:pt x="77586" y="41672"/>
                  <a:pt x="107156" y="41672"/>
                </a:cubicBezTo>
                <a:cubicBezTo>
                  <a:pt x="136727" y="41672"/>
                  <a:pt x="160734" y="65679"/>
                  <a:pt x="160734" y="95250"/>
                </a:cubicBezTo>
                <a:cubicBezTo>
                  <a:pt x="160734" y="124821"/>
                  <a:pt x="136727" y="148828"/>
                  <a:pt x="107156" y="148828"/>
                </a:cubicBezTo>
                <a:cubicBezTo>
                  <a:pt x="77586" y="148828"/>
                  <a:pt x="53578" y="124821"/>
                  <a:pt x="53578" y="95250"/>
                </a:cubicBezTo>
                <a:close/>
                <a:moveTo>
                  <a:pt x="107156" y="71438"/>
                </a:moveTo>
                <a:cubicBezTo>
                  <a:pt x="107156" y="84572"/>
                  <a:pt x="96478" y="95250"/>
                  <a:pt x="83344" y="95250"/>
                </a:cubicBezTo>
                <a:cubicBezTo>
                  <a:pt x="79065" y="95250"/>
                  <a:pt x="75047" y="94134"/>
                  <a:pt x="71549" y="92125"/>
                </a:cubicBezTo>
                <a:cubicBezTo>
                  <a:pt x="71177" y="96180"/>
                  <a:pt x="71512" y="100347"/>
                  <a:pt x="72628" y="104477"/>
                </a:cubicBezTo>
                <a:cubicBezTo>
                  <a:pt x="77725" y="123527"/>
                  <a:pt x="97334" y="134838"/>
                  <a:pt x="116384" y="129741"/>
                </a:cubicBezTo>
                <a:cubicBezTo>
                  <a:pt x="135434" y="124644"/>
                  <a:pt x="146745" y="105035"/>
                  <a:pt x="141647" y="85985"/>
                </a:cubicBezTo>
                <a:cubicBezTo>
                  <a:pt x="137108" y="68982"/>
                  <a:pt x="120997" y="58155"/>
                  <a:pt x="104031" y="59643"/>
                </a:cubicBezTo>
                <a:cubicBezTo>
                  <a:pt x="106003" y="63103"/>
                  <a:pt x="107156" y="67121"/>
                  <a:pt x="107156" y="71438"/>
                </a:cubicBezTo>
                <a:close/>
              </a:path>
            </a:pathLst>
          </a:custGeom>
          <a:solidFill>
            <a:srgbClr val="4A6C8C"/>
          </a:solidFill>
          <a:ln/>
        </p:spPr>
        <p:txBody>
          <a:bodyPr/>
          <a:lstStyle/>
          <a:p>
            <a:endParaRPr lang="en-GB"/>
          </a:p>
        </p:txBody>
      </p:sp>
      <p:sp>
        <p:nvSpPr>
          <p:cNvPr id="25" name="Text 23"/>
          <p:cNvSpPr/>
          <p:nvPr/>
        </p:nvSpPr>
        <p:spPr>
          <a:xfrm>
            <a:off x="6924675" y="4155281"/>
            <a:ext cx="2628900" cy="228600"/>
          </a:xfrm>
          <a:prstGeom prst="rect">
            <a:avLst/>
          </a:prstGeom>
          <a:noFill/>
          <a:ln/>
        </p:spPr>
        <p:txBody>
          <a:bodyPr wrap="square" lIns="0" tIns="0" rIns="0" bIns="0" rtlCol="0" anchor="ctr"/>
          <a:lstStyle/>
          <a:p>
            <a:pPr>
              <a:lnSpc>
                <a:spcPct val="130000"/>
              </a:lnSpc>
            </a:pPr>
            <a:r>
              <a:rPr lang="en-US" sz="1200" b="1" dirty="0">
                <a:solidFill>
                  <a:srgbClr val="4A6C8C"/>
                </a:solidFill>
                <a:latin typeface="Quattrocento Sans" pitchFamily="34" charset="0"/>
                <a:ea typeface="Quattrocento Sans" pitchFamily="34" charset="-122"/>
                <a:cs typeface="Quattrocento Sans" pitchFamily="34" charset="-120"/>
              </a:rPr>
              <a:t>Perception:</a:t>
            </a:r>
            <a:r>
              <a:rPr lang="en-US" sz="1200" dirty="0">
                <a:solidFill>
                  <a:srgbClr val="EDF2F4"/>
                </a:solidFill>
                <a:latin typeface="Quattrocento Sans" pitchFamily="34" charset="0"/>
                <a:ea typeface="Quattrocento Sans" pitchFamily="34" charset="-122"/>
                <a:cs typeface="Quattrocento Sans" pitchFamily="34" charset="-120"/>
              </a:rPr>
              <a:t> Computer vision &amp; sensors</a:t>
            </a:r>
            <a:endParaRPr lang="en-US" sz="1600" dirty="0"/>
          </a:p>
        </p:txBody>
      </p:sp>
      <p:sp>
        <p:nvSpPr>
          <p:cNvPr id="26" name="Shape 24"/>
          <p:cNvSpPr/>
          <p:nvPr/>
        </p:nvSpPr>
        <p:spPr>
          <a:xfrm>
            <a:off x="6596063" y="4555331"/>
            <a:ext cx="190500" cy="190500"/>
          </a:xfrm>
          <a:custGeom>
            <a:avLst/>
            <a:gdLst/>
            <a:ahLst/>
            <a:cxnLst/>
            <a:rect l="l" t="t" r="r" b="b"/>
            <a:pathLst>
              <a:path w="190500" h="190500">
                <a:moveTo>
                  <a:pt x="190500" y="35719"/>
                </a:moveTo>
                <a:cubicBezTo>
                  <a:pt x="190500" y="54397"/>
                  <a:pt x="168511" y="82265"/>
                  <a:pt x="159023" y="93390"/>
                </a:cubicBezTo>
                <a:cubicBezTo>
                  <a:pt x="157609" y="95027"/>
                  <a:pt x="155525" y="95659"/>
                  <a:pt x="153628" y="95250"/>
                </a:cubicBezTo>
                <a:lnTo>
                  <a:pt x="119063" y="95250"/>
                </a:lnTo>
                <a:cubicBezTo>
                  <a:pt x="112477" y="95250"/>
                  <a:pt x="107156" y="100571"/>
                  <a:pt x="107156" y="107156"/>
                </a:cubicBezTo>
                <a:cubicBezTo>
                  <a:pt x="107156" y="113742"/>
                  <a:pt x="112477" y="119063"/>
                  <a:pt x="119063" y="119063"/>
                </a:cubicBezTo>
                <a:lnTo>
                  <a:pt x="154781" y="119063"/>
                </a:lnTo>
                <a:cubicBezTo>
                  <a:pt x="174501" y="119063"/>
                  <a:pt x="190500" y="135062"/>
                  <a:pt x="190500" y="154781"/>
                </a:cubicBezTo>
                <a:cubicBezTo>
                  <a:pt x="190500" y="174501"/>
                  <a:pt x="174501" y="190500"/>
                  <a:pt x="154781" y="190500"/>
                </a:cubicBezTo>
                <a:lnTo>
                  <a:pt x="51941" y="190500"/>
                </a:lnTo>
                <a:cubicBezTo>
                  <a:pt x="55178" y="186817"/>
                  <a:pt x="59122" y="182091"/>
                  <a:pt x="63103" y="176808"/>
                </a:cubicBezTo>
                <a:cubicBezTo>
                  <a:pt x="65447" y="173682"/>
                  <a:pt x="67866" y="170259"/>
                  <a:pt x="70172" y="166688"/>
                </a:cubicBezTo>
                <a:lnTo>
                  <a:pt x="154781" y="166688"/>
                </a:lnTo>
                <a:cubicBezTo>
                  <a:pt x="161367" y="166688"/>
                  <a:pt x="166688" y="161367"/>
                  <a:pt x="166688" y="154781"/>
                </a:cubicBezTo>
                <a:cubicBezTo>
                  <a:pt x="166688" y="148196"/>
                  <a:pt x="161367" y="142875"/>
                  <a:pt x="154781" y="142875"/>
                </a:cubicBezTo>
                <a:lnTo>
                  <a:pt x="119063" y="142875"/>
                </a:lnTo>
                <a:cubicBezTo>
                  <a:pt x="99343" y="142875"/>
                  <a:pt x="83344" y="126876"/>
                  <a:pt x="83344" y="107156"/>
                </a:cubicBezTo>
                <a:cubicBezTo>
                  <a:pt x="83344" y="87437"/>
                  <a:pt x="99343" y="71438"/>
                  <a:pt x="119063" y="71438"/>
                </a:cubicBezTo>
                <a:lnTo>
                  <a:pt x="133871" y="71438"/>
                </a:lnTo>
                <a:cubicBezTo>
                  <a:pt x="126057" y="59717"/>
                  <a:pt x="119063" y="46248"/>
                  <a:pt x="119063" y="35719"/>
                </a:cubicBezTo>
                <a:cubicBezTo>
                  <a:pt x="119063" y="15999"/>
                  <a:pt x="135062" y="0"/>
                  <a:pt x="154781" y="0"/>
                </a:cubicBezTo>
                <a:cubicBezTo>
                  <a:pt x="174501" y="0"/>
                  <a:pt x="190500" y="15999"/>
                  <a:pt x="190500" y="35719"/>
                </a:cubicBezTo>
                <a:close/>
                <a:moveTo>
                  <a:pt x="43569" y="181980"/>
                </a:moveTo>
                <a:cubicBezTo>
                  <a:pt x="42156" y="183579"/>
                  <a:pt x="40891" y="184993"/>
                  <a:pt x="39812" y="186184"/>
                </a:cubicBezTo>
                <a:lnTo>
                  <a:pt x="39142" y="186928"/>
                </a:lnTo>
                <a:lnTo>
                  <a:pt x="39067" y="186854"/>
                </a:lnTo>
                <a:cubicBezTo>
                  <a:pt x="36835" y="188565"/>
                  <a:pt x="33635" y="188342"/>
                  <a:pt x="31626" y="186184"/>
                </a:cubicBezTo>
                <a:cubicBezTo>
                  <a:pt x="22250" y="175989"/>
                  <a:pt x="0" y="149758"/>
                  <a:pt x="0" y="130969"/>
                </a:cubicBezTo>
                <a:cubicBezTo>
                  <a:pt x="0" y="111249"/>
                  <a:pt x="15999" y="95250"/>
                  <a:pt x="35719" y="95250"/>
                </a:cubicBezTo>
                <a:cubicBezTo>
                  <a:pt x="55438" y="95250"/>
                  <a:pt x="71438" y="111249"/>
                  <a:pt x="71438" y="130969"/>
                </a:cubicBezTo>
                <a:cubicBezTo>
                  <a:pt x="71438" y="142131"/>
                  <a:pt x="63587" y="155897"/>
                  <a:pt x="55252" y="167394"/>
                </a:cubicBezTo>
                <a:cubicBezTo>
                  <a:pt x="51271" y="172864"/>
                  <a:pt x="47179" y="177812"/>
                  <a:pt x="43793" y="181719"/>
                </a:cubicBezTo>
                <a:lnTo>
                  <a:pt x="43569" y="181980"/>
                </a:lnTo>
                <a:close/>
                <a:moveTo>
                  <a:pt x="47625" y="130969"/>
                </a:moveTo>
                <a:cubicBezTo>
                  <a:pt x="47625" y="124398"/>
                  <a:pt x="42290" y="119063"/>
                  <a:pt x="35719" y="119063"/>
                </a:cubicBezTo>
                <a:cubicBezTo>
                  <a:pt x="29148" y="119063"/>
                  <a:pt x="23812" y="124398"/>
                  <a:pt x="23812" y="130969"/>
                </a:cubicBezTo>
                <a:cubicBezTo>
                  <a:pt x="23812" y="137540"/>
                  <a:pt x="29148" y="142875"/>
                  <a:pt x="35719" y="142875"/>
                </a:cubicBezTo>
                <a:cubicBezTo>
                  <a:pt x="42290" y="142875"/>
                  <a:pt x="47625" y="137540"/>
                  <a:pt x="47625" y="130969"/>
                </a:cubicBezTo>
                <a:close/>
                <a:moveTo>
                  <a:pt x="154781" y="47625"/>
                </a:moveTo>
                <a:cubicBezTo>
                  <a:pt x="161352" y="47625"/>
                  <a:pt x="166688" y="42290"/>
                  <a:pt x="166688" y="35719"/>
                </a:cubicBezTo>
                <a:cubicBezTo>
                  <a:pt x="166688" y="29148"/>
                  <a:pt x="161352" y="23812"/>
                  <a:pt x="154781" y="23812"/>
                </a:cubicBezTo>
                <a:cubicBezTo>
                  <a:pt x="148210" y="23812"/>
                  <a:pt x="142875" y="29148"/>
                  <a:pt x="142875" y="35719"/>
                </a:cubicBezTo>
                <a:cubicBezTo>
                  <a:pt x="142875" y="42290"/>
                  <a:pt x="148210" y="47625"/>
                  <a:pt x="154781" y="47625"/>
                </a:cubicBezTo>
                <a:close/>
              </a:path>
            </a:pathLst>
          </a:custGeom>
          <a:solidFill>
            <a:srgbClr val="4A6C8C"/>
          </a:solidFill>
          <a:ln/>
        </p:spPr>
        <p:txBody>
          <a:bodyPr/>
          <a:lstStyle/>
          <a:p>
            <a:endParaRPr lang="en-GB"/>
          </a:p>
        </p:txBody>
      </p:sp>
      <p:sp>
        <p:nvSpPr>
          <p:cNvPr id="27" name="Text 25"/>
          <p:cNvSpPr/>
          <p:nvPr/>
        </p:nvSpPr>
        <p:spPr>
          <a:xfrm>
            <a:off x="6924675" y="4536281"/>
            <a:ext cx="2962275" cy="228600"/>
          </a:xfrm>
          <a:prstGeom prst="rect">
            <a:avLst/>
          </a:prstGeom>
          <a:noFill/>
          <a:ln/>
        </p:spPr>
        <p:txBody>
          <a:bodyPr wrap="square" lIns="0" tIns="0" rIns="0" bIns="0" rtlCol="0" anchor="ctr"/>
          <a:lstStyle/>
          <a:p>
            <a:pPr>
              <a:lnSpc>
                <a:spcPct val="130000"/>
              </a:lnSpc>
            </a:pPr>
            <a:r>
              <a:rPr lang="en-US" sz="1200" b="1" dirty="0">
                <a:solidFill>
                  <a:srgbClr val="4A6C8C"/>
                </a:solidFill>
                <a:latin typeface="Quattrocento Sans" pitchFamily="34" charset="0"/>
                <a:ea typeface="Quattrocento Sans" pitchFamily="34" charset="-122"/>
                <a:cs typeface="Quattrocento Sans" pitchFamily="34" charset="-120"/>
              </a:rPr>
              <a:t>Action:</a:t>
            </a:r>
            <a:r>
              <a:rPr lang="en-US" sz="1200" dirty="0">
                <a:solidFill>
                  <a:srgbClr val="EDF2F4"/>
                </a:solidFill>
                <a:latin typeface="Quattrocento Sans" pitchFamily="34" charset="0"/>
                <a:ea typeface="Quattrocento Sans" pitchFamily="34" charset="-122"/>
                <a:cs typeface="Quattrocento Sans" pitchFamily="34" charset="-120"/>
              </a:rPr>
              <a:t> Autonomous navigation &amp; collection</a:t>
            </a:r>
            <a:endParaRPr lang="en-US" sz="1600" dirty="0"/>
          </a:p>
        </p:txBody>
      </p:sp>
    </p:spTree>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A1D24"/>
        </a:solidFill>
        <a:effectLst/>
      </p:bgPr>
    </p:bg>
    <p:spTree>
      <p:nvGrpSpPr>
        <p:cNvPr id="1" name=""/>
        <p:cNvGrpSpPr/>
        <p:nvPr/>
      </p:nvGrpSpPr>
      <p:grpSpPr>
        <a:xfrm>
          <a:off x="0" y="0"/>
          <a:ext cx="0" cy="0"/>
          <a:chOff x="0" y="0"/>
          <a:chExt cx="0" cy="0"/>
        </a:xfrm>
      </p:grpSpPr>
      <p:sp>
        <p:nvSpPr>
          <p:cNvPr id="2" name="Text 0"/>
          <p:cNvSpPr/>
          <p:nvPr/>
        </p:nvSpPr>
        <p:spPr>
          <a:xfrm>
            <a:off x="381000" y="381000"/>
            <a:ext cx="11506200" cy="228600"/>
          </a:xfrm>
          <a:prstGeom prst="rect">
            <a:avLst/>
          </a:prstGeom>
          <a:noFill/>
          <a:ln/>
        </p:spPr>
        <p:txBody>
          <a:bodyPr wrap="square" lIns="0" tIns="0" rIns="0" bIns="0" rtlCol="0" anchor="ctr"/>
          <a:lstStyle/>
          <a:p>
            <a:pPr>
              <a:lnSpc>
                <a:spcPct val="130000"/>
              </a:lnSpc>
            </a:pPr>
            <a:r>
              <a:rPr lang="en-US" sz="1200" b="1" kern="0" spc="120" dirty="0">
                <a:solidFill>
                  <a:srgbClr val="C9A86A"/>
                </a:solidFill>
                <a:latin typeface="Quattrocento Sans" pitchFamily="34" charset="0"/>
                <a:ea typeface="Quattrocento Sans" pitchFamily="34" charset="-122"/>
                <a:cs typeface="Quattrocento Sans" pitchFamily="34" charset="-120"/>
              </a:rPr>
              <a:t>Project 1 Foundation</a:t>
            </a:r>
            <a:endParaRPr lang="en-US" sz="1600" dirty="0"/>
          </a:p>
        </p:txBody>
      </p:sp>
      <p:sp>
        <p:nvSpPr>
          <p:cNvPr id="3" name="Text 1"/>
          <p:cNvSpPr/>
          <p:nvPr/>
        </p:nvSpPr>
        <p:spPr>
          <a:xfrm>
            <a:off x="381000" y="685800"/>
            <a:ext cx="11601450" cy="381000"/>
          </a:xfrm>
          <a:prstGeom prst="rect">
            <a:avLst/>
          </a:prstGeom>
          <a:noFill/>
          <a:ln/>
        </p:spPr>
        <p:txBody>
          <a:bodyPr wrap="square" lIns="0" tIns="0" rIns="0" bIns="0" rtlCol="0" anchor="ctr"/>
          <a:lstStyle/>
          <a:p>
            <a:pPr>
              <a:lnSpc>
                <a:spcPct val="90000"/>
              </a:lnSpc>
            </a:pPr>
            <a:r>
              <a:rPr lang="en-US" sz="2700" b="1" dirty="0">
                <a:solidFill>
                  <a:srgbClr val="EDF2F4"/>
                </a:solidFill>
                <a:latin typeface="Liter" pitchFamily="34" charset="0"/>
                <a:ea typeface="Liter" pitchFamily="34" charset="-122"/>
                <a:cs typeface="Liter" pitchFamily="34" charset="-120"/>
              </a:rPr>
              <a:t>Why Preprocessing Is Critical in AI</a:t>
            </a:r>
            <a:endParaRPr lang="en-US" sz="1600" dirty="0"/>
          </a:p>
        </p:txBody>
      </p:sp>
      <p:sp>
        <p:nvSpPr>
          <p:cNvPr id="4" name="Shape 2"/>
          <p:cNvSpPr/>
          <p:nvPr/>
        </p:nvSpPr>
        <p:spPr>
          <a:xfrm>
            <a:off x="381000" y="1181100"/>
            <a:ext cx="914400" cy="38100"/>
          </a:xfrm>
          <a:custGeom>
            <a:avLst/>
            <a:gdLst/>
            <a:ahLst/>
            <a:cxnLst/>
            <a:rect l="l" t="t" r="r" b="b"/>
            <a:pathLst>
              <a:path w="914400" h="38100">
                <a:moveTo>
                  <a:pt x="0" y="0"/>
                </a:moveTo>
                <a:lnTo>
                  <a:pt x="914400" y="0"/>
                </a:lnTo>
                <a:lnTo>
                  <a:pt x="914400" y="38100"/>
                </a:lnTo>
                <a:lnTo>
                  <a:pt x="0" y="38100"/>
                </a:lnTo>
                <a:lnTo>
                  <a:pt x="0" y="0"/>
                </a:lnTo>
                <a:close/>
              </a:path>
            </a:pathLst>
          </a:custGeom>
          <a:solidFill>
            <a:srgbClr val="C9A86A"/>
          </a:solidFill>
          <a:ln/>
        </p:spPr>
        <p:txBody>
          <a:bodyPr/>
          <a:lstStyle/>
          <a:p>
            <a:endParaRPr lang="en-GB"/>
          </a:p>
        </p:txBody>
      </p:sp>
      <p:sp>
        <p:nvSpPr>
          <p:cNvPr id="5" name="Shape 3"/>
          <p:cNvSpPr/>
          <p:nvPr/>
        </p:nvSpPr>
        <p:spPr>
          <a:xfrm>
            <a:off x="385763" y="1376363"/>
            <a:ext cx="5610225" cy="1590675"/>
          </a:xfrm>
          <a:custGeom>
            <a:avLst/>
            <a:gdLst/>
            <a:ahLst/>
            <a:cxnLst/>
            <a:rect l="l" t="t" r="r" b="b"/>
            <a:pathLst>
              <a:path w="5610225" h="1590675">
                <a:moveTo>
                  <a:pt x="76193" y="0"/>
                </a:moveTo>
                <a:lnTo>
                  <a:pt x="5534032" y="0"/>
                </a:lnTo>
                <a:cubicBezTo>
                  <a:pt x="5576112" y="0"/>
                  <a:pt x="5610225" y="34113"/>
                  <a:pt x="5610225" y="76193"/>
                </a:cubicBezTo>
                <a:lnTo>
                  <a:pt x="5610225" y="1514482"/>
                </a:lnTo>
                <a:cubicBezTo>
                  <a:pt x="5610225" y="1556562"/>
                  <a:pt x="5576112" y="1590675"/>
                  <a:pt x="5534032" y="1590675"/>
                </a:cubicBezTo>
                <a:lnTo>
                  <a:pt x="76193" y="1590675"/>
                </a:lnTo>
                <a:cubicBezTo>
                  <a:pt x="34113" y="1590675"/>
                  <a:pt x="0" y="1556562"/>
                  <a:pt x="0" y="1514482"/>
                </a:cubicBezTo>
                <a:lnTo>
                  <a:pt x="0" y="76193"/>
                </a:lnTo>
                <a:cubicBezTo>
                  <a:pt x="0" y="34141"/>
                  <a:pt x="34141" y="0"/>
                  <a:pt x="76193" y="0"/>
                </a:cubicBezTo>
                <a:close/>
              </a:path>
            </a:pathLst>
          </a:custGeom>
          <a:gradFill flip="none" rotWithShape="1">
            <a:gsLst>
              <a:gs pos="0">
                <a:srgbClr val="4A6C8C">
                  <a:alpha val="20000"/>
                </a:srgbClr>
              </a:gs>
              <a:gs pos="100000">
                <a:srgbClr val="000000">
                  <a:alpha val="0"/>
                </a:srgbClr>
              </a:gs>
            </a:gsLst>
            <a:lin ang="2700000" scaled="1"/>
          </a:gradFill>
          <a:ln w="12700">
            <a:solidFill>
              <a:srgbClr val="4A6C8C">
                <a:alpha val="40000"/>
              </a:srgbClr>
            </a:solidFill>
            <a:prstDash val="solid"/>
          </a:ln>
        </p:spPr>
        <p:txBody>
          <a:bodyPr/>
          <a:lstStyle/>
          <a:p>
            <a:endParaRPr lang="en-GB"/>
          </a:p>
        </p:txBody>
      </p:sp>
      <p:sp>
        <p:nvSpPr>
          <p:cNvPr id="6" name="Shape 4"/>
          <p:cNvSpPr/>
          <p:nvPr/>
        </p:nvSpPr>
        <p:spPr>
          <a:xfrm>
            <a:off x="581025" y="1752600"/>
            <a:ext cx="457200" cy="457200"/>
          </a:xfrm>
          <a:custGeom>
            <a:avLst/>
            <a:gdLst/>
            <a:ahLst/>
            <a:cxnLst/>
            <a:rect l="l" t="t" r="r" b="b"/>
            <a:pathLst>
              <a:path w="457200" h="457200">
                <a:moveTo>
                  <a:pt x="76202" y="0"/>
                </a:moveTo>
                <a:lnTo>
                  <a:pt x="380998" y="0"/>
                </a:lnTo>
                <a:cubicBezTo>
                  <a:pt x="423055" y="0"/>
                  <a:pt x="457200" y="34145"/>
                  <a:pt x="457200" y="76202"/>
                </a:cubicBezTo>
                <a:lnTo>
                  <a:pt x="457200" y="380998"/>
                </a:lnTo>
                <a:cubicBezTo>
                  <a:pt x="457200" y="423055"/>
                  <a:pt x="423055" y="457200"/>
                  <a:pt x="380998" y="457200"/>
                </a:cubicBezTo>
                <a:lnTo>
                  <a:pt x="76202" y="457200"/>
                </a:lnTo>
                <a:cubicBezTo>
                  <a:pt x="34145" y="457200"/>
                  <a:pt x="0" y="423055"/>
                  <a:pt x="0" y="380998"/>
                </a:cubicBezTo>
                <a:lnTo>
                  <a:pt x="0" y="76202"/>
                </a:lnTo>
                <a:cubicBezTo>
                  <a:pt x="0" y="34145"/>
                  <a:pt x="34145" y="0"/>
                  <a:pt x="76202" y="0"/>
                </a:cubicBezTo>
                <a:close/>
              </a:path>
            </a:pathLst>
          </a:custGeom>
          <a:solidFill>
            <a:srgbClr val="C9A86A"/>
          </a:solidFill>
          <a:ln/>
        </p:spPr>
        <p:txBody>
          <a:bodyPr/>
          <a:lstStyle/>
          <a:p>
            <a:endParaRPr lang="en-GB"/>
          </a:p>
        </p:txBody>
      </p:sp>
      <p:sp>
        <p:nvSpPr>
          <p:cNvPr id="7" name="Shape 5"/>
          <p:cNvSpPr/>
          <p:nvPr/>
        </p:nvSpPr>
        <p:spPr>
          <a:xfrm>
            <a:off x="714375" y="1885950"/>
            <a:ext cx="190500" cy="190500"/>
          </a:xfrm>
          <a:custGeom>
            <a:avLst/>
            <a:gdLst/>
            <a:ahLst/>
            <a:cxnLst/>
            <a:rect l="l" t="t" r="r" b="b"/>
            <a:pathLst>
              <a:path w="190500" h="190500">
                <a:moveTo>
                  <a:pt x="95250" y="0"/>
                </a:moveTo>
                <a:cubicBezTo>
                  <a:pt x="100719" y="0"/>
                  <a:pt x="105742" y="3014"/>
                  <a:pt x="108347" y="7813"/>
                </a:cubicBezTo>
                <a:lnTo>
                  <a:pt x="188714" y="156642"/>
                </a:lnTo>
                <a:cubicBezTo>
                  <a:pt x="191207" y="161255"/>
                  <a:pt x="191095" y="166836"/>
                  <a:pt x="188416" y="171338"/>
                </a:cubicBezTo>
                <a:cubicBezTo>
                  <a:pt x="185737" y="175840"/>
                  <a:pt x="180863" y="178594"/>
                  <a:pt x="175617" y="178594"/>
                </a:cubicBezTo>
                <a:lnTo>
                  <a:pt x="14883" y="178594"/>
                </a:lnTo>
                <a:cubicBezTo>
                  <a:pt x="9637" y="178594"/>
                  <a:pt x="4800" y="175840"/>
                  <a:pt x="2084" y="171338"/>
                </a:cubicBezTo>
                <a:cubicBezTo>
                  <a:pt x="-633" y="166836"/>
                  <a:pt x="-707" y="161255"/>
                  <a:pt x="1786" y="156642"/>
                </a:cubicBezTo>
                <a:lnTo>
                  <a:pt x="82153" y="7813"/>
                </a:lnTo>
                <a:cubicBezTo>
                  <a:pt x="84758" y="3014"/>
                  <a:pt x="89781" y="0"/>
                  <a:pt x="95250" y="0"/>
                </a:cubicBezTo>
                <a:close/>
                <a:moveTo>
                  <a:pt x="95250" y="62508"/>
                </a:moveTo>
                <a:cubicBezTo>
                  <a:pt x="90301" y="62508"/>
                  <a:pt x="86320" y="66489"/>
                  <a:pt x="86320" y="71438"/>
                </a:cubicBezTo>
                <a:lnTo>
                  <a:pt x="86320" y="113109"/>
                </a:lnTo>
                <a:cubicBezTo>
                  <a:pt x="86320" y="118058"/>
                  <a:pt x="90301" y="122039"/>
                  <a:pt x="95250" y="122039"/>
                </a:cubicBezTo>
                <a:cubicBezTo>
                  <a:pt x="100199" y="122039"/>
                  <a:pt x="104180" y="118058"/>
                  <a:pt x="104180" y="113109"/>
                </a:cubicBezTo>
                <a:lnTo>
                  <a:pt x="104180" y="71438"/>
                </a:lnTo>
                <a:cubicBezTo>
                  <a:pt x="104180" y="66489"/>
                  <a:pt x="100199" y="62508"/>
                  <a:pt x="95250" y="62508"/>
                </a:cubicBezTo>
                <a:close/>
                <a:moveTo>
                  <a:pt x="105184" y="142875"/>
                </a:moveTo>
                <a:cubicBezTo>
                  <a:pt x="105410" y="139188"/>
                  <a:pt x="103571" y="135679"/>
                  <a:pt x="100410" y="133767"/>
                </a:cubicBezTo>
                <a:cubicBezTo>
                  <a:pt x="97249" y="131855"/>
                  <a:pt x="93288" y="131855"/>
                  <a:pt x="90127" y="133767"/>
                </a:cubicBezTo>
                <a:cubicBezTo>
                  <a:pt x="86966" y="135679"/>
                  <a:pt x="85127" y="139188"/>
                  <a:pt x="85353" y="142875"/>
                </a:cubicBezTo>
                <a:cubicBezTo>
                  <a:pt x="85127" y="146562"/>
                  <a:pt x="86966" y="150071"/>
                  <a:pt x="90127" y="151983"/>
                </a:cubicBezTo>
                <a:cubicBezTo>
                  <a:pt x="93288" y="153895"/>
                  <a:pt x="97249" y="153895"/>
                  <a:pt x="100410" y="151983"/>
                </a:cubicBezTo>
                <a:cubicBezTo>
                  <a:pt x="103571" y="150071"/>
                  <a:pt x="105410" y="146562"/>
                  <a:pt x="105184" y="142875"/>
                </a:cubicBezTo>
                <a:close/>
              </a:path>
            </a:pathLst>
          </a:custGeom>
          <a:solidFill>
            <a:srgbClr val="1A1D24"/>
          </a:solidFill>
          <a:ln/>
        </p:spPr>
        <p:txBody>
          <a:bodyPr/>
          <a:lstStyle/>
          <a:p>
            <a:endParaRPr lang="en-GB"/>
          </a:p>
        </p:txBody>
      </p:sp>
      <p:sp>
        <p:nvSpPr>
          <p:cNvPr id="8" name="Text 6"/>
          <p:cNvSpPr/>
          <p:nvPr/>
        </p:nvSpPr>
        <p:spPr>
          <a:xfrm>
            <a:off x="1190625" y="1752600"/>
            <a:ext cx="4705350" cy="266700"/>
          </a:xfrm>
          <a:prstGeom prst="rect">
            <a:avLst/>
          </a:prstGeom>
          <a:noFill/>
          <a:ln/>
        </p:spPr>
        <p:txBody>
          <a:bodyPr wrap="square" lIns="0" tIns="0" rIns="0" bIns="0" rtlCol="0" anchor="ctr"/>
          <a:lstStyle/>
          <a:p>
            <a:pPr>
              <a:lnSpc>
                <a:spcPct val="120000"/>
              </a:lnSpc>
            </a:pPr>
            <a:r>
              <a:rPr lang="en-US" sz="1500" b="1" dirty="0">
                <a:solidFill>
                  <a:srgbClr val="EDF2F4"/>
                </a:solidFill>
                <a:latin typeface="Liter" pitchFamily="34" charset="0"/>
                <a:ea typeface="Liter" pitchFamily="34" charset="-122"/>
                <a:cs typeface="Liter" pitchFamily="34" charset="-120"/>
              </a:rPr>
              <a:t>Critical Pipeline Phase</a:t>
            </a:r>
            <a:endParaRPr lang="en-US" sz="1600" dirty="0"/>
          </a:p>
        </p:txBody>
      </p:sp>
      <p:sp>
        <p:nvSpPr>
          <p:cNvPr id="9" name="Text 7"/>
          <p:cNvSpPr/>
          <p:nvPr/>
        </p:nvSpPr>
        <p:spPr>
          <a:xfrm>
            <a:off x="1190625" y="2095500"/>
            <a:ext cx="4686300" cy="495300"/>
          </a:xfrm>
          <a:prstGeom prst="rect">
            <a:avLst/>
          </a:prstGeom>
          <a:noFill/>
          <a:ln/>
        </p:spPr>
        <p:txBody>
          <a:bodyPr wrap="square" lIns="0" tIns="0" rIns="0" bIns="0" rtlCol="0" anchor="ctr"/>
          <a:lstStyle/>
          <a:p>
            <a:pPr>
              <a:lnSpc>
                <a:spcPct val="140000"/>
              </a:lnSpc>
            </a:pPr>
            <a:r>
              <a:rPr lang="en-US" sz="1200" dirty="0">
                <a:solidFill>
                  <a:srgbClr val="8D99AE"/>
                </a:solidFill>
                <a:latin typeface="Quattrocento Sans" pitchFamily="34" charset="0"/>
                <a:ea typeface="Quattrocento Sans" pitchFamily="34" charset="-122"/>
                <a:cs typeface="Quattrocento Sans" pitchFamily="34" charset="-120"/>
              </a:rPr>
              <a:t>Preprocessing is one of the </a:t>
            </a:r>
            <a:r>
              <a:rPr lang="en-US" sz="1200" b="1" dirty="0">
                <a:solidFill>
                  <a:srgbClr val="C9A86A"/>
                </a:solidFill>
                <a:latin typeface="Quattrocento Sans" pitchFamily="34" charset="0"/>
                <a:ea typeface="Quattrocento Sans" pitchFamily="34" charset="-122"/>
                <a:cs typeface="Quattrocento Sans" pitchFamily="34" charset="-120"/>
              </a:rPr>
              <a:t>most important phases</a:t>
            </a:r>
            <a:r>
              <a:rPr lang="en-US" sz="1200" dirty="0">
                <a:solidFill>
                  <a:srgbClr val="8D99AE"/>
                </a:solidFill>
                <a:latin typeface="Quattrocento Sans" pitchFamily="34" charset="0"/>
                <a:ea typeface="Quattrocento Sans" pitchFamily="34" charset="-122"/>
                <a:cs typeface="Quattrocento Sans" pitchFamily="34" charset="-120"/>
              </a:rPr>
              <a:t> in any AI pipeline, directly determining the quality of input data for model training.</a:t>
            </a:r>
            <a:endParaRPr lang="en-US" sz="1600" dirty="0"/>
          </a:p>
        </p:txBody>
      </p:sp>
      <p:sp>
        <p:nvSpPr>
          <p:cNvPr id="10" name="Shape 8"/>
          <p:cNvSpPr/>
          <p:nvPr/>
        </p:nvSpPr>
        <p:spPr>
          <a:xfrm>
            <a:off x="385763" y="3128963"/>
            <a:ext cx="5610225" cy="1590675"/>
          </a:xfrm>
          <a:custGeom>
            <a:avLst/>
            <a:gdLst/>
            <a:ahLst/>
            <a:cxnLst/>
            <a:rect l="l" t="t" r="r" b="b"/>
            <a:pathLst>
              <a:path w="5610225" h="1590675">
                <a:moveTo>
                  <a:pt x="76193" y="0"/>
                </a:moveTo>
                <a:lnTo>
                  <a:pt x="5534032" y="0"/>
                </a:lnTo>
                <a:cubicBezTo>
                  <a:pt x="5576112" y="0"/>
                  <a:pt x="5610225" y="34113"/>
                  <a:pt x="5610225" y="76193"/>
                </a:cubicBezTo>
                <a:lnTo>
                  <a:pt x="5610225" y="1514482"/>
                </a:lnTo>
                <a:cubicBezTo>
                  <a:pt x="5610225" y="1556562"/>
                  <a:pt x="5576112" y="1590675"/>
                  <a:pt x="5534032" y="1590675"/>
                </a:cubicBezTo>
                <a:lnTo>
                  <a:pt x="76193" y="1590675"/>
                </a:lnTo>
                <a:cubicBezTo>
                  <a:pt x="34113" y="1590675"/>
                  <a:pt x="0" y="1556562"/>
                  <a:pt x="0" y="1514482"/>
                </a:cubicBezTo>
                <a:lnTo>
                  <a:pt x="0" y="76193"/>
                </a:lnTo>
                <a:cubicBezTo>
                  <a:pt x="0" y="34141"/>
                  <a:pt x="34141" y="0"/>
                  <a:pt x="76193" y="0"/>
                </a:cubicBezTo>
                <a:close/>
              </a:path>
            </a:pathLst>
          </a:custGeom>
          <a:gradFill flip="none" rotWithShape="1">
            <a:gsLst>
              <a:gs pos="0">
                <a:srgbClr val="4A6C8C">
                  <a:alpha val="20000"/>
                </a:srgbClr>
              </a:gs>
              <a:gs pos="100000">
                <a:srgbClr val="000000">
                  <a:alpha val="0"/>
                </a:srgbClr>
              </a:gs>
            </a:gsLst>
            <a:lin ang="2700000" scaled="1"/>
          </a:gradFill>
          <a:ln w="12700">
            <a:solidFill>
              <a:srgbClr val="4A6C8C">
                <a:alpha val="40000"/>
              </a:srgbClr>
            </a:solidFill>
            <a:prstDash val="solid"/>
          </a:ln>
        </p:spPr>
        <p:txBody>
          <a:bodyPr/>
          <a:lstStyle/>
          <a:p>
            <a:endParaRPr lang="en-GB"/>
          </a:p>
        </p:txBody>
      </p:sp>
      <p:sp>
        <p:nvSpPr>
          <p:cNvPr id="11" name="Shape 9"/>
          <p:cNvSpPr/>
          <p:nvPr/>
        </p:nvSpPr>
        <p:spPr>
          <a:xfrm>
            <a:off x="581025" y="3381375"/>
            <a:ext cx="457200" cy="457200"/>
          </a:xfrm>
          <a:custGeom>
            <a:avLst/>
            <a:gdLst/>
            <a:ahLst/>
            <a:cxnLst/>
            <a:rect l="l" t="t" r="r" b="b"/>
            <a:pathLst>
              <a:path w="457200" h="457200">
                <a:moveTo>
                  <a:pt x="76202" y="0"/>
                </a:moveTo>
                <a:lnTo>
                  <a:pt x="380998" y="0"/>
                </a:lnTo>
                <a:cubicBezTo>
                  <a:pt x="423055" y="0"/>
                  <a:pt x="457200" y="34145"/>
                  <a:pt x="457200" y="76202"/>
                </a:cubicBezTo>
                <a:lnTo>
                  <a:pt x="457200" y="380998"/>
                </a:lnTo>
                <a:cubicBezTo>
                  <a:pt x="457200" y="423055"/>
                  <a:pt x="423055" y="457200"/>
                  <a:pt x="380998" y="457200"/>
                </a:cubicBezTo>
                <a:lnTo>
                  <a:pt x="76202" y="457200"/>
                </a:lnTo>
                <a:cubicBezTo>
                  <a:pt x="34145" y="457200"/>
                  <a:pt x="0" y="423055"/>
                  <a:pt x="0" y="380998"/>
                </a:cubicBezTo>
                <a:lnTo>
                  <a:pt x="0" y="76202"/>
                </a:lnTo>
                <a:cubicBezTo>
                  <a:pt x="0" y="34145"/>
                  <a:pt x="34145" y="0"/>
                  <a:pt x="76202" y="0"/>
                </a:cubicBezTo>
                <a:close/>
              </a:path>
            </a:pathLst>
          </a:custGeom>
          <a:solidFill>
            <a:srgbClr val="4A6C8C"/>
          </a:solidFill>
          <a:ln/>
        </p:spPr>
        <p:txBody>
          <a:bodyPr/>
          <a:lstStyle/>
          <a:p>
            <a:endParaRPr lang="en-GB"/>
          </a:p>
        </p:txBody>
      </p:sp>
      <p:sp>
        <p:nvSpPr>
          <p:cNvPr id="12" name="Shape 10"/>
          <p:cNvSpPr/>
          <p:nvPr/>
        </p:nvSpPr>
        <p:spPr>
          <a:xfrm>
            <a:off x="714375" y="3514725"/>
            <a:ext cx="190500" cy="190500"/>
          </a:xfrm>
          <a:custGeom>
            <a:avLst/>
            <a:gdLst/>
            <a:ahLst/>
            <a:cxnLst/>
            <a:rect l="l" t="t" r="r" b="b"/>
            <a:pathLst>
              <a:path w="190500" h="190500">
                <a:moveTo>
                  <a:pt x="23812" y="23812"/>
                </a:moveTo>
                <a:cubicBezTo>
                  <a:pt x="23812" y="17227"/>
                  <a:pt x="18492" y="11906"/>
                  <a:pt x="11906" y="11906"/>
                </a:cubicBezTo>
                <a:cubicBezTo>
                  <a:pt x="5321" y="11906"/>
                  <a:pt x="0" y="17227"/>
                  <a:pt x="0" y="23812"/>
                </a:cubicBezTo>
                <a:lnTo>
                  <a:pt x="0" y="148828"/>
                </a:lnTo>
                <a:cubicBezTo>
                  <a:pt x="0" y="165274"/>
                  <a:pt x="13320" y="178594"/>
                  <a:pt x="29766" y="178594"/>
                </a:cubicBezTo>
                <a:lnTo>
                  <a:pt x="178594" y="178594"/>
                </a:lnTo>
                <a:cubicBezTo>
                  <a:pt x="185179" y="178594"/>
                  <a:pt x="190500" y="173273"/>
                  <a:pt x="190500" y="166688"/>
                </a:cubicBezTo>
                <a:cubicBezTo>
                  <a:pt x="190500" y="160102"/>
                  <a:pt x="185179" y="154781"/>
                  <a:pt x="178594" y="154781"/>
                </a:cubicBezTo>
                <a:lnTo>
                  <a:pt x="29766" y="154781"/>
                </a:lnTo>
                <a:cubicBezTo>
                  <a:pt x="26491" y="154781"/>
                  <a:pt x="23812" y="152102"/>
                  <a:pt x="23812" y="148828"/>
                </a:cubicBezTo>
                <a:lnTo>
                  <a:pt x="23812" y="23812"/>
                </a:lnTo>
                <a:close/>
                <a:moveTo>
                  <a:pt x="175096" y="56034"/>
                </a:moveTo>
                <a:cubicBezTo>
                  <a:pt x="179747" y="51383"/>
                  <a:pt x="179747" y="43830"/>
                  <a:pt x="175096" y="39179"/>
                </a:cubicBezTo>
                <a:cubicBezTo>
                  <a:pt x="170445" y="34528"/>
                  <a:pt x="162892" y="34528"/>
                  <a:pt x="158242" y="39179"/>
                </a:cubicBezTo>
                <a:lnTo>
                  <a:pt x="119063" y="78395"/>
                </a:lnTo>
                <a:lnTo>
                  <a:pt x="97706" y="57076"/>
                </a:lnTo>
                <a:cubicBezTo>
                  <a:pt x="93055" y="52425"/>
                  <a:pt x="85502" y="52425"/>
                  <a:pt x="80851" y="57076"/>
                </a:cubicBezTo>
                <a:lnTo>
                  <a:pt x="45132" y="92794"/>
                </a:lnTo>
                <a:cubicBezTo>
                  <a:pt x="40481" y="97445"/>
                  <a:pt x="40481" y="104998"/>
                  <a:pt x="45132" y="109649"/>
                </a:cubicBezTo>
                <a:cubicBezTo>
                  <a:pt x="49783" y="114300"/>
                  <a:pt x="57336" y="114300"/>
                  <a:pt x="61987" y="109649"/>
                </a:cubicBezTo>
                <a:lnTo>
                  <a:pt x="89297" y="82339"/>
                </a:lnTo>
                <a:lnTo>
                  <a:pt x="110654" y="103696"/>
                </a:lnTo>
                <a:cubicBezTo>
                  <a:pt x="115305" y="108347"/>
                  <a:pt x="122858" y="108347"/>
                  <a:pt x="127508" y="103696"/>
                </a:cubicBezTo>
                <a:lnTo>
                  <a:pt x="175133" y="56071"/>
                </a:lnTo>
                <a:close/>
              </a:path>
            </a:pathLst>
          </a:custGeom>
          <a:solidFill>
            <a:srgbClr val="EDF2F4"/>
          </a:solidFill>
          <a:ln/>
        </p:spPr>
        <p:txBody>
          <a:bodyPr/>
          <a:lstStyle/>
          <a:p>
            <a:endParaRPr lang="en-GB"/>
          </a:p>
        </p:txBody>
      </p:sp>
      <p:sp>
        <p:nvSpPr>
          <p:cNvPr id="13" name="Text 11"/>
          <p:cNvSpPr/>
          <p:nvPr/>
        </p:nvSpPr>
        <p:spPr>
          <a:xfrm>
            <a:off x="1190625" y="3381375"/>
            <a:ext cx="4705350" cy="266700"/>
          </a:xfrm>
          <a:prstGeom prst="rect">
            <a:avLst/>
          </a:prstGeom>
          <a:noFill/>
          <a:ln/>
        </p:spPr>
        <p:txBody>
          <a:bodyPr wrap="square" lIns="0" tIns="0" rIns="0" bIns="0" rtlCol="0" anchor="ctr"/>
          <a:lstStyle/>
          <a:p>
            <a:pPr>
              <a:lnSpc>
                <a:spcPct val="120000"/>
              </a:lnSpc>
            </a:pPr>
            <a:r>
              <a:rPr lang="en-US" sz="1500" b="1" dirty="0">
                <a:solidFill>
                  <a:srgbClr val="EDF2F4"/>
                </a:solidFill>
                <a:latin typeface="Liter" pitchFamily="34" charset="0"/>
                <a:ea typeface="Liter" pitchFamily="34" charset="-122"/>
                <a:cs typeface="Liter" pitchFamily="34" charset="-120"/>
              </a:rPr>
              <a:t>Performance Dependency</a:t>
            </a:r>
            <a:endParaRPr lang="en-US" sz="1600" dirty="0"/>
          </a:p>
        </p:txBody>
      </p:sp>
      <p:sp>
        <p:nvSpPr>
          <p:cNvPr id="14" name="Text 12"/>
          <p:cNvSpPr/>
          <p:nvPr/>
        </p:nvSpPr>
        <p:spPr>
          <a:xfrm>
            <a:off x="1190625" y="3724275"/>
            <a:ext cx="4686300" cy="742950"/>
          </a:xfrm>
          <a:prstGeom prst="rect">
            <a:avLst/>
          </a:prstGeom>
          <a:noFill/>
          <a:ln/>
        </p:spPr>
        <p:txBody>
          <a:bodyPr wrap="square" lIns="0" tIns="0" rIns="0" bIns="0" rtlCol="0" anchor="ctr"/>
          <a:lstStyle/>
          <a:p>
            <a:pPr>
              <a:lnSpc>
                <a:spcPct val="140000"/>
              </a:lnSpc>
            </a:pPr>
            <a:r>
              <a:rPr lang="en-US" sz="1200" dirty="0">
                <a:solidFill>
                  <a:srgbClr val="8D99AE"/>
                </a:solidFill>
                <a:latin typeface="Quattrocento Sans" pitchFamily="34" charset="0"/>
                <a:ea typeface="Quattrocento Sans" pitchFamily="34" charset="-122"/>
                <a:cs typeface="Quattrocento Sans" pitchFamily="34" charset="-120"/>
              </a:rPr>
              <a:t>Model performance </a:t>
            </a:r>
            <a:r>
              <a:rPr lang="en-US" sz="1200" b="1" dirty="0">
                <a:solidFill>
                  <a:srgbClr val="C9A86A"/>
                </a:solidFill>
                <a:latin typeface="Quattrocento Sans" pitchFamily="34" charset="0"/>
                <a:ea typeface="Quattrocento Sans" pitchFamily="34" charset="-122"/>
                <a:cs typeface="Quattrocento Sans" pitchFamily="34" charset="-120"/>
              </a:rPr>
              <a:t>heavily depends</a:t>
            </a:r>
            <a:r>
              <a:rPr lang="en-US" sz="1200" dirty="0">
                <a:solidFill>
                  <a:srgbClr val="8D99AE"/>
                </a:solidFill>
                <a:latin typeface="Quattrocento Sans" pitchFamily="34" charset="0"/>
                <a:ea typeface="Quattrocento Sans" pitchFamily="34" charset="-122"/>
                <a:cs typeface="Quattrocento Sans" pitchFamily="34" charset="-120"/>
              </a:rPr>
              <a:t> on data quality. Even the most sophisticated algorithms cannot compensate for poorly preprocessed data.</a:t>
            </a:r>
            <a:endParaRPr lang="en-US" sz="1600" dirty="0"/>
          </a:p>
        </p:txBody>
      </p:sp>
      <p:sp>
        <p:nvSpPr>
          <p:cNvPr id="15" name="Shape 13"/>
          <p:cNvSpPr/>
          <p:nvPr/>
        </p:nvSpPr>
        <p:spPr>
          <a:xfrm>
            <a:off x="385763" y="4881563"/>
            <a:ext cx="5610225" cy="1590675"/>
          </a:xfrm>
          <a:custGeom>
            <a:avLst/>
            <a:gdLst/>
            <a:ahLst/>
            <a:cxnLst/>
            <a:rect l="l" t="t" r="r" b="b"/>
            <a:pathLst>
              <a:path w="5610225" h="1590675">
                <a:moveTo>
                  <a:pt x="76193" y="0"/>
                </a:moveTo>
                <a:lnTo>
                  <a:pt x="5534032" y="0"/>
                </a:lnTo>
                <a:cubicBezTo>
                  <a:pt x="5576112" y="0"/>
                  <a:pt x="5610225" y="34113"/>
                  <a:pt x="5610225" y="76193"/>
                </a:cubicBezTo>
                <a:lnTo>
                  <a:pt x="5610225" y="1514482"/>
                </a:lnTo>
                <a:cubicBezTo>
                  <a:pt x="5610225" y="1556562"/>
                  <a:pt x="5576112" y="1590675"/>
                  <a:pt x="5534032" y="1590675"/>
                </a:cubicBezTo>
                <a:lnTo>
                  <a:pt x="76193" y="1590675"/>
                </a:lnTo>
                <a:cubicBezTo>
                  <a:pt x="34113" y="1590675"/>
                  <a:pt x="0" y="1556562"/>
                  <a:pt x="0" y="1514482"/>
                </a:cubicBezTo>
                <a:lnTo>
                  <a:pt x="0" y="76193"/>
                </a:lnTo>
                <a:cubicBezTo>
                  <a:pt x="0" y="34141"/>
                  <a:pt x="34141" y="0"/>
                  <a:pt x="76193" y="0"/>
                </a:cubicBezTo>
                <a:close/>
              </a:path>
            </a:pathLst>
          </a:custGeom>
          <a:gradFill flip="none" rotWithShape="1">
            <a:gsLst>
              <a:gs pos="0">
                <a:srgbClr val="C9A86A">
                  <a:alpha val="20000"/>
                </a:srgbClr>
              </a:gs>
              <a:gs pos="100000">
                <a:srgbClr val="000000">
                  <a:alpha val="0"/>
                </a:srgbClr>
              </a:gs>
            </a:gsLst>
            <a:lin ang="2700000" scaled="1"/>
          </a:gradFill>
          <a:ln w="12700">
            <a:solidFill>
              <a:srgbClr val="C9A86A">
                <a:alpha val="40000"/>
              </a:srgbClr>
            </a:solidFill>
            <a:prstDash val="solid"/>
          </a:ln>
        </p:spPr>
        <p:txBody>
          <a:bodyPr/>
          <a:lstStyle/>
          <a:p>
            <a:endParaRPr lang="en-GB"/>
          </a:p>
        </p:txBody>
      </p:sp>
      <p:sp>
        <p:nvSpPr>
          <p:cNvPr id="16" name="Shape 14"/>
          <p:cNvSpPr/>
          <p:nvPr/>
        </p:nvSpPr>
        <p:spPr>
          <a:xfrm>
            <a:off x="581025" y="5257800"/>
            <a:ext cx="457200" cy="457200"/>
          </a:xfrm>
          <a:custGeom>
            <a:avLst/>
            <a:gdLst/>
            <a:ahLst/>
            <a:cxnLst/>
            <a:rect l="l" t="t" r="r" b="b"/>
            <a:pathLst>
              <a:path w="457200" h="457200">
                <a:moveTo>
                  <a:pt x="76202" y="0"/>
                </a:moveTo>
                <a:lnTo>
                  <a:pt x="380998" y="0"/>
                </a:lnTo>
                <a:cubicBezTo>
                  <a:pt x="423055" y="0"/>
                  <a:pt x="457200" y="34145"/>
                  <a:pt x="457200" y="76202"/>
                </a:cubicBezTo>
                <a:lnTo>
                  <a:pt x="457200" y="380998"/>
                </a:lnTo>
                <a:cubicBezTo>
                  <a:pt x="457200" y="423055"/>
                  <a:pt x="423055" y="457200"/>
                  <a:pt x="380998" y="457200"/>
                </a:cubicBezTo>
                <a:lnTo>
                  <a:pt x="76202" y="457200"/>
                </a:lnTo>
                <a:cubicBezTo>
                  <a:pt x="34145" y="457200"/>
                  <a:pt x="0" y="423055"/>
                  <a:pt x="0" y="380998"/>
                </a:cubicBezTo>
                <a:lnTo>
                  <a:pt x="0" y="76202"/>
                </a:lnTo>
                <a:cubicBezTo>
                  <a:pt x="0" y="34145"/>
                  <a:pt x="34145" y="0"/>
                  <a:pt x="76202" y="0"/>
                </a:cubicBezTo>
                <a:close/>
              </a:path>
            </a:pathLst>
          </a:custGeom>
          <a:solidFill>
            <a:srgbClr val="C9A86A"/>
          </a:solidFill>
          <a:ln/>
        </p:spPr>
        <p:txBody>
          <a:bodyPr/>
          <a:lstStyle/>
          <a:p>
            <a:endParaRPr lang="en-GB"/>
          </a:p>
        </p:txBody>
      </p:sp>
      <p:sp>
        <p:nvSpPr>
          <p:cNvPr id="17" name="Shape 15"/>
          <p:cNvSpPr/>
          <p:nvPr/>
        </p:nvSpPr>
        <p:spPr>
          <a:xfrm>
            <a:off x="714375" y="5391150"/>
            <a:ext cx="190500" cy="190500"/>
          </a:xfrm>
          <a:custGeom>
            <a:avLst/>
            <a:gdLst/>
            <a:ahLst/>
            <a:cxnLst/>
            <a:rect l="l" t="t" r="r" b="b"/>
            <a:pathLst>
              <a:path w="190500" h="190500">
                <a:moveTo>
                  <a:pt x="95250" y="190500"/>
                </a:moveTo>
                <a:cubicBezTo>
                  <a:pt x="147820" y="190500"/>
                  <a:pt x="190500" y="147820"/>
                  <a:pt x="190500" y="95250"/>
                </a:cubicBezTo>
                <a:cubicBezTo>
                  <a:pt x="190500" y="42680"/>
                  <a:pt x="147820" y="0"/>
                  <a:pt x="95250" y="0"/>
                </a:cubicBezTo>
                <a:cubicBezTo>
                  <a:pt x="42680" y="0"/>
                  <a:pt x="0" y="42680"/>
                  <a:pt x="0" y="95250"/>
                </a:cubicBezTo>
                <a:cubicBezTo>
                  <a:pt x="0" y="147820"/>
                  <a:pt x="42680" y="190500"/>
                  <a:pt x="95250" y="190500"/>
                </a:cubicBezTo>
                <a:close/>
                <a:moveTo>
                  <a:pt x="62136" y="62136"/>
                </a:moveTo>
                <a:cubicBezTo>
                  <a:pt x="65633" y="58638"/>
                  <a:pt x="71289" y="58638"/>
                  <a:pt x="74749" y="62136"/>
                </a:cubicBezTo>
                <a:lnTo>
                  <a:pt x="95213" y="82600"/>
                </a:lnTo>
                <a:lnTo>
                  <a:pt x="115677" y="62136"/>
                </a:lnTo>
                <a:cubicBezTo>
                  <a:pt x="119174" y="58638"/>
                  <a:pt x="124830" y="58638"/>
                  <a:pt x="128290" y="62136"/>
                </a:cubicBezTo>
                <a:cubicBezTo>
                  <a:pt x="131750" y="65633"/>
                  <a:pt x="131787" y="71289"/>
                  <a:pt x="128290" y="74749"/>
                </a:cubicBezTo>
                <a:lnTo>
                  <a:pt x="107826" y="95213"/>
                </a:lnTo>
                <a:lnTo>
                  <a:pt x="128290" y="115677"/>
                </a:lnTo>
                <a:cubicBezTo>
                  <a:pt x="131787" y="119174"/>
                  <a:pt x="131787" y="124830"/>
                  <a:pt x="128290" y="128290"/>
                </a:cubicBezTo>
                <a:cubicBezTo>
                  <a:pt x="124792" y="131750"/>
                  <a:pt x="119137" y="131787"/>
                  <a:pt x="115677" y="128290"/>
                </a:cubicBezTo>
                <a:lnTo>
                  <a:pt x="95213" y="107826"/>
                </a:lnTo>
                <a:lnTo>
                  <a:pt x="74749" y="128290"/>
                </a:lnTo>
                <a:cubicBezTo>
                  <a:pt x="71251" y="131787"/>
                  <a:pt x="65596" y="131787"/>
                  <a:pt x="62136" y="128290"/>
                </a:cubicBezTo>
                <a:cubicBezTo>
                  <a:pt x="58675" y="124792"/>
                  <a:pt x="58638" y="119137"/>
                  <a:pt x="62136" y="115677"/>
                </a:cubicBezTo>
                <a:lnTo>
                  <a:pt x="82600" y="95213"/>
                </a:lnTo>
                <a:lnTo>
                  <a:pt x="62136" y="74749"/>
                </a:lnTo>
                <a:cubicBezTo>
                  <a:pt x="58638" y="71251"/>
                  <a:pt x="58638" y="65596"/>
                  <a:pt x="62136" y="62136"/>
                </a:cubicBezTo>
                <a:close/>
              </a:path>
            </a:pathLst>
          </a:custGeom>
          <a:solidFill>
            <a:srgbClr val="1A1D24"/>
          </a:solidFill>
          <a:ln/>
        </p:spPr>
        <p:txBody>
          <a:bodyPr/>
          <a:lstStyle/>
          <a:p>
            <a:endParaRPr lang="en-GB"/>
          </a:p>
        </p:txBody>
      </p:sp>
      <p:sp>
        <p:nvSpPr>
          <p:cNvPr id="18" name="Text 16"/>
          <p:cNvSpPr/>
          <p:nvPr/>
        </p:nvSpPr>
        <p:spPr>
          <a:xfrm>
            <a:off x="1190625" y="5257800"/>
            <a:ext cx="4705350" cy="266700"/>
          </a:xfrm>
          <a:prstGeom prst="rect">
            <a:avLst/>
          </a:prstGeom>
          <a:noFill/>
          <a:ln/>
        </p:spPr>
        <p:txBody>
          <a:bodyPr wrap="square" lIns="0" tIns="0" rIns="0" bIns="0" rtlCol="0" anchor="ctr"/>
          <a:lstStyle/>
          <a:p>
            <a:pPr>
              <a:lnSpc>
                <a:spcPct val="120000"/>
              </a:lnSpc>
            </a:pPr>
            <a:r>
              <a:rPr lang="en-US" sz="1500" b="1" dirty="0">
                <a:solidFill>
                  <a:srgbClr val="EDF2F4"/>
                </a:solidFill>
                <a:latin typeface="Liter" pitchFamily="34" charset="0"/>
                <a:ea typeface="Liter" pitchFamily="34" charset="-122"/>
                <a:cs typeface="Liter" pitchFamily="34" charset="-120"/>
              </a:rPr>
              <a:t>The Consequence</a:t>
            </a:r>
            <a:endParaRPr lang="en-US" sz="1600" dirty="0"/>
          </a:p>
        </p:txBody>
      </p:sp>
      <p:sp>
        <p:nvSpPr>
          <p:cNvPr id="19" name="Text 17"/>
          <p:cNvSpPr/>
          <p:nvPr/>
        </p:nvSpPr>
        <p:spPr>
          <a:xfrm>
            <a:off x="1190625" y="5600700"/>
            <a:ext cx="4686300" cy="495300"/>
          </a:xfrm>
          <a:prstGeom prst="rect">
            <a:avLst/>
          </a:prstGeom>
          <a:noFill/>
          <a:ln/>
        </p:spPr>
        <p:txBody>
          <a:bodyPr wrap="square" lIns="0" tIns="0" rIns="0" bIns="0" rtlCol="0" anchor="ctr"/>
          <a:lstStyle/>
          <a:p>
            <a:pPr>
              <a:lnSpc>
                <a:spcPct val="140000"/>
              </a:lnSpc>
            </a:pPr>
            <a:r>
              <a:rPr lang="en-US" sz="1200" b="1" dirty="0">
                <a:solidFill>
                  <a:srgbClr val="C9A86A"/>
                </a:solidFill>
                <a:latin typeface="Quattrocento Sans" pitchFamily="34" charset="0"/>
                <a:ea typeface="Quattrocento Sans" pitchFamily="34" charset="-122"/>
                <a:cs typeface="Quattrocento Sans" pitchFamily="34" charset="-120"/>
              </a:rPr>
              <a:t>Poor preprocessing → poor accuracy.</a:t>
            </a:r>
            <a:r>
              <a:rPr lang="en-US" sz="1200" dirty="0">
                <a:solidFill>
                  <a:srgbClr val="8D99AE"/>
                </a:solidFill>
                <a:latin typeface="Quattrocento Sans" pitchFamily="34" charset="0"/>
                <a:ea typeface="Quattrocento Sans" pitchFamily="34" charset="-122"/>
                <a:cs typeface="Quattrocento Sans" pitchFamily="34" charset="-120"/>
              </a:rPr>
              <a:t> Inadequate data preparation leads to biased models, overfitting, and unreliable predictions.</a:t>
            </a:r>
            <a:endParaRPr lang="en-US" sz="1600" dirty="0"/>
          </a:p>
        </p:txBody>
      </p:sp>
      <p:sp>
        <p:nvSpPr>
          <p:cNvPr id="20" name="Shape 18"/>
          <p:cNvSpPr/>
          <p:nvPr/>
        </p:nvSpPr>
        <p:spPr>
          <a:xfrm>
            <a:off x="6196013" y="1376363"/>
            <a:ext cx="5610225" cy="3914775"/>
          </a:xfrm>
          <a:custGeom>
            <a:avLst/>
            <a:gdLst/>
            <a:ahLst/>
            <a:cxnLst/>
            <a:rect l="l" t="t" r="r" b="b"/>
            <a:pathLst>
              <a:path w="5610225" h="3914775">
                <a:moveTo>
                  <a:pt x="76182" y="0"/>
                </a:moveTo>
                <a:lnTo>
                  <a:pt x="5534043" y="0"/>
                </a:lnTo>
                <a:cubicBezTo>
                  <a:pt x="5576117" y="0"/>
                  <a:pt x="5610225" y="34108"/>
                  <a:pt x="5610225" y="76182"/>
                </a:cubicBezTo>
                <a:lnTo>
                  <a:pt x="5610225" y="3838593"/>
                </a:lnTo>
                <a:cubicBezTo>
                  <a:pt x="5610225" y="3880667"/>
                  <a:pt x="5576117" y="3914775"/>
                  <a:pt x="5534043" y="3914775"/>
                </a:cubicBezTo>
                <a:lnTo>
                  <a:pt x="76182" y="3914775"/>
                </a:lnTo>
                <a:cubicBezTo>
                  <a:pt x="34108" y="3914775"/>
                  <a:pt x="0" y="3880667"/>
                  <a:pt x="0" y="3838593"/>
                </a:cubicBezTo>
                <a:lnTo>
                  <a:pt x="0" y="76182"/>
                </a:lnTo>
                <a:cubicBezTo>
                  <a:pt x="0" y="34136"/>
                  <a:pt x="34136" y="0"/>
                  <a:pt x="76182" y="0"/>
                </a:cubicBezTo>
                <a:close/>
              </a:path>
            </a:pathLst>
          </a:custGeom>
          <a:solidFill>
            <a:srgbClr val="4A6C8C">
              <a:alpha val="10196"/>
            </a:srgbClr>
          </a:solidFill>
          <a:ln w="12700">
            <a:solidFill>
              <a:srgbClr val="4A6C8C">
                <a:alpha val="30196"/>
              </a:srgbClr>
            </a:solidFill>
            <a:prstDash val="solid"/>
          </a:ln>
        </p:spPr>
        <p:txBody>
          <a:bodyPr/>
          <a:lstStyle/>
          <a:p>
            <a:endParaRPr lang="en-GB"/>
          </a:p>
        </p:txBody>
      </p:sp>
      <p:sp>
        <p:nvSpPr>
          <p:cNvPr id="21" name="Shape 19"/>
          <p:cNvSpPr/>
          <p:nvPr/>
        </p:nvSpPr>
        <p:spPr>
          <a:xfrm>
            <a:off x="6426994" y="1609725"/>
            <a:ext cx="166688" cy="190500"/>
          </a:xfrm>
          <a:custGeom>
            <a:avLst/>
            <a:gdLst/>
            <a:ahLst/>
            <a:cxnLst/>
            <a:rect l="l" t="t" r="r" b="b"/>
            <a:pathLst>
              <a:path w="166688" h="190500">
                <a:moveTo>
                  <a:pt x="83344" y="92273"/>
                </a:moveTo>
                <a:cubicBezTo>
                  <a:pt x="58702" y="92273"/>
                  <a:pt x="38695" y="72267"/>
                  <a:pt x="38695" y="47625"/>
                </a:cubicBezTo>
                <a:cubicBezTo>
                  <a:pt x="38695" y="22983"/>
                  <a:pt x="58702" y="2977"/>
                  <a:pt x="83344" y="2977"/>
                </a:cubicBezTo>
                <a:cubicBezTo>
                  <a:pt x="107986" y="2977"/>
                  <a:pt x="127992" y="22983"/>
                  <a:pt x="127992" y="47625"/>
                </a:cubicBezTo>
                <a:cubicBezTo>
                  <a:pt x="127992" y="72267"/>
                  <a:pt x="107986" y="92273"/>
                  <a:pt x="83344" y="92273"/>
                </a:cubicBezTo>
                <a:close/>
                <a:moveTo>
                  <a:pt x="71996" y="113109"/>
                </a:moveTo>
                <a:lnTo>
                  <a:pt x="94692" y="113109"/>
                </a:lnTo>
                <a:cubicBezTo>
                  <a:pt x="98301" y="113109"/>
                  <a:pt x="101203" y="116012"/>
                  <a:pt x="101203" y="119621"/>
                </a:cubicBezTo>
                <a:cubicBezTo>
                  <a:pt x="101203" y="121183"/>
                  <a:pt x="100645" y="122672"/>
                  <a:pt x="99640" y="123862"/>
                </a:cubicBezTo>
                <a:lnTo>
                  <a:pt x="89446" y="135768"/>
                </a:lnTo>
                <a:lnTo>
                  <a:pt x="100980" y="178594"/>
                </a:lnTo>
                <a:lnTo>
                  <a:pt x="101203" y="178594"/>
                </a:lnTo>
                <a:lnTo>
                  <a:pt x="114077" y="127062"/>
                </a:lnTo>
                <a:cubicBezTo>
                  <a:pt x="114895" y="123825"/>
                  <a:pt x="118207" y="121853"/>
                  <a:pt x="121332" y="123044"/>
                </a:cubicBezTo>
                <a:cubicBezTo>
                  <a:pt x="144363" y="131825"/>
                  <a:pt x="160734" y="154149"/>
                  <a:pt x="160734" y="180268"/>
                </a:cubicBezTo>
                <a:cubicBezTo>
                  <a:pt x="160734" y="185886"/>
                  <a:pt x="156158" y="190463"/>
                  <a:pt x="150540" y="190463"/>
                </a:cubicBezTo>
                <a:lnTo>
                  <a:pt x="16148" y="190500"/>
                </a:lnTo>
                <a:cubicBezTo>
                  <a:pt x="10530" y="190500"/>
                  <a:pt x="5953" y="185924"/>
                  <a:pt x="5953" y="180305"/>
                </a:cubicBezTo>
                <a:cubicBezTo>
                  <a:pt x="5953" y="154186"/>
                  <a:pt x="22324" y="131862"/>
                  <a:pt x="45355" y="123081"/>
                </a:cubicBezTo>
                <a:cubicBezTo>
                  <a:pt x="48481" y="121890"/>
                  <a:pt x="51792" y="123862"/>
                  <a:pt x="52611" y="127099"/>
                </a:cubicBezTo>
                <a:lnTo>
                  <a:pt x="65484" y="178631"/>
                </a:lnTo>
                <a:lnTo>
                  <a:pt x="65708" y="178631"/>
                </a:lnTo>
                <a:lnTo>
                  <a:pt x="77242" y="135806"/>
                </a:lnTo>
                <a:lnTo>
                  <a:pt x="67047" y="123899"/>
                </a:lnTo>
                <a:cubicBezTo>
                  <a:pt x="66042" y="122709"/>
                  <a:pt x="65484" y="121221"/>
                  <a:pt x="65484" y="119658"/>
                </a:cubicBezTo>
                <a:cubicBezTo>
                  <a:pt x="65484" y="116049"/>
                  <a:pt x="68387" y="113147"/>
                  <a:pt x="71996" y="113147"/>
                </a:cubicBezTo>
                <a:close/>
              </a:path>
            </a:pathLst>
          </a:custGeom>
          <a:solidFill>
            <a:srgbClr val="C9A86A"/>
          </a:solidFill>
          <a:ln/>
        </p:spPr>
        <p:txBody>
          <a:bodyPr/>
          <a:lstStyle/>
          <a:p>
            <a:endParaRPr lang="en-GB"/>
          </a:p>
        </p:txBody>
      </p:sp>
      <p:sp>
        <p:nvSpPr>
          <p:cNvPr id="22" name="Text 20"/>
          <p:cNvSpPr/>
          <p:nvPr/>
        </p:nvSpPr>
        <p:spPr>
          <a:xfrm>
            <a:off x="6629400" y="1571625"/>
            <a:ext cx="5076825" cy="266700"/>
          </a:xfrm>
          <a:prstGeom prst="rect">
            <a:avLst/>
          </a:prstGeom>
          <a:noFill/>
          <a:ln/>
        </p:spPr>
        <p:txBody>
          <a:bodyPr wrap="square" lIns="0" tIns="0" rIns="0" bIns="0" rtlCol="0" anchor="ctr"/>
          <a:lstStyle/>
          <a:p>
            <a:pPr>
              <a:lnSpc>
                <a:spcPct val="120000"/>
              </a:lnSpc>
            </a:pPr>
            <a:r>
              <a:rPr lang="en-US" sz="1500" b="1" dirty="0">
                <a:solidFill>
                  <a:srgbClr val="C9A86A"/>
                </a:solidFill>
                <a:latin typeface="Liter" pitchFamily="34" charset="0"/>
                <a:ea typeface="Liter" pitchFamily="34" charset="-122"/>
                <a:cs typeface="Liter" pitchFamily="34" charset="-120"/>
              </a:rPr>
              <a:t>Current Human Expert Approach</a:t>
            </a:r>
            <a:endParaRPr lang="en-US" sz="1600" dirty="0"/>
          </a:p>
        </p:txBody>
      </p:sp>
      <p:sp>
        <p:nvSpPr>
          <p:cNvPr id="23" name="Shape 21"/>
          <p:cNvSpPr/>
          <p:nvPr/>
        </p:nvSpPr>
        <p:spPr>
          <a:xfrm>
            <a:off x="6391275" y="2028825"/>
            <a:ext cx="304800" cy="304800"/>
          </a:xfrm>
          <a:custGeom>
            <a:avLst/>
            <a:gdLst/>
            <a:ahLst/>
            <a:cxnLst/>
            <a:rect l="l" t="t" r="r" b="b"/>
            <a:pathLst>
              <a:path w="304800" h="304800">
                <a:moveTo>
                  <a:pt x="152400" y="0"/>
                </a:moveTo>
                <a:lnTo>
                  <a:pt x="152400" y="0"/>
                </a:lnTo>
                <a:cubicBezTo>
                  <a:pt x="236512" y="0"/>
                  <a:pt x="304800" y="68288"/>
                  <a:pt x="304800" y="152400"/>
                </a:cubicBezTo>
                <a:lnTo>
                  <a:pt x="304800" y="152400"/>
                </a:lnTo>
                <a:cubicBezTo>
                  <a:pt x="304800" y="236512"/>
                  <a:pt x="236512" y="304800"/>
                  <a:pt x="152400" y="304800"/>
                </a:cubicBezTo>
                <a:lnTo>
                  <a:pt x="152400" y="304800"/>
                </a:lnTo>
                <a:cubicBezTo>
                  <a:pt x="68288" y="304800"/>
                  <a:pt x="0" y="236512"/>
                  <a:pt x="0" y="152400"/>
                </a:cubicBezTo>
                <a:lnTo>
                  <a:pt x="0" y="152400"/>
                </a:lnTo>
                <a:cubicBezTo>
                  <a:pt x="0" y="68288"/>
                  <a:pt x="68288" y="0"/>
                  <a:pt x="152400" y="0"/>
                </a:cubicBezTo>
                <a:close/>
              </a:path>
            </a:pathLst>
          </a:custGeom>
          <a:solidFill>
            <a:srgbClr val="4A6C8C">
              <a:alpha val="30196"/>
            </a:srgbClr>
          </a:solidFill>
          <a:ln/>
        </p:spPr>
        <p:txBody>
          <a:bodyPr/>
          <a:lstStyle/>
          <a:p>
            <a:endParaRPr lang="en-GB"/>
          </a:p>
        </p:txBody>
      </p:sp>
      <p:sp>
        <p:nvSpPr>
          <p:cNvPr id="24" name="Text 22"/>
          <p:cNvSpPr/>
          <p:nvPr/>
        </p:nvSpPr>
        <p:spPr>
          <a:xfrm>
            <a:off x="6522393" y="2085975"/>
            <a:ext cx="104775" cy="190500"/>
          </a:xfrm>
          <a:prstGeom prst="rect">
            <a:avLst/>
          </a:prstGeom>
          <a:noFill/>
          <a:ln/>
        </p:spPr>
        <p:txBody>
          <a:bodyPr wrap="square" lIns="0" tIns="0" rIns="0" bIns="0" rtlCol="0" anchor="ctr"/>
          <a:lstStyle/>
          <a:p>
            <a:pPr>
              <a:lnSpc>
                <a:spcPct val="120000"/>
              </a:lnSpc>
            </a:pPr>
            <a:r>
              <a:rPr lang="en-US" sz="1050" b="1" dirty="0">
                <a:solidFill>
                  <a:srgbClr val="C9A86A"/>
                </a:solidFill>
                <a:latin typeface="Quattrocento Sans" pitchFamily="34" charset="0"/>
                <a:ea typeface="Quattrocento Sans" pitchFamily="34" charset="-122"/>
                <a:cs typeface="Quattrocento Sans" pitchFamily="34" charset="-120"/>
              </a:rPr>
              <a:t>1</a:t>
            </a:r>
            <a:endParaRPr lang="en-US" sz="1600" dirty="0"/>
          </a:p>
        </p:txBody>
      </p:sp>
      <p:sp>
        <p:nvSpPr>
          <p:cNvPr id="25" name="Text 23"/>
          <p:cNvSpPr/>
          <p:nvPr/>
        </p:nvSpPr>
        <p:spPr>
          <a:xfrm>
            <a:off x="6810375" y="1990725"/>
            <a:ext cx="3990975" cy="228600"/>
          </a:xfrm>
          <a:prstGeom prst="rect">
            <a:avLst/>
          </a:prstGeom>
          <a:noFill/>
          <a:ln/>
        </p:spPr>
        <p:txBody>
          <a:bodyPr wrap="square" lIns="0" tIns="0" rIns="0" bIns="0" rtlCol="0" anchor="ctr"/>
          <a:lstStyle/>
          <a:p>
            <a:pPr>
              <a:lnSpc>
                <a:spcPct val="130000"/>
              </a:lnSpc>
            </a:pPr>
            <a:r>
              <a:rPr lang="en-US" sz="1200" b="1" dirty="0">
                <a:solidFill>
                  <a:srgbClr val="EDF2F4"/>
                </a:solidFill>
                <a:latin typeface="Quattrocento Sans" pitchFamily="34" charset="0"/>
                <a:ea typeface="Quattrocento Sans" pitchFamily="34" charset="-122"/>
                <a:cs typeface="Quattrocento Sans" pitchFamily="34" charset="-120"/>
              </a:rPr>
              <a:t>Data Characteristics</a:t>
            </a:r>
            <a:endParaRPr lang="en-US" sz="1600" dirty="0"/>
          </a:p>
        </p:txBody>
      </p:sp>
      <p:sp>
        <p:nvSpPr>
          <p:cNvPr id="26" name="Text 24"/>
          <p:cNvSpPr/>
          <p:nvPr/>
        </p:nvSpPr>
        <p:spPr>
          <a:xfrm>
            <a:off x="6810375" y="2257425"/>
            <a:ext cx="3981450" cy="190500"/>
          </a:xfrm>
          <a:prstGeom prst="rect">
            <a:avLst/>
          </a:prstGeom>
          <a:noFill/>
          <a:ln/>
        </p:spPr>
        <p:txBody>
          <a:bodyPr wrap="square" lIns="0" tIns="0" rIns="0" bIns="0" rtlCol="0" anchor="ctr"/>
          <a:lstStyle/>
          <a:p>
            <a:pPr>
              <a:lnSpc>
                <a:spcPct val="120000"/>
              </a:lnSpc>
            </a:pPr>
            <a:r>
              <a:rPr lang="en-US" sz="1050" dirty="0">
                <a:solidFill>
                  <a:srgbClr val="8D99AE"/>
                </a:solidFill>
                <a:latin typeface="Quattrocento Sans" pitchFamily="34" charset="0"/>
                <a:ea typeface="Quattrocento Sans" pitchFamily="34" charset="-122"/>
                <a:cs typeface="Quattrocento Sans" pitchFamily="34" charset="-120"/>
              </a:rPr>
              <a:t>Experts analyze dataset properties, distributions, and quality metrics</a:t>
            </a:r>
            <a:endParaRPr lang="en-US" sz="1600" dirty="0"/>
          </a:p>
        </p:txBody>
      </p:sp>
      <p:sp>
        <p:nvSpPr>
          <p:cNvPr id="27" name="Shape 25"/>
          <p:cNvSpPr/>
          <p:nvPr/>
        </p:nvSpPr>
        <p:spPr>
          <a:xfrm>
            <a:off x="6391275" y="2600325"/>
            <a:ext cx="304800" cy="304800"/>
          </a:xfrm>
          <a:custGeom>
            <a:avLst/>
            <a:gdLst/>
            <a:ahLst/>
            <a:cxnLst/>
            <a:rect l="l" t="t" r="r" b="b"/>
            <a:pathLst>
              <a:path w="304800" h="304800">
                <a:moveTo>
                  <a:pt x="152400" y="0"/>
                </a:moveTo>
                <a:lnTo>
                  <a:pt x="152400" y="0"/>
                </a:lnTo>
                <a:cubicBezTo>
                  <a:pt x="236512" y="0"/>
                  <a:pt x="304800" y="68288"/>
                  <a:pt x="304800" y="152400"/>
                </a:cubicBezTo>
                <a:lnTo>
                  <a:pt x="304800" y="152400"/>
                </a:lnTo>
                <a:cubicBezTo>
                  <a:pt x="304800" y="236512"/>
                  <a:pt x="236512" y="304800"/>
                  <a:pt x="152400" y="304800"/>
                </a:cubicBezTo>
                <a:lnTo>
                  <a:pt x="152400" y="304800"/>
                </a:lnTo>
                <a:cubicBezTo>
                  <a:pt x="68288" y="304800"/>
                  <a:pt x="0" y="236512"/>
                  <a:pt x="0" y="152400"/>
                </a:cubicBezTo>
                <a:lnTo>
                  <a:pt x="0" y="152400"/>
                </a:lnTo>
                <a:cubicBezTo>
                  <a:pt x="0" y="68288"/>
                  <a:pt x="68288" y="0"/>
                  <a:pt x="152400" y="0"/>
                </a:cubicBezTo>
                <a:close/>
              </a:path>
            </a:pathLst>
          </a:custGeom>
          <a:solidFill>
            <a:srgbClr val="4A6C8C">
              <a:alpha val="30196"/>
            </a:srgbClr>
          </a:solidFill>
          <a:ln/>
        </p:spPr>
        <p:txBody>
          <a:bodyPr/>
          <a:lstStyle/>
          <a:p>
            <a:endParaRPr lang="en-GB"/>
          </a:p>
        </p:txBody>
      </p:sp>
      <p:sp>
        <p:nvSpPr>
          <p:cNvPr id="28" name="Text 26"/>
          <p:cNvSpPr/>
          <p:nvPr/>
        </p:nvSpPr>
        <p:spPr>
          <a:xfrm>
            <a:off x="6509593" y="2657475"/>
            <a:ext cx="133350" cy="190500"/>
          </a:xfrm>
          <a:prstGeom prst="rect">
            <a:avLst/>
          </a:prstGeom>
          <a:noFill/>
          <a:ln/>
        </p:spPr>
        <p:txBody>
          <a:bodyPr wrap="square" lIns="0" tIns="0" rIns="0" bIns="0" rtlCol="0" anchor="ctr"/>
          <a:lstStyle/>
          <a:p>
            <a:pPr>
              <a:lnSpc>
                <a:spcPct val="120000"/>
              </a:lnSpc>
            </a:pPr>
            <a:r>
              <a:rPr lang="en-US" sz="1050" b="1" dirty="0">
                <a:solidFill>
                  <a:srgbClr val="C9A86A"/>
                </a:solidFill>
                <a:latin typeface="Quattrocento Sans" pitchFamily="34" charset="0"/>
                <a:ea typeface="Quattrocento Sans" pitchFamily="34" charset="-122"/>
                <a:cs typeface="Quattrocento Sans" pitchFamily="34" charset="-120"/>
              </a:rPr>
              <a:t>2</a:t>
            </a:r>
            <a:endParaRPr lang="en-US" sz="1600" dirty="0"/>
          </a:p>
        </p:txBody>
      </p:sp>
      <p:sp>
        <p:nvSpPr>
          <p:cNvPr id="29" name="Text 27"/>
          <p:cNvSpPr/>
          <p:nvPr/>
        </p:nvSpPr>
        <p:spPr>
          <a:xfrm>
            <a:off x="6810375" y="2562225"/>
            <a:ext cx="4010025" cy="228600"/>
          </a:xfrm>
          <a:prstGeom prst="rect">
            <a:avLst/>
          </a:prstGeom>
          <a:noFill/>
          <a:ln/>
        </p:spPr>
        <p:txBody>
          <a:bodyPr wrap="square" lIns="0" tIns="0" rIns="0" bIns="0" rtlCol="0" anchor="ctr"/>
          <a:lstStyle/>
          <a:p>
            <a:pPr>
              <a:lnSpc>
                <a:spcPct val="130000"/>
              </a:lnSpc>
            </a:pPr>
            <a:r>
              <a:rPr lang="en-US" sz="1200" b="1" dirty="0">
                <a:solidFill>
                  <a:srgbClr val="EDF2F4"/>
                </a:solidFill>
                <a:latin typeface="Quattrocento Sans" pitchFamily="34" charset="0"/>
                <a:ea typeface="Quattrocento Sans" pitchFamily="34" charset="-122"/>
                <a:cs typeface="Quattrocento Sans" pitchFamily="34" charset="-120"/>
              </a:rPr>
              <a:t>Task Requirements</a:t>
            </a:r>
            <a:endParaRPr lang="en-US" sz="1600" dirty="0"/>
          </a:p>
        </p:txBody>
      </p:sp>
      <p:sp>
        <p:nvSpPr>
          <p:cNvPr id="30" name="Text 28"/>
          <p:cNvSpPr/>
          <p:nvPr/>
        </p:nvSpPr>
        <p:spPr>
          <a:xfrm>
            <a:off x="6810375" y="2828925"/>
            <a:ext cx="4000500" cy="190500"/>
          </a:xfrm>
          <a:prstGeom prst="rect">
            <a:avLst/>
          </a:prstGeom>
          <a:noFill/>
          <a:ln/>
        </p:spPr>
        <p:txBody>
          <a:bodyPr wrap="square" lIns="0" tIns="0" rIns="0" bIns="0" rtlCol="0" anchor="ctr"/>
          <a:lstStyle/>
          <a:p>
            <a:pPr>
              <a:lnSpc>
                <a:spcPct val="120000"/>
              </a:lnSpc>
            </a:pPr>
            <a:r>
              <a:rPr lang="en-US" sz="1050" dirty="0">
                <a:solidFill>
                  <a:srgbClr val="8D99AE"/>
                </a:solidFill>
                <a:latin typeface="Quattrocento Sans" pitchFamily="34" charset="0"/>
                <a:ea typeface="Quattrocento Sans" pitchFamily="34" charset="-122"/>
                <a:cs typeface="Quattrocento Sans" pitchFamily="34" charset="-120"/>
              </a:rPr>
              <a:t>Consider the specific machine learning task and model requirements</a:t>
            </a:r>
            <a:endParaRPr lang="en-US" sz="1600" dirty="0"/>
          </a:p>
        </p:txBody>
      </p:sp>
      <p:sp>
        <p:nvSpPr>
          <p:cNvPr id="31" name="Shape 29"/>
          <p:cNvSpPr/>
          <p:nvPr/>
        </p:nvSpPr>
        <p:spPr>
          <a:xfrm>
            <a:off x="6391275" y="3171825"/>
            <a:ext cx="304800" cy="304800"/>
          </a:xfrm>
          <a:custGeom>
            <a:avLst/>
            <a:gdLst/>
            <a:ahLst/>
            <a:cxnLst/>
            <a:rect l="l" t="t" r="r" b="b"/>
            <a:pathLst>
              <a:path w="304800" h="304800">
                <a:moveTo>
                  <a:pt x="152400" y="0"/>
                </a:moveTo>
                <a:lnTo>
                  <a:pt x="152400" y="0"/>
                </a:lnTo>
                <a:cubicBezTo>
                  <a:pt x="236512" y="0"/>
                  <a:pt x="304800" y="68288"/>
                  <a:pt x="304800" y="152400"/>
                </a:cubicBezTo>
                <a:lnTo>
                  <a:pt x="304800" y="152400"/>
                </a:lnTo>
                <a:cubicBezTo>
                  <a:pt x="304800" y="236512"/>
                  <a:pt x="236512" y="304800"/>
                  <a:pt x="152400" y="304800"/>
                </a:cubicBezTo>
                <a:lnTo>
                  <a:pt x="152400" y="304800"/>
                </a:lnTo>
                <a:cubicBezTo>
                  <a:pt x="68288" y="304800"/>
                  <a:pt x="0" y="236512"/>
                  <a:pt x="0" y="152400"/>
                </a:cubicBezTo>
                <a:lnTo>
                  <a:pt x="0" y="152400"/>
                </a:lnTo>
                <a:cubicBezTo>
                  <a:pt x="0" y="68288"/>
                  <a:pt x="68288" y="0"/>
                  <a:pt x="152400" y="0"/>
                </a:cubicBezTo>
                <a:close/>
              </a:path>
            </a:pathLst>
          </a:custGeom>
          <a:solidFill>
            <a:srgbClr val="4A6C8C">
              <a:alpha val="30196"/>
            </a:srgbClr>
          </a:solidFill>
          <a:ln/>
        </p:spPr>
        <p:txBody>
          <a:bodyPr/>
          <a:lstStyle/>
          <a:p>
            <a:endParaRPr lang="en-GB"/>
          </a:p>
        </p:txBody>
      </p:sp>
      <p:sp>
        <p:nvSpPr>
          <p:cNvPr id="32" name="Text 30"/>
          <p:cNvSpPr/>
          <p:nvPr/>
        </p:nvSpPr>
        <p:spPr>
          <a:xfrm>
            <a:off x="6507956" y="3228975"/>
            <a:ext cx="142875" cy="190500"/>
          </a:xfrm>
          <a:prstGeom prst="rect">
            <a:avLst/>
          </a:prstGeom>
          <a:noFill/>
          <a:ln/>
        </p:spPr>
        <p:txBody>
          <a:bodyPr wrap="square" lIns="0" tIns="0" rIns="0" bIns="0" rtlCol="0" anchor="ctr"/>
          <a:lstStyle/>
          <a:p>
            <a:pPr>
              <a:lnSpc>
                <a:spcPct val="120000"/>
              </a:lnSpc>
            </a:pPr>
            <a:r>
              <a:rPr lang="en-US" sz="1050" b="1" dirty="0">
                <a:solidFill>
                  <a:srgbClr val="C9A86A"/>
                </a:solidFill>
                <a:latin typeface="Quattrocento Sans" pitchFamily="34" charset="0"/>
                <a:ea typeface="Quattrocento Sans" pitchFamily="34" charset="-122"/>
                <a:cs typeface="Quattrocento Sans" pitchFamily="34" charset="-120"/>
              </a:rPr>
              <a:t>3</a:t>
            </a:r>
            <a:endParaRPr lang="en-US" sz="1600" dirty="0"/>
          </a:p>
        </p:txBody>
      </p:sp>
      <p:sp>
        <p:nvSpPr>
          <p:cNvPr id="33" name="Text 31"/>
          <p:cNvSpPr/>
          <p:nvPr/>
        </p:nvSpPr>
        <p:spPr>
          <a:xfrm>
            <a:off x="6810375" y="3133725"/>
            <a:ext cx="3648075" cy="228600"/>
          </a:xfrm>
          <a:prstGeom prst="rect">
            <a:avLst/>
          </a:prstGeom>
          <a:noFill/>
          <a:ln/>
        </p:spPr>
        <p:txBody>
          <a:bodyPr wrap="square" lIns="0" tIns="0" rIns="0" bIns="0" rtlCol="0" anchor="ctr"/>
          <a:lstStyle/>
          <a:p>
            <a:pPr>
              <a:lnSpc>
                <a:spcPct val="130000"/>
              </a:lnSpc>
            </a:pPr>
            <a:r>
              <a:rPr lang="en-US" sz="1200" b="1" dirty="0">
                <a:solidFill>
                  <a:srgbClr val="EDF2F4"/>
                </a:solidFill>
                <a:latin typeface="Quattrocento Sans" pitchFamily="34" charset="0"/>
                <a:ea typeface="Quattrocento Sans" pitchFamily="34" charset="-122"/>
                <a:cs typeface="Quattrocento Sans" pitchFamily="34" charset="-120"/>
              </a:rPr>
              <a:t>Experience</a:t>
            </a:r>
            <a:endParaRPr lang="en-US" sz="1600" dirty="0"/>
          </a:p>
        </p:txBody>
      </p:sp>
      <p:sp>
        <p:nvSpPr>
          <p:cNvPr id="34" name="Text 32"/>
          <p:cNvSpPr/>
          <p:nvPr/>
        </p:nvSpPr>
        <p:spPr>
          <a:xfrm>
            <a:off x="6810375" y="3400425"/>
            <a:ext cx="3638550" cy="190500"/>
          </a:xfrm>
          <a:prstGeom prst="rect">
            <a:avLst/>
          </a:prstGeom>
          <a:noFill/>
          <a:ln/>
        </p:spPr>
        <p:txBody>
          <a:bodyPr wrap="square" lIns="0" tIns="0" rIns="0" bIns="0" rtlCol="0" anchor="ctr"/>
          <a:lstStyle/>
          <a:p>
            <a:pPr>
              <a:lnSpc>
                <a:spcPct val="120000"/>
              </a:lnSpc>
            </a:pPr>
            <a:r>
              <a:rPr lang="en-US" sz="1050" dirty="0">
                <a:solidFill>
                  <a:srgbClr val="8D99AE"/>
                </a:solidFill>
                <a:latin typeface="Quattrocento Sans" pitchFamily="34" charset="0"/>
                <a:ea typeface="Quattrocento Sans" pitchFamily="34" charset="-122"/>
                <a:cs typeface="Quattrocento Sans" pitchFamily="34" charset="-120"/>
              </a:rPr>
              <a:t>Leverage domain knowledge and past experimentation results</a:t>
            </a:r>
            <a:endParaRPr lang="en-US" sz="1600" dirty="0"/>
          </a:p>
        </p:txBody>
      </p:sp>
      <p:sp>
        <p:nvSpPr>
          <p:cNvPr id="35" name="Shape 33"/>
          <p:cNvSpPr/>
          <p:nvPr/>
        </p:nvSpPr>
        <p:spPr>
          <a:xfrm>
            <a:off x="6210300" y="5443538"/>
            <a:ext cx="5600700" cy="1038225"/>
          </a:xfrm>
          <a:custGeom>
            <a:avLst/>
            <a:gdLst/>
            <a:ahLst/>
            <a:cxnLst/>
            <a:rect l="l" t="t" r="r" b="b"/>
            <a:pathLst>
              <a:path w="5600700" h="1038225">
                <a:moveTo>
                  <a:pt x="38100" y="0"/>
                </a:moveTo>
                <a:lnTo>
                  <a:pt x="5524505" y="0"/>
                </a:lnTo>
                <a:cubicBezTo>
                  <a:pt x="5566586" y="0"/>
                  <a:pt x="5600700" y="34114"/>
                  <a:pt x="5600700" y="76195"/>
                </a:cubicBezTo>
                <a:lnTo>
                  <a:pt x="5600700" y="962030"/>
                </a:lnTo>
                <a:cubicBezTo>
                  <a:pt x="5600700" y="1004111"/>
                  <a:pt x="5566586" y="1038225"/>
                  <a:pt x="5524505" y="1038225"/>
                </a:cubicBezTo>
                <a:lnTo>
                  <a:pt x="38100" y="1038225"/>
                </a:lnTo>
                <a:cubicBezTo>
                  <a:pt x="17058" y="1038225"/>
                  <a:pt x="0" y="1021167"/>
                  <a:pt x="0" y="1000125"/>
                </a:cubicBezTo>
                <a:lnTo>
                  <a:pt x="0" y="38100"/>
                </a:lnTo>
                <a:cubicBezTo>
                  <a:pt x="0" y="17072"/>
                  <a:pt x="17072" y="0"/>
                  <a:pt x="38100" y="0"/>
                </a:cubicBezTo>
                <a:close/>
              </a:path>
            </a:pathLst>
          </a:custGeom>
          <a:gradFill flip="none" rotWithShape="1">
            <a:gsLst>
              <a:gs pos="0">
                <a:srgbClr val="C9A86A">
                  <a:alpha val="30000"/>
                </a:srgbClr>
              </a:gs>
              <a:gs pos="100000">
                <a:srgbClr val="C9A86A">
                  <a:alpha val="10000"/>
                </a:srgbClr>
              </a:gs>
            </a:gsLst>
            <a:lin ang="0" scaled="1"/>
          </a:gradFill>
          <a:ln/>
        </p:spPr>
        <p:txBody>
          <a:bodyPr/>
          <a:lstStyle/>
          <a:p>
            <a:endParaRPr lang="en-GB"/>
          </a:p>
        </p:txBody>
      </p:sp>
      <p:sp>
        <p:nvSpPr>
          <p:cNvPr id="36" name="Shape 34"/>
          <p:cNvSpPr/>
          <p:nvPr/>
        </p:nvSpPr>
        <p:spPr>
          <a:xfrm>
            <a:off x="6210300" y="5443538"/>
            <a:ext cx="38100" cy="1038225"/>
          </a:xfrm>
          <a:custGeom>
            <a:avLst/>
            <a:gdLst/>
            <a:ahLst/>
            <a:cxnLst/>
            <a:rect l="l" t="t" r="r" b="b"/>
            <a:pathLst>
              <a:path w="38100" h="1038225">
                <a:moveTo>
                  <a:pt x="38100" y="0"/>
                </a:moveTo>
                <a:lnTo>
                  <a:pt x="38100" y="0"/>
                </a:lnTo>
                <a:lnTo>
                  <a:pt x="38100" y="1038225"/>
                </a:lnTo>
                <a:lnTo>
                  <a:pt x="38100" y="1038225"/>
                </a:lnTo>
                <a:cubicBezTo>
                  <a:pt x="17072" y="1038225"/>
                  <a:pt x="0" y="1021153"/>
                  <a:pt x="0" y="1000125"/>
                </a:cubicBezTo>
                <a:lnTo>
                  <a:pt x="0" y="38100"/>
                </a:lnTo>
                <a:cubicBezTo>
                  <a:pt x="0" y="17072"/>
                  <a:pt x="17072" y="0"/>
                  <a:pt x="38100" y="0"/>
                </a:cubicBezTo>
                <a:close/>
              </a:path>
            </a:pathLst>
          </a:custGeom>
          <a:solidFill>
            <a:srgbClr val="C9A86A"/>
          </a:solidFill>
          <a:ln/>
        </p:spPr>
        <p:txBody>
          <a:bodyPr/>
          <a:lstStyle/>
          <a:p>
            <a:endParaRPr lang="en-GB"/>
          </a:p>
        </p:txBody>
      </p:sp>
      <p:sp>
        <p:nvSpPr>
          <p:cNvPr id="37" name="Shape 35"/>
          <p:cNvSpPr/>
          <p:nvPr/>
        </p:nvSpPr>
        <p:spPr>
          <a:xfrm>
            <a:off x="6465094" y="5681663"/>
            <a:ext cx="128588" cy="171450"/>
          </a:xfrm>
          <a:custGeom>
            <a:avLst/>
            <a:gdLst/>
            <a:ahLst/>
            <a:cxnLst/>
            <a:rect l="l" t="t" r="r" b="b"/>
            <a:pathLst>
              <a:path w="128588" h="171450">
                <a:moveTo>
                  <a:pt x="98081" y="128588"/>
                </a:moveTo>
                <a:cubicBezTo>
                  <a:pt x="100526" y="121120"/>
                  <a:pt x="105415" y="114356"/>
                  <a:pt x="110940" y="108529"/>
                </a:cubicBezTo>
                <a:cubicBezTo>
                  <a:pt x="121890" y="97010"/>
                  <a:pt x="128587" y="81439"/>
                  <a:pt x="128587" y="64294"/>
                </a:cubicBezTo>
                <a:cubicBezTo>
                  <a:pt x="128587" y="28798"/>
                  <a:pt x="99789" y="0"/>
                  <a:pt x="64294" y="0"/>
                </a:cubicBezTo>
                <a:cubicBezTo>
                  <a:pt x="28798" y="0"/>
                  <a:pt x="0" y="28798"/>
                  <a:pt x="0" y="64294"/>
                </a:cubicBezTo>
                <a:cubicBezTo>
                  <a:pt x="0" y="81439"/>
                  <a:pt x="6697" y="97010"/>
                  <a:pt x="17647" y="108529"/>
                </a:cubicBezTo>
                <a:cubicBezTo>
                  <a:pt x="23173" y="114356"/>
                  <a:pt x="28095" y="121120"/>
                  <a:pt x="30506" y="128588"/>
                </a:cubicBezTo>
                <a:lnTo>
                  <a:pt x="98048" y="128588"/>
                </a:lnTo>
                <a:close/>
                <a:moveTo>
                  <a:pt x="96441" y="144661"/>
                </a:moveTo>
                <a:lnTo>
                  <a:pt x="32147" y="144661"/>
                </a:lnTo>
                <a:lnTo>
                  <a:pt x="32147" y="150019"/>
                </a:lnTo>
                <a:cubicBezTo>
                  <a:pt x="32147" y="164820"/>
                  <a:pt x="44135" y="176808"/>
                  <a:pt x="58936" y="176808"/>
                </a:cubicBezTo>
                <a:lnTo>
                  <a:pt x="69652" y="176808"/>
                </a:lnTo>
                <a:cubicBezTo>
                  <a:pt x="84453" y="176808"/>
                  <a:pt x="96441" y="164820"/>
                  <a:pt x="96441" y="150019"/>
                </a:cubicBezTo>
                <a:lnTo>
                  <a:pt x="96441" y="144661"/>
                </a:lnTo>
                <a:close/>
                <a:moveTo>
                  <a:pt x="61615" y="37505"/>
                </a:moveTo>
                <a:cubicBezTo>
                  <a:pt x="48287" y="37505"/>
                  <a:pt x="37505" y="48287"/>
                  <a:pt x="37505" y="61615"/>
                </a:cubicBezTo>
                <a:cubicBezTo>
                  <a:pt x="37505" y="66069"/>
                  <a:pt x="33922" y="69652"/>
                  <a:pt x="29468" y="69652"/>
                </a:cubicBezTo>
                <a:cubicBezTo>
                  <a:pt x="25014" y="69652"/>
                  <a:pt x="21431" y="66069"/>
                  <a:pt x="21431" y="61615"/>
                </a:cubicBezTo>
                <a:cubicBezTo>
                  <a:pt x="21431" y="39413"/>
                  <a:pt x="39413" y="21431"/>
                  <a:pt x="61615" y="21431"/>
                </a:cubicBezTo>
                <a:cubicBezTo>
                  <a:pt x="66069" y="21431"/>
                  <a:pt x="69652" y="25014"/>
                  <a:pt x="69652" y="29468"/>
                </a:cubicBezTo>
                <a:cubicBezTo>
                  <a:pt x="69652" y="33922"/>
                  <a:pt x="66069" y="37505"/>
                  <a:pt x="61615" y="37505"/>
                </a:cubicBezTo>
                <a:close/>
              </a:path>
            </a:pathLst>
          </a:custGeom>
          <a:solidFill>
            <a:srgbClr val="C9A86A"/>
          </a:solidFill>
          <a:ln/>
        </p:spPr>
        <p:txBody>
          <a:bodyPr/>
          <a:lstStyle/>
          <a:p>
            <a:endParaRPr lang="en-GB"/>
          </a:p>
        </p:txBody>
      </p:sp>
      <p:sp>
        <p:nvSpPr>
          <p:cNvPr id="38" name="Text 36"/>
          <p:cNvSpPr/>
          <p:nvPr/>
        </p:nvSpPr>
        <p:spPr>
          <a:xfrm>
            <a:off x="6638925" y="5634038"/>
            <a:ext cx="5067300" cy="266700"/>
          </a:xfrm>
          <a:prstGeom prst="rect">
            <a:avLst/>
          </a:prstGeom>
          <a:noFill/>
          <a:ln/>
        </p:spPr>
        <p:txBody>
          <a:bodyPr wrap="square" lIns="0" tIns="0" rIns="0" bIns="0" rtlCol="0" anchor="ctr"/>
          <a:lstStyle/>
          <a:p>
            <a:pPr>
              <a:lnSpc>
                <a:spcPct val="130000"/>
              </a:lnSpc>
            </a:pPr>
            <a:r>
              <a:rPr lang="en-US" sz="1350" b="1" dirty="0">
                <a:solidFill>
                  <a:srgbClr val="EDF2F4"/>
                </a:solidFill>
                <a:latin typeface="Quattrocento Sans" pitchFamily="34" charset="0"/>
                <a:ea typeface="Quattrocento Sans" pitchFamily="34" charset="-122"/>
                <a:cs typeface="Quattrocento Sans" pitchFamily="34" charset="-120"/>
              </a:rPr>
              <a:t>The Key Question</a:t>
            </a:r>
            <a:endParaRPr lang="en-US" sz="1600" dirty="0"/>
          </a:p>
        </p:txBody>
      </p:sp>
      <p:sp>
        <p:nvSpPr>
          <p:cNvPr id="39" name="Text 37"/>
          <p:cNvSpPr/>
          <p:nvPr/>
        </p:nvSpPr>
        <p:spPr>
          <a:xfrm>
            <a:off x="6419850" y="5976938"/>
            <a:ext cx="5295900" cy="314325"/>
          </a:xfrm>
          <a:prstGeom prst="rect">
            <a:avLst/>
          </a:prstGeom>
          <a:noFill/>
          <a:ln/>
        </p:spPr>
        <p:txBody>
          <a:bodyPr wrap="square" lIns="0" tIns="0" rIns="0" bIns="0" rtlCol="0" anchor="ctr"/>
          <a:lstStyle/>
          <a:p>
            <a:pPr>
              <a:lnSpc>
                <a:spcPct val="140000"/>
              </a:lnSpc>
            </a:pPr>
            <a:r>
              <a:rPr lang="en-US" sz="1500" b="1" dirty="0">
                <a:solidFill>
                  <a:srgbClr val="C9A86A"/>
                </a:solidFill>
                <a:latin typeface="Liter" pitchFamily="34" charset="0"/>
                <a:ea typeface="Liter" pitchFamily="34" charset="-122"/>
                <a:cs typeface="Liter" pitchFamily="34" charset="-120"/>
              </a:rPr>
              <a:t>"What if an agent could take these decisions autonomously?"</a:t>
            </a:r>
            <a:endParaRPr lang="en-US" sz="1600" dirty="0"/>
          </a:p>
        </p:txBody>
      </p:sp>
    </p:spTree>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A1D24"/>
        </a:solidFill>
        <a:effectLst/>
      </p:bgPr>
    </p:bg>
    <p:spTree>
      <p:nvGrpSpPr>
        <p:cNvPr id="1" name=""/>
        <p:cNvGrpSpPr/>
        <p:nvPr/>
      </p:nvGrpSpPr>
      <p:grpSpPr>
        <a:xfrm>
          <a:off x="0" y="0"/>
          <a:ext cx="0" cy="0"/>
          <a:chOff x="0" y="0"/>
          <a:chExt cx="0" cy="0"/>
        </a:xfrm>
      </p:grpSpPr>
      <p:sp>
        <p:nvSpPr>
          <p:cNvPr id="2" name="Text 0"/>
          <p:cNvSpPr/>
          <p:nvPr/>
        </p:nvSpPr>
        <p:spPr>
          <a:xfrm>
            <a:off x="381000" y="381000"/>
            <a:ext cx="11506200" cy="228600"/>
          </a:xfrm>
          <a:prstGeom prst="rect">
            <a:avLst/>
          </a:prstGeom>
          <a:noFill/>
          <a:ln/>
        </p:spPr>
        <p:txBody>
          <a:bodyPr wrap="square" lIns="0" tIns="0" rIns="0" bIns="0" rtlCol="0" anchor="ctr"/>
          <a:lstStyle/>
          <a:p>
            <a:pPr>
              <a:lnSpc>
                <a:spcPct val="130000"/>
              </a:lnSpc>
            </a:pPr>
            <a:r>
              <a:rPr lang="en-US" sz="1200" b="1" kern="0" spc="120" dirty="0">
                <a:solidFill>
                  <a:srgbClr val="C9A86A"/>
                </a:solidFill>
                <a:latin typeface="Quattrocento Sans" pitchFamily="34" charset="0"/>
                <a:ea typeface="Quattrocento Sans" pitchFamily="34" charset="-122"/>
                <a:cs typeface="Quattrocento Sans" pitchFamily="34" charset="-120"/>
              </a:rPr>
              <a:t>Project 1 Details</a:t>
            </a:r>
            <a:endParaRPr lang="en-US" sz="1600" dirty="0"/>
          </a:p>
        </p:txBody>
      </p:sp>
      <p:sp>
        <p:nvSpPr>
          <p:cNvPr id="3" name="Text 1"/>
          <p:cNvSpPr/>
          <p:nvPr/>
        </p:nvSpPr>
        <p:spPr>
          <a:xfrm>
            <a:off x="381000" y="685800"/>
            <a:ext cx="11601450" cy="381000"/>
          </a:xfrm>
          <a:prstGeom prst="rect">
            <a:avLst/>
          </a:prstGeom>
          <a:noFill/>
          <a:ln/>
        </p:spPr>
        <p:txBody>
          <a:bodyPr wrap="square" lIns="0" tIns="0" rIns="0" bIns="0" rtlCol="0" anchor="ctr"/>
          <a:lstStyle/>
          <a:p>
            <a:pPr>
              <a:lnSpc>
                <a:spcPct val="90000"/>
              </a:lnSpc>
            </a:pPr>
            <a:r>
              <a:rPr lang="en-US" sz="2700" b="1" dirty="0">
                <a:solidFill>
                  <a:srgbClr val="EDF2F4"/>
                </a:solidFill>
                <a:latin typeface="Liter" pitchFamily="34" charset="0"/>
                <a:ea typeface="Liter" pitchFamily="34" charset="-122"/>
                <a:cs typeface="Liter" pitchFamily="34" charset="-120"/>
              </a:rPr>
              <a:t>Multi-Modal Adaptive Data Preprocessing Agent</a:t>
            </a:r>
            <a:endParaRPr lang="en-US" sz="1600" dirty="0"/>
          </a:p>
        </p:txBody>
      </p:sp>
      <p:sp>
        <p:nvSpPr>
          <p:cNvPr id="4" name="Shape 2"/>
          <p:cNvSpPr/>
          <p:nvPr/>
        </p:nvSpPr>
        <p:spPr>
          <a:xfrm>
            <a:off x="381000" y="1181100"/>
            <a:ext cx="914400" cy="38100"/>
          </a:xfrm>
          <a:custGeom>
            <a:avLst/>
            <a:gdLst/>
            <a:ahLst/>
            <a:cxnLst/>
            <a:rect l="l" t="t" r="r" b="b"/>
            <a:pathLst>
              <a:path w="914400" h="38100">
                <a:moveTo>
                  <a:pt x="0" y="0"/>
                </a:moveTo>
                <a:lnTo>
                  <a:pt x="914400" y="0"/>
                </a:lnTo>
                <a:lnTo>
                  <a:pt x="914400" y="38100"/>
                </a:lnTo>
                <a:lnTo>
                  <a:pt x="0" y="38100"/>
                </a:lnTo>
                <a:lnTo>
                  <a:pt x="0" y="0"/>
                </a:lnTo>
                <a:close/>
              </a:path>
            </a:pathLst>
          </a:custGeom>
          <a:solidFill>
            <a:srgbClr val="C9A86A"/>
          </a:solidFill>
          <a:ln/>
        </p:spPr>
        <p:txBody>
          <a:bodyPr/>
          <a:lstStyle/>
          <a:p>
            <a:endParaRPr lang="en-GB"/>
          </a:p>
        </p:txBody>
      </p:sp>
      <p:sp>
        <p:nvSpPr>
          <p:cNvPr id="5" name="Shape 3"/>
          <p:cNvSpPr/>
          <p:nvPr/>
        </p:nvSpPr>
        <p:spPr>
          <a:xfrm>
            <a:off x="390525" y="1381125"/>
            <a:ext cx="5600700" cy="5086350"/>
          </a:xfrm>
          <a:custGeom>
            <a:avLst/>
            <a:gdLst/>
            <a:ahLst/>
            <a:cxnLst/>
            <a:rect l="l" t="t" r="r" b="b"/>
            <a:pathLst>
              <a:path w="5600700" h="5086350">
                <a:moveTo>
                  <a:pt x="114290" y="0"/>
                </a:moveTo>
                <a:lnTo>
                  <a:pt x="5486410" y="0"/>
                </a:lnTo>
                <a:cubicBezTo>
                  <a:pt x="5549530" y="0"/>
                  <a:pt x="5600700" y="51170"/>
                  <a:pt x="5600700" y="114290"/>
                </a:cubicBezTo>
                <a:lnTo>
                  <a:pt x="5600700" y="4972060"/>
                </a:lnTo>
                <a:cubicBezTo>
                  <a:pt x="5600700" y="5035180"/>
                  <a:pt x="5549530" y="5086350"/>
                  <a:pt x="5486410" y="5086350"/>
                </a:cubicBezTo>
                <a:lnTo>
                  <a:pt x="114290" y="5086350"/>
                </a:lnTo>
                <a:cubicBezTo>
                  <a:pt x="51170" y="5086350"/>
                  <a:pt x="0" y="5035180"/>
                  <a:pt x="0" y="4972060"/>
                </a:cubicBezTo>
                <a:lnTo>
                  <a:pt x="0" y="114290"/>
                </a:lnTo>
                <a:cubicBezTo>
                  <a:pt x="0" y="51212"/>
                  <a:pt x="51212" y="0"/>
                  <a:pt x="114290" y="0"/>
                </a:cubicBezTo>
                <a:close/>
              </a:path>
            </a:pathLst>
          </a:custGeom>
          <a:gradFill flip="none" rotWithShape="1">
            <a:gsLst>
              <a:gs pos="0">
                <a:srgbClr val="4A6C8C">
                  <a:alpha val="20000"/>
                </a:srgbClr>
              </a:gs>
              <a:gs pos="100000">
                <a:srgbClr val="4A6C8C">
                  <a:alpha val="5000"/>
                </a:srgbClr>
              </a:gs>
            </a:gsLst>
            <a:lin ang="2700000" scaled="1"/>
          </a:gradFill>
          <a:ln w="25400">
            <a:solidFill>
              <a:srgbClr val="4A6C8C"/>
            </a:solidFill>
            <a:prstDash val="solid"/>
          </a:ln>
        </p:spPr>
        <p:txBody>
          <a:bodyPr/>
          <a:lstStyle/>
          <a:p>
            <a:endParaRPr lang="en-GB"/>
          </a:p>
        </p:txBody>
      </p:sp>
      <p:sp>
        <p:nvSpPr>
          <p:cNvPr id="6" name="Shape 4"/>
          <p:cNvSpPr/>
          <p:nvPr/>
        </p:nvSpPr>
        <p:spPr>
          <a:xfrm>
            <a:off x="590550" y="1581150"/>
            <a:ext cx="533400" cy="533400"/>
          </a:xfrm>
          <a:custGeom>
            <a:avLst/>
            <a:gdLst/>
            <a:ahLst/>
            <a:cxnLst/>
            <a:rect l="l" t="t" r="r" b="b"/>
            <a:pathLst>
              <a:path w="533400" h="533400">
                <a:moveTo>
                  <a:pt x="114302" y="0"/>
                </a:moveTo>
                <a:lnTo>
                  <a:pt x="419098" y="0"/>
                </a:lnTo>
                <a:cubicBezTo>
                  <a:pt x="482183" y="0"/>
                  <a:pt x="533400" y="51217"/>
                  <a:pt x="533400" y="114302"/>
                </a:cubicBezTo>
                <a:lnTo>
                  <a:pt x="533400" y="419098"/>
                </a:lnTo>
                <a:cubicBezTo>
                  <a:pt x="533400" y="482183"/>
                  <a:pt x="482183" y="533400"/>
                  <a:pt x="419098" y="533400"/>
                </a:cubicBezTo>
                <a:lnTo>
                  <a:pt x="114302" y="533400"/>
                </a:lnTo>
                <a:cubicBezTo>
                  <a:pt x="51217" y="533400"/>
                  <a:pt x="0" y="482183"/>
                  <a:pt x="0" y="419098"/>
                </a:cubicBezTo>
                <a:lnTo>
                  <a:pt x="0" y="114302"/>
                </a:lnTo>
                <a:cubicBezTo>
                  <a:pt x="0" y="51217"/>
                  <a:pt x="51217" y="0"/>
                  <a:pt x="114302" y="0"/>
                </a:cubicBezTo>
                <a:close/>
              </a:path>
            </a:pathLst>
          </a:custGeom>
          <a:solidFill>
            <a:srgbClr val="4A6C8C"/>
          </a:solidFill>
          <a:ln/>
        </p:spPr>
        <p:txBody>
          <a:bodyPr/>
          <a:lstStyle/>
          <a:p>
            <a:endParaRPr lang="en-GB"/>
          </a:p>
        </p:txBody>
      </p:sp>
      <p:sp>
        <p:nvSpPr>
          <p:cNvPr id="7" name="Shape 5"/>
          <p:cNvSpPr/>
          <p:nvPr/>
        </p:nvSpPr>
        <p:spPr>
          <a:xfrm>
            <a:off x="742950" y="1733550"/>
            <a:ext cx="228600" cy="228600"/>
          </a:xfrm>
          <a:custGeom>
            <a:avLst/>
            <a:gdLst/>
            <a:ahLst/>
            <a:cxnLst/>
            <a:rect l="l" t="t" r="r" b="b"/>
            <a:pathLst>
              <a:path w="228600" h="228600">
                <a:moveTo>
                  <a:pt x="214357" y="85725"/>
                </a:moveTo>
                <a:lnTo>
                  <a:pt x="217884" y="85725"/>
                </a:lnTo>
                <a:cubicBezTo>
                  <a:pt x="223823" y="85725"/>
                  <a:pt x="228600" y="80948"/>
                  <a:pt x="228600" y="75009"/>
                </a:cubicBezTo>
                <a:lnTo>
                  <a:pt x="228600" y="10716"/>
                </a:lnTo>
                <a:cubicBezTo>
                  <a:pt x="228600" y="6385"/>
                  <a:pt x="226010" y="2456"/>
                  <a:pt x="221992" y="804"/>
                </a:cubicBezTo>
                <a:cubicBezTo>
                  <a:pt x="217974" y="-848"/>
                  <a:pt x="213375" y="89"/>
                  <a:pt x="210294" y="3125"/>
                </a:cubicBezTo>
                <a:lnTo>
                  <a:pt x="187211" y="26253"/>
                </a:lnTo>
                <a:cubicBezTo>
                  <a:pt x="167432" y="9867"/>
                  <a:pt x="141982" y="0"/>
                  <a:pt x="114300" y="0"/>
                </a:cubicBezTo>
                <a:cubicBezTo>
                  <a:pt x="56704" y="0"/>
                  <a:pt x="9064" y="42595"/>
                  <a:pt x="1161" y="98003"/>
                </a:cubicBezTo>
                <a:cubicBezTo>
                  <a:pt x="45" y="105817"/>
                  <a:pt x="5447" y="113050"/>
                  <a:pt x="13261" y="114166"/>
                </a:cubicBezTo>
                <a:cubicBezTo>
                  <a:pt x="21074" y="115282"/>
                  <a:pt x="28307" y="109835"/>
                  <a:pt x="29423" y="102066"/>
                </a:cubicBezTo>
                <a:cubicBezTo>
                  <a:pt x="35362" y="60499"/>
                  <a:pt x="71125" y="28575"/>
                  <a:pt x="114300" y="28575"/>
                </a:cubicBezTo>
                <a:cubicBezTo>
                  <a:pt x="134124" y="28575"/>
                  <a:pt x="152340" y="35272"/>
                  <a:pt x="166851" y="46568"/>
                </a:cubicBezTo>
                <a:lnTo>
                  <a:pt x="146000" y="67419"/>
                </a:lnTo>
                <a:cubicBezTo>
                  <a:pt x="142920" y="70500"/>
                  <a:pt x="142027" y="75099"/>
                  <a:pt x="143679" y="79117"/>
                </a:cubicBezTo>
                <a:cubicBezTo>
                  <a:pt x="145331" y="83135"/>
                  <a:pt x="149260" y="85725"/>
                  <a:pt x="153591" y="85725"/>
                </a:cubicBezTo>
                <a:lnTo>
                  <a:pt x="214357" y="85725"/>
                </a:lnTo>
                <a:close/>
                <a:moveTo>
                  <a:pt x="227484" y="130597"/>
                </a:moveTo>
                <a:cubicBezTo>
                  <a:pt x="228600" y="122783"/>
                  <a:pt x="223153" y="115550"/>
                  <a:pt x="215384" y="114434"/>
                </a:cubicBezTo>
                <a:cubicBezTo>
                  <a:pt x="207615" y="113318"/>
                  <a:pt x="200338" y="118765"/>
                  <a:pt x="199221" y="126534"/>
                </a:cubicBezTo>
                <a:cubicBezTo>
                  <a:pt x="193283" y="168057"/>
                  <a:pt x="157520" y="199980"/>
                  <a:pt x="114345" y="199980"/>
                </a:cubicBezTo>
                <a:cubicBezTo>
                  <a:pt x="94521" y="199980"/>
                  <a:pt x="76304" y="193283"/>
                  <a:pt x="61793" y="181987"/>
                </a:cubicBezTo>
                <a:lnTo>
                  <a:pt x="82600" y="161181"/>
                </a:lnTo>
                <a:cubicBezTo>
                  <a:pt x="85680" y="158100"/>
                  <a:pt x="86573" y="153501"/>
                  <a:pt x="84921" y="149483"/>
                </a:cubicBezTo>
                <a:cubicBezTo>
                  <a:pt x="83269" y="145465"/>
                  <a:pt x="79340" y="142875"/>
                  <a:pt x="75009" y="142875"/>
                </a:cubicBezTo>
                <a:lnTo>
                  <a:pt x="10716" y="142875"/>
                </a:lnTo>
                <a:cubicBezTo>
                  <a:pt x="4777" y="142875"/>
                  <a:pt x="0" y="147652"/>
                  <a:pt x="0" y="153591"/>
                </a:cubicBezTo>
                <a:lnTo>
                  <a:pt x="0" y="217884"/>
                </a:lnTo>
                <a:cubicBezTo>
                  <a:pt x="0" y="222215"/>
                  <a:pt x="2590" y="226144"/>
                  <a:pt x="6608" y="227796"/>
                </a:cubicBezTo>
                <a:cubicBezTo>
                  <a:pt x="10626" y="229448"/>
                  <a:pt x="15225" y="228511"/>
                  <a:pt x="18306" y="225475"/>
                </a:cubicBezTo>
                <a:lnTo>
                  <a:pt x="41434" y="202347"/>
                </a:lnTo>
                <a:cubicBezTo>
                  <a:pt x="61168" y="218733"/>
                  <a:pt x="86618" y="228600"/>
                  <a:pt x="114300" y="228600"/>
                </a:cubicBezTo>
                <a:cubicBezTo>
                  <a:pt x="171896" y="228600"/>
                  <a:pt x="219536" y="186005"/>
                  <a:pt x="227439" y="130597"/>
                </a:cubicBezTo>
                <a:close/>
              </a:path>
            </a:pathLst>
          </a:custGeom>
          <a:solidFill>
            <a:srgbClr val="EDF2F4"/>
          </a:solidFill>
          <a:ln/>
        </p:spPr>
        <p:txBody>
          <a:bodyPr/>
          <a:lstStyle/>
          <a:p>
            <a:endParaRPr lang="en-GB"/>
          </a:p>
        </p:txBody>
      </p:sp>
      <p:sp>
        <p:nvSpPr>
          <p:cNvPr id="8" name="Text 6"/>
          <p:cNvSpPr/>
          <p:nvPr/>
        </p:nvSpPr>
        <p:spPr>
          <a:xfrm>
            <a:off x="1238250" y="1695450"/>
            <a:ext cx="3019425" cy="304800"/>
          </a:xfrm>
          <a:prstGeom prst="rect">
            <a:avLst/>
          </a:prstGeom>
          <a:noFill/>
          <a:ln/>
        </p:spPr>
        <p:txBody>
          <a:bodyPr wrap="square" lIns="0" tIns="0" rIns="0" bIns="0" rtlCol="0" anchor="ctr"/>
          <a:lstStyle/>
          <a:p>
            <a:pPr>
              <a:lnSpc>
                <a:spcPct val="110000"/>
              </a:lnSpc>
            </a:pPr>
            <a:r>
              <a:rPr lang="en-US" sz="1800" b="1" dirty="0">
                <a:solidFill>
                  <a:srgbClr val="EDF2F4"/>
                </a:solidFill>
                <a:latin typeface="Liter" pitchFamily="34" charset="0"/>
                <a:ea typeface="Liter" pitchFamily="34" charset="-122"/>
                <a:cs typeface="Liter" pitchFamily="34" charset="-120"/>
              </a:rPr>
              <a:t>What does "Adaptive" mean?</a:t>
            </a:r>
            <a:endParaRPr lang="en-US" sz="1600" dirty="0"/>
          </a:p>
        </p:txBody>
      </p:sp>
      <p:sp>
        <p:nvSpPr>
          <p:cNvPr id="9" name="Shape 7"/>
          <p:cNvSpPr/>
          <p:nvPr/>
        </p:nvSpPr>
        <p:spPr>
          <a:xfrm>
            <a:off x="609600" y="2266950"/>
            <a:ext cx="5181600" cy="876300"/>
          </a:xfrm>
          <a:custGeom>
            <a:avLst/>
            <a:gdLst/>
            <a:ahLst/>
            <a:cxnLst/>
            <a:rect l="l" t="t" r="r" b="b"/>
            <a:pathLst>
              <a:path w="5181600" h="876300">
                <a:moveTo>
                  <a:pt x="38100" y="0"/>
                </a:moveTo>
                <a:lnTo>
                  <a:pt x="5105397" y="0"/>
                </a:lnTo>
                <a:cubicBezTo>
                  <a:pt x="5147483" y="0"/>
                  <a:pt x="5181600" y="34117"/>
                  <a:pt x="5181600" y="76203"/>
                </a:cubicBezTo>
                <a:lnTo>
                  <a:pt x="5181600" y="800097"/>
                </a:lnTo>
                <a:cubicBezTo>
                  <a:pt x="5181600" y="842183"/>
                  <a:pt x="5147483" y="876300"/>
                  <a:pt x="5105397" y="876300"/>
                </a:cubicBezTo>
                <a:lnTo>
                  <a:pt x="38100" y="876300"/>
                </a:lnTo>
                <a:cubicBezTo>
                  <a:pt x="17072" y="876300"/>
                  <a:pt x="0" y="859228"/>
                  <a:pt x="0" y="838200"/>
                </a:cubicBezTo>
                <a:lnTo>
                  <a:pt x="0" y="38100"/>
                </a:lnTo>
                <a:cubicBezTo>
                  <a:pt x="0" y="17072"/>
                  <a:pt x="17072" y="0"/>
                  <a:pt x="38100" y="0"/>
                </a:cubicBezTo>
                <a:close/>
              </a:path>
            </a:pathLst>
          </a:custGeom>
          <a:solidFill>
            <a:srgbClr val="1A1D24">
              <a:alpha val="50196"/>
            </a:srgbClr>
          </a:solidFill>
          <a:ln/>
        </p:spPr>
        <p:txBody>
          <a:bodyPr/>
          <a:lstStyle/>
          <a:p>
            <a:endParaRPr lang="en-GB"/>
          </a:p>
        </p:txBody>
      </p:sp>
      <p:sp>
        <p:nvSpPr>
          <p:cNvPr id="10" name="Shape 8"/>
          <p:cNvSpPr/>
          <p:nvPr/>
        </p:nvSpPr>
        <p:spPr>
          <a:xfrm>
            <a:off x="609600" y="2266950"/>
            <a:ext cx="38100" cy="876300"/>
          </a:xfrm>
          <a:custGeom>
            <a:avLst/>
            <a:gdLst/>
            <a:ahLst/>
            <a:cxnLst/>
            <a:rect l="l" t="t" r="r" b="b"/>
            <a:pathLst>
              <a:path w="38100" h="876300">
                <a:moveTo>
                  <a:pt x="38100" y="0"/>
                </a:moveTo>
                <a:lnTo>
                  <a:pt x="38100" y="0"/>
                </a:lnTo>
                <a:lnTo>
                  <a:pt x="38100" y="876300"/>
                </a:lnTo>
                <a:lnTo>
                  <a:pt x="38100" y="876300"/>
                </a:lnTo>
                <a:cubicBezTo>
                  <a:pt x="17072" y="876300"/>
                  <a:pt x="0" y="859228"/>
                  <a:pt x="0" y="838200"/>
                </a:cubicBezTo>
                <a:lnTo>
                  <a:pt x="0" y="38100"/>
                </a:lnTo>
                <a:cubicBezTo>
                  <a:pt x="0" y="17072"/>
                  <a:pt x="17072" y="0"/>
                  <a:pt x="38100" y="0"/>
                </a:cubicBezTo>
                <a:close/>
              </a:path>
            </a:pathLst>
          </a:custGeom>
          <a:solidFill>
            <a:srgbClr val="C9A86A"/>
          </a:solidFill>
          <a:ln/>
        </p:spPr>
        <p:txBody>
          <a:bodyPr/>
          <a:lstStyle/>
          <a:p>
            <a:endParaRPr lang="en-GB"/>
          </a:p>
        </p:txBody>
      </p:sp>
      <p:sp>
        <p:nvSpPr>
          <p:cNvPr id="11" name="Shape 9"/>
          <p:cNvSpPr/>
          <p:nvPr/>
        </p:nvSpPr>
        <p:spPr>
          <a:xfrm>
            <a:off x="742950" y="2419350"/>
            <a:ext cx="171450" cy="171450"/>
          </a:xfrm>
          <a:custGeom>
            <a:avLst/>
            <a:gdLst/>
            <a:ahLst/>
            <a:cxnLst/>
            <a:rect l="l" t="t" r="r" b="b"/>
            <a:pathLst>
              <a:path w="171450" h="171450">
                <a:moveTo>
                  <a:pt x="40184" y="18752"/>
                </a:moveTo>
                <a:cubicBezTo>
                  <a:pt x="40184" y="8405"/>
                  <a:pt x="48589" y="0"/>
                  <a:pt x="58936" y="0"/>
                </a:cubicBezTo>
                <a:lnTo>
                  <a:pt x="66973" y="0"/>
                </a:lnTo>
                <a:cubicBezTo>
                  <a:pt x="72900" y="0"/>
                  <a:pt x="77688" y="4789"/>
                  <a:pt x="77688" y="10716"/>
                </a:cubicBezTo>
                <a:lnTo>
                  <a:pt x="77688" y="160734"/>
                </a:lnTo>
                <a:cubicBezTo>
                  <a:pt x="77688" y="166661"/>
                  <a:pt x="72900" y="171450"/>
                  <a:pt x="66973" y="171450"/>
                </a:cubicBezTo>
                <a:lnTo>
                  <a:pt x="56257" y="171450"/>
                </a:lnTo>
                <a:cubicBezTo>
                  <a:pt x="46278" y="171450"/>
                  <a:pt x="37873" y="164619"/>
                  <a:pt x="35496" y="155377"/>
                </a:cubicBezTo>
                <a:cubicBezTo>
                  <a:pt x="35261" y="155377"/>
                  <a:pt x="35060" y="155377"/>
                  <a:pt x="34826" y="155377"/>
                </a:cubicBezTo>
                <a:cubicBezTo>
                  <a:pt x="20025" y="155377"/>
                  <a:pt x="8037" y="143388"/>
                  <a:pt x="8037" y="128588"/>
                </a:cubicBezTo>
                <a:cubicBezTo>
                  <a:pt x="8037" y="122560"/>
                  <a:pt x="10046" y="117001"/>
                  <a:pt x="13395" y="112514"/>
                </a:cubicBezTo>
                <a:cubicBezTo>
                  <a:pt x="6898" y="107625"/>
                  <a:pt x="2679" y="99856"/>
                  <a:pt x="2679" y="91083"/>
                </a:cubicBezTo>
                <a:cubicBezTo>
                  <a:pt x="2679" y="80736"/>
                  <a:pt x="8573" y="71728"/>
                  <a:pt x="17145" y="67274"/>
                </a:cubicBezTo>
                <a:cubicBezTo>
                  <a:pt x="14767" y="63256"/>
                  <a:pt x="13395" y="58568"/>
                  <a:pt x="13395" y="53578"/>
                </a:cubicBezTo>
                <a:cubicBezTo>
                  <a:pt x="13395" y="38777"/>
                  <a:pt x="25383" y="26789"/>
                  <a:pt x="40184" y="26789"/>
                </a:cubicBezTo>
                <a:lnTo>
                  <a:pt x="40184" y="18752"/>
                </a:lnTo>
                <a:close/>
                <a:moveTo>
                  <a:pt x="131266" y="18752"/>
                </a:moveTo>
                <a:lnTo>
                  <a:pt x="131266" y="26789"/>
                </a:lnTo>
                <a:cubicBezTo>
                  <a:pt x="146067" y="26789"/>
                  <a:pt x="158055" y="38777"/>
                  <a:pt x="158055" y="53578"/>
                </a:cubicBezTo>
                <a:cubicBezTo>
                  <a:pt x="158055" y="58601"/>
                  <a:pt x="156683" y="63289"/>
                  <a:pt x="154305" y="67274"/>
                </a:cubicBezTo>
                <a:cubicBezTo>
                  <a:pt x="162911" y="71728"/>
                  <a:pt x="168771" y="80702"/>
                  <a:pt x="168771" y="91083"/>
                </a:cubicBezTo>
                <a:cubicBezTo>
                  <a:pt x="168771" y="99856"/>
                  <a:pt x="164552" y="107625"/>
                  <a:pt x="158055" y="112514"/>
                </a:cubicBezTo>
                <a:cubicBezTo>
                  <a:pt x="161404" y="117001"/>
                  <a:pt x="163413" y="122560"/>
                  <a:pt x="163413" y="128588"/>
                </a:cubicBezTo>
                <a:cubicBezTo>
                  <a:pt x="163413" y="143388"/>
                  <a:pt x="151425" y="155377"/>
                  <a:pt x="136624" y="155377"/>
                </a:cubicBezTo>
                <a:cubicBezTo>
                  <a:pt x="136390" y="155377"/>
                  <a:pt x="136189" y="155377"/>
                  <a:pt x="135954" y="155377"/>
                </a:cubicBezTo>
                <a:cubicBezTo>
                  <a:pt x="133577" y="164619"/>
                  <a:pt x="125172" y="171450"/>
                  <a:pt x="115193" y="171450"/>
                </a:cubicBezTo>
                <a:lnTo>
                  <a:pt x="104477" y="171450"/>
                </a:lnTo>
                <a:cubicBezTo>
                  <a:pt x="98550" y="171450"/>
                  <a:pt x="93762" y="166661"/>
                  <a:pt x="93762" y="160734"/>
                </a:cubicBezTo>
                <a:lnTo>
                  <a:pt x="93762" y="10716"/>
                </a:lnTo>
                <a:cubicBezTo>
                  <a:pt x="93762" y="4789"/>
                  <a:pt x="98550" y="0"/>
                  <a:pt x="104477" y="0"/>
                </a:cubicBezTo>
                <a:lnTo>
                  <a:pt x="112514" y="0"/>
                </a:lnTo>
                <a:cubicBezTo>
                  <a:pt x="122861" y="0"/>
                  <a:pt x="131266" y="8405"/>
                  <a:pt x="131266" y="18752"/>
                </a:cubicBezTo>
                <a:close/>
              </a:path>
            </a:pathLst>
          </a:custGeom>
          <a:solidFill>
            <a:srgbClr val="C9A86A"/>
          </a:solidFill>
          <a:ln/>
        </p:spPr>
        <p:txBody>
          <a:bodyPr/>
          <a:lstStyle/>
          <a:p>
            <a:endParaRPr lang="en-GB"/>
          </a:p>
        </p:txBody>
      </p:sp>
      <p:sp>
        <p:nvSpPr>
          <p:cNvPr id="12" name="Text 10"/>
          <p:cNvSpPr/>
          <p:nvPr/>
        </p:nvSpPr>
        <p:spPr>
          <a:xfrm>
            <a:off x="1030188" y="2381250"/>
            <a:ext cx="4724400" cy="228600"/>
          </a:xfrm>
          <a:prstGeom prst="rect">
            <a:avLst/>
          </a:prstGeom>
          <a:noFill/>
          <a:ln/>
        </p:spPr>
        <p:txBody>
          <a:bodyPr wrap="square" lIns="0" tIns="0" rIns="0" bIns="0" rtlCol="0" anchor="ctr"/>
          <a:lstStyle/>
          <a:p>
            <a:pPr>
              <a:lnSpc>
                <a:spcPct val="130000"/>
              </a:lnSpc>
            </a:pPr>
            <a:r>
              <a:rPr lang="en-US" sz="1200" b="1" dirty="0">
                <a:solidFill>
                  <a:srgbClr val="EDF2F4"/>
                </a:solidFill>
                <a:latin typeface="Quattrocento Sans" pitchFamily="34" charset="0"/>
                <a:ea typeface="Quattrocento Sans" pitchFamily="34" charset="-122"/>
                <a:cs typeface="Quattrocento Sans" pitchFamily="34" charset="-120"/>
              </a:rPr>
              <a:t>Autonomous Decision-Making</a:t>
            </a:r>
            <a:endParaRPr lang="en-US" sz="1600" dirty="0"/>
          </a:p>
        </p:txBody>
      </p:sp>
      <p:sp>
        <p:nvSpPr>
          <p:cNvPr id="13" name="Text 11"/>
          <p:cNvSpPr/>
          <p:nvPr/>
        </p:nvSpPr>
        <p:spPr>
          <a:xfrm>
            <a:off x="1030188" y="2647950"/>
            <a:ext cx="4714875" cy="381000"/>
          </a:xfrm>
          <a:prstGeom prst="rect">
            <a:avLst/>
          </a:prstGeom>
          <a:noFill/>
          <a:ln/>
        </p:spPr>
        <p:txBody>
          <a:bodyPr wrap="square" lIns="0" tIns="0" rIns="0" bIns="0" rtlCol="0" anchor="ctr"/>
          <a:lstStyle/>
          <a:p>
            <a:pPr>
              <a:lnSpc>
                <a:spcPct val="120000"/>
              </a:lnSpc>
            </a:pPr>
            <a:r>
              <a:rPr lang="en-US" sz="1050" dirty="0">
                <a:solidFill>
                  <a:srgbClr val="8D99AE"/>
                </a:solidFill>
                <a:latin typeface="Quattrocento Sans" pitchFamily="34" charset="0"/>
                <a:ea typeface="Quattrocento Sans" pitchFamily="34" charset="-122"/>
                <a:cs typeface="Quattrocento Sans" pitchFamily="34" charset="-120"/>
              </a:rPr>
              <a:t>Agent decides preprocessing strategies based on dataset characteristics without human intervention</a:t>
            </a:r>
            <a:endParaRPr lang="en-US" sz="1600" dirty="0"/>
          </a:p>
        </p:txBody>
      </p:sp>
      <p:sp>
        <p:nvSpPr>
          <p:cNvPr id="14" name="Shape 12"/>
          <p:cNvSpPr/>
          <p:nvPr/>
        </p:nvSpPr>
        <p:spPr>
          <a:xfrm>
            <a:off x="609600" y="3257550"/>
            <a:ext cx="5181600" cy="876300"/>
          </a:xfrm>
          <a:custGeom>
            <a:avLst/>
            <a:gdLst/>
            <a:ahLst/>
            <a:cxnLst/>
            <a:rect l="l" t="t" r="r" b="b"/>
            <a:pathLst>
              <a:path w="5181600" h="876300">
                <a:moveTo>
                  <a:pt x="38100" y="0"/>
                </a:moveTo>
                <a:lnTo>
                  <a:pt x="5105397" y="0"/>
                </a:lnTo>
                <a:cubicBezTo>
                  <a:pt x="5147483" y="0"/>
                  <a:pt x="5181600" y="34117"/>
                  <a:pt x="5181600" y="76203"/>
                </a:cubicBezTo>
                <a:lnTo>
                  <a:pt x="5181600" y="800097"/>
                </a:lnTo>
                <a:cubicBezTo>
                  <a:pt x="5181600" y="842183"/>
                  <a:pt x="5147483" y="876300"/>
                  <a:pt x="5105397" y="876300"/>
                </a:cubicBezTo>
                <a:lnTo>
                  <a:pt x="38100" y="876300"/>
                </a:lnTo>
                <a:cubicBezTo>
                  <a:pt x="17072" y="876300"/>
                  <a:pt x="0" y="859228"/>
                  <a:pt x="0" y="838200"/>
                </a:cubicBezTo>
                <a:lnTo>
                  <a:pt x="0" y="38100"/>
                </a:lnTo>
                <a:cubicBezTo>
                  <a:pt x="0" y="17072"/>
                  <a:pt x="17072" y="0"/>
                  <a:pt x="38100" y="0"/>
                </a:cubicBezTo>
                <a:close/>
              </a:path>
            </a:pathLst>
          </a:custGeom>
          <a:solidFill>
            <a:srgbClr val="1A1D24">
              <a:alpha val="50196"/>
            </a:srgbClr>
          </a:solidFill>
          <a:ln/>
        </p:spPr>
        <p:txBody>
          <a:bodyPr/>
          <a:lstStyle/>
          <a:p>
            <a:endParaRPr lang="en-GB"/>
          </a:p>
        </p:txBody>
      </p:sp>
      <p:sp>
        <p:nvSpPr>
          <p:cNvPr id="15" name="Shape 13"/>
          <p:cNvSpPr/>
          <p:nvPr/>
        </p:nvSpPr>
        <p:spPr>
          <a:xfrm>
            <a:off x="609600" y="3257550"/>
            <a:ext cx="38100" cy="876300"/>
          </a:xfrm>
          <a:custGeom>
            <a:avLst/>
            <a:gdLst/>
            <a:ahLst/>
            <a:cxnLst/>
            <a:rect l="l" t="t" r="r" b="b"/>
            <a:pathLst>
              <a:path w="38100" h="876300">
                <a:moveTo>
                  <a:pt x="38100" y="0"/>
                </a:moveTo>
                <a:lnTo>
                  <a:pt x="38100" y="0"/>
                </a:lnTo>
                <a:lnTo>
                  <a:pt x="38100" y="876300"/>
                </a:lnTo>
                <a:lnTo>
                  <a:pt x="38100" y="876300"/>
                </a:lnTo>
                <a:cubicBezTo>
                  <a:pt x="17072" y="876300"/>
                  <a:pt x="0" y="859228"/>
                  <a:pt x="0" y="838200"/>
                </a:cubicBezTo>
                <a:lnTo>
                  <a:pt x="0" y="38100"/>
                </a:lnTo>
                <a:cubicBezTo>
                  <a:pt x="0" y="17072"/>
                  <a:pt x="17072" y="0"/>
                  <a:pt x="38100" y="0"/>
                </a:cubicBezTo>
                <a:close/>
              </a:path>
            </a:pathLst>
          </a:custGeom>
          <a:solidFill>
            <a:srgbClr val="C9A86A"/>
          </a:solidFill>
          <a:ln/>
        </p:spPr>
        <p:txBody>
          <a:bodyPr/>
          <a:lstStyle/>
          <a:p>
            <a:endParaRPr lang="en-GB"/>
          </a:p>
        </p:txBody>
      </p:sp>
      <p:sp>
        <p:nvSpPr>
          <p:cNvPr id="16" name="Shape 14"/>
          <p:cNvSpPr/>
          <p:nvPr/>
        </p:nvSpPr>
        <p:spPr>
          <a:xfrm>
            <a:off x="769144" y="3409950"/>
            <a:ext cx="128588" cy="171450"/>
          </a:xfrm>
          <a:custGeom>
            <a:avLst/>
            <a:gdLst/>
            <a:ahLst/>
            <a:cxnLst/>
            <a:rect l="l" t="t" r="r" b="b"/>
            <a:pathLst>
              <a:path w="128588" h="171450">
                <a:moveTo>
                  <a:pt x="83682" y="22369"/>
                </a:moveTo>
                <a:cubicBezTo>
                  <a:pt x="87165" y="17580"/>
                  <a:pt x="86093" y="10883"/>
                  <a:pt x="81305" y="7400"/>
                </a:cubicBezTo>
                <a:cubicBezTo>
                  <a:pt x="76516" y="3918"/>
                  <a:pt x="69819" y="4989"/>
                  <a:pt x="66336" y="9778"/>
                </a:cubicBezTo>
                <a:lnTo>
                  <a:pt x="30841" y="58568"/>
                </a:lnTo>
                <a:lnTo>
                  <a:pt x="18284" y="46010"/>
                </a:lnTo>
                <a:cubicBezTo>
                  <a:pt x="14098" y="41824"/>
                  <a:pt x="7300" y="41824"/>
                  <a:pt x="3114" y="46010"/>
                </a:cubicBezTo>
                <a:cubicBezTo>
                  <a:pt x="-1072" y="50196"/>
                  <a:pt x="-1072" y="56994"/>
                  <a:pt x="3114" y="61180"/>
                </a:cubicBezTo>
                <a:lnTo>
                  <a:pt x="24545" y="82611"/>
                </a:lnTo>
                <a:cubicBezTo>
                  <a:pt x="26756" y="84821"/>
                  <a:pt x="29836" y="85959"/>
                  <a:pt x="32951" y="85725"/>
                </a:cubicBezTo>
                <a:cubicBezTo>
                  <a:pt x="36065" y="85491"/>
                  <a:pt x="38945" y="83883"/>
                  <a:pt x="40786" y="81338"/>
                </a:cubicBezTo>
                <a:lnTo>
                  <a:pt x="83649" y="22402"/>
                </a:lnTo>
                <a:close/>
                <a:moveTo>
                  <a:pt x="126545" y="67910"/>
                </a:moveTo>
                <a:cubicBezTo>
                  <a:pt x="130027" y="63122"/>
                  <a:pt x="128956" y="56424"/>
                  <a:pt x="124167" y="52942"/>
                </a:cubicBezTo>
                <a:cubicBezTo>
                  <a:pt x="119379" y="49459"/>
                  <a:pt x="112681" y="50531"/>
                  <a:pt x="109199" y="55319"/>
                </a:cubicBezTo>
                <a:lnTo>
                  <a:pt x="52272" y="133577"/>
                </a:lnTo>
                <a:lnTo>
                  <a:pt x="28999" y="110304"/>
                </a:lnTo>
                <a:cubicBezTo>
                  <a:pt x="24813" y="106118"/>
                  <a:pt x="18016" y="106118"/>
                  <a:pt x="13830" y="110304"/>
                </a:cubicBezTo>
                <a:cubicBezTo>
                  <a:pt x="9644" y="114490"/>
                  <a:pt x="9644" y="121287"/>
                  <a:pt x="13830" y="125473"/>
                </a:cubicBezTo>
                <a:lnTo>
                  <a:pt x="45977" y="157620"/>
                </a:lnTo>
                <a:cubicBezTo>
                  <a:pt x="48187" y="159830"/>
                  <a:pt x="51268" y="160969"/>
                  <a:pt x="54382" y="160734"/>
                </a:cubicBezTo>
                <a:cubicBezTo>
                  <a:pt x="57496" y="160500"/>
                  <a:pt x="60376" y="158893"/>
                  <a:pt x="62218" y="156348"/>
                </a:cubicBezTo>
                <a:lnTo>
                  <a:pt x="126511" y="67944"/>
                </a:lnTo>
                <a:close/>
              </a:path>
            </a:pathLst>
          </a:custGeom>
          <a:solidFill>
            <a:srgbClr val="C9A86A"/>
          </a:solidFill>
          <a:ln/>
        </p:spPr>
        <p:txBody>
          <a:bodyPr/>
          <a:lstStyle/>
          <a:p>
            <a:endParaRPr lang="en-GB"/>
          </a:p>
        </p:txBody>
      </p:sp>
      <p:sp>
        <p:nvSpPr>
          <p:cNvPr id="17" name="Text 15"/>
          <p:cNvSpPr/>
          <p:nvPr/>
        </p:nvSpPr>
        <p:spPr>
          <a:xfrm>
            <a:off x="1041648" y="3371850"/>
            <a:ext cx="4714875" cy="228600"/>
          </a:xfrm>
          <a:prstGeom prst="rect">
            <a:avLst/>
          </a:prstGeom>
          <a:noFill/>
          <a:ln/>
        </p:spPr>
        <p:txBody>
          <a:bodyPr wrap="square" lIns="0" tIns="0" rIns="0" bIns="0" rtlCol="0" anchor="ctr"/>
          <a:lstStyle/>
          <a:p>
            <a:pPr>
              <a:lnSpc>
                <a:spcPct val="130000"/>
              </a:lnSpc>
            </a:pPr>
            <a:r>
              <a:rPr lang="en-US" sz="1200" b="1" dirty="0">
                <a:solidFill>
                  <a:srgbClr val="EDF2F4"/>
                </a:solidFill>
                <a:latin typeface="Quattrocento Sans" pitchFamily="34" charset="0"/>
                <a:ea typeface="Quattrocento Sans" pitchFamily="34" charset="-122"/>
                <a:cs typeface="Quattrocento Sans" pitchFamily="34" charset="-120"/>
              </a:rPr>
              <a:t>Self-Evaluation</a:t>
            </a:r>
            <a:endParaRPr lang="en-US" sz="1600" dirty="0"/>
          </a:p>
        </p:txBody>
      </p:sp>
      <p:sp>
        <p:nvSpPr>
          <p:cNvPr id="18" name="Text 16"/>
          <p:cNvSpPr/>
          <p:nvPr/>
        </p:nvSpPr>
        <p:spPr>
          <a:xfrm>
            <a:off x="1041648" y="3638550"/>
            <a:ext cx="4705350" cy="381000"/>
          </a:xfrm>
          <a:prstGeom prst="rect">
            <a:avLst/>
          </a:prstGeom>
          <a:noFill/>
          <a:ln/>
        </p:spPr>
        <p:txBody>
          <a:bodyPr wrap="square" lIns="0" tIns="0" rIns="0" bIns="0" rtlCol="0" anchor="ctr"/>
          <a:lstStyle/>
          <a:p>
            <a:pPr>
              <a:lnSpc>
                <a:spcPct val="120000"/>
              </a:lnSpc>
            </a:pPr>
            <a:r>
              <a:rPr lang="en-US" sz="1050" dirty="0">
                <a:solidFill>
                  <a:srgbClr val="8D99AE"/>
                </a:solidFill>
                <a:latin typeface="Quattrocento Sans" pitchFamily="34" charset="0"/>
                <a:ea typeface="Quattrocento Sans" pitchFamily="34" charset="-122"/>
                <a:cs typeface="Quattrocento Sans" pitchFamily="34" charset="-120"/>
              </a:rPr>
              <a:t>Continuously evaluates its decisions against performance metrics to ensure optimal outcomes</a:t>
            </a:r>
            <a:endParaRPr lang="en-US" sz="1600" dirty="0"/>
          </a:p>
        </p:txBody>
      </p:sp>
      <p:sp>
        <p:nvSpPr>
          <p:cNvPr id="19" name="Shape 17"/>
          <p:cNvSpPr/>
          <p:nvPr/>
        </p:nvSpPr>
        <p:spPr>
          <a:xfrm>
            <a:off x="609600" y="4248150"/>
            <a:ext cx="5181600" cy="685800"/>
          </a:xfrm>
          <a:custGeom>
            <a:avLst/>
            <a:gdLst/>
            <a:ahLst/>
            <a:cxnLst/>
            <a:rect l="l" t="t" r="r" b="b"/>
            <a:pathLst>
              <a:path w="5181600" h="685800">
                <a:moveTo>
                  <a:pt x="38100" y="0"/>
                </a:moveTo>
                <a:lnTo>
                  <a:pt x="5105401" y="0"/>
                </a:lnTo>
                <a:cubicBezTo>
                  <a:pt x="5147484" y="0"/>
                  <a:pt x="5181600" y="34116"/>
                  <a:pt x="5181600" y="76199"/>
                </a:cubicBezTo>
                <a:lnTo>
                  <a:pt x="5181600" y="609601"/>
                </a:lnTo>
                <a:cubicBezTo>
                  <a:pt x="5181600" y="651684"/>
                  <a:pt x="5147484" y="685800"/>
                  <a:pt x="5105401" y="685800"/>
                </a:cubicBezTo>
                <a:lnTo>
                  <a:pt x="38100" y="685800"/>
                </a:lnTo>
                <a:cubicBezTo>
                  <a:pt x="17072" y="685800"/>
                  <a:pt x="0" y="668728"/>
                  <a:pt x="0" y="647700"/>
                </a:cubicBezTo>
                <a:lnTo>
                  <a:pt x="0" y="38100"/>
                </a:lnTo>
                <a:cubicBezTo>
                  <a:pt x="0" y="17072"/>
                  <a:pt x="17072" y="0"/>
                  <a:pt x="38100" y="0"/>
                </a:cubicBezTo>
                <a:close/>
              </a:path>
            </a:pathLst>
          </a:custGeom>
          <a:solidFill>
            <a:srgbClr val="1A1D24">
              <a:alpha val="50196"/>
            </a:srgbClr>
          </a:solidFill>
          <a:ln/>
        </p:spPr>
        <p:txBody>
          <a:bodyPr/>
          <a:lstStyle/>
          <a:p>
            <a:endParaRPr lang="en-GB"/>
          </a:p>
        </p:txBody>
      </p:sp>
      <p:sp>
        <p:nvSpPr>
          <p:cNvPr id="20" name="Shape 18"/>
          <p:cNvSpPr/>
          <p:nvPr/>
        </p:nvSpPr>
        <p:spPr>
          <a:xfrm>
            <a:off x="609600" y="4248150"/>
            <a:ext cx="38100" cy="685800"/>
          </a:xfrm>
          <a:custGeom>
            <a:avLst/>
            <a:gdLst/>
            <a:ahLst/>
            <a:cxnLst/>
            <a:rect l="l" t="t" r="r" b="b"/>
            <a:pathLst>
              <a:path w="38100" h="685800">
                <a:moveTo>
                  <a:pt x="38100" y="0"/>
                </a:moveTo>
                <a:lnTo>
                  <a:pt x="38100" y="0"/>
                </a:lnTo>
                <a:lnTo>
                  <a:pt x="38100" y="685800"/>
                </a:lnTo>
                <a:lnTo>
                  <a:pt x="38100" y="685800"/>
                </a:lnTo>
                <a:cubicBezTo>
                  <a:pt x="17072" y="685800"/>
                  <a:pt x="0" y="668728"/>
                  <a:pt x="0" y="647700"/>
                </a:cubicBezTo>
                <a:lnTo>
                  <a:pt x="0" y="38100"/>
                </a:lnTo>
                <a:cubicBezTo>
                  <a:pt x="0" y="17072"/>
                  <a:pt x="17072" y="0"/>
                  <a:pt x="38100" y="0"/>
                </a:cubicBezTo>
                <a:close/>
              </a:path>
            </a:pathLst>
          </a:custGeom>
          <a:solidFill>
            <a:srgbClr val="C9A86A"/>
          </a:solidFill>
          <a:ln/>
        </p:spPr>
        <p:txBody>
          <a:bodyPr/>
          <a:lstStyle/>
          <a:p>
            <a:endParaRPr lang="en-GB"/>
          </a:p>
        </p:txBody>
      </p:sp>
      <p:sp>
        <p:nvSpPr>
          <p:cNvPr id="21" name="Shape 19"/>
          <p:cNvSpPr/>
          <p:nvPr/>
        </p:nvSpPr>
        <p:spPr>
          <a:xfrm>
            <a:off x="756047" y="4400550"/>
            <a:ext cx="192881" cy="171450"/>
          </a:xfrm>
          <a:custGeom>
            <a:avLst/>
            <a:gdLst/>
            <a:ahLst/>
            <a:cxnLst/>
            <a:rect l="l" t="t" r="r" b="b"/>
            <a:pathLst>
              <a:path w="192881" h="171450">
                <a:moveTo>
                  <a:pt x="16073" y="65566"/>
                </a:moveTo>
                <a:lnTo>
                  <a:pt x="86127" y="94398"/>
                </a:lnTo>
                <a:cubicBezTo>
                  <a:pt x="89408" y="95737"/>
                  <a:pt x="92891" y="96441"/>
                  <a:pt x="96441" y="96441"/>
                </a:cubicBezTo>
                <a:cubicBezTo>
                  <a:pt x="99990" y="96441"/>
                  <a:pt x="103473" y="95737"/>
                  <a:pt x="106754" y="94398"/>
                </a:cubicBezTo>
                <a:lnTo>
                  <a:pt x="187925" y="60979"/>
                </a:lnTo>
                <a:cubicBezTo>
                  <a:pt x="190939" y="59740"/>
                  <a:pt x="192881" y="56826"/>
                  <a:pt x="192881" y="53578"/>
                </a:cubicBezTo>
                <a:cubicBezTo>
                  <a:pt x="192881" y="50330"/>
                  <a:pt x="190939" y="47417"/>
                  <a:pt x="187925" y="46178"/>
                </a:cubicBezTo>
                <a:lnTo>
                  <a:pt x="106754" y="12758"/>
                </a:lnTo>
                <a:cubicBezTo>
                  <a:pt x="103473" y="11419"/>
                  <a:pt x="99990" y="10716"/>
                  <a:pt x="96441" y="10716"/>
                </a:cubicBezTo>
                <a:cubicBezTo>
                  <a:pt x="92891" y="10716"/>
                  <a:pt x="89408" y="11419"/>
                  <a:pt x="86127" y="12758"/>
                </a:cubicBezTo>
                <a:lnTo>
                  <a:pt x="4956" y="46178"/>
                </a:lnTo>
                <a:cubicBezTo>
                  <a:pt x="1942" y="47417"/>
                  <a:pt x="0" y="50330"/>
                  <a:pt x="0" y="53578"/>
                </a:cubicBezTo>
                <a:lnTo>
                  <a:pt x="0" y="152698"/>
                </a:lnTo>
                <a:cubicBezTo>
                  <a:pt x="0" y="157151"/>
                  <a:pt x="3583" y="160734"/>
                  <a:pt x="8037" y="160734"/>
                </a:cubicBezTo>
                <a:cubicBezTo>
                  <a:pt x="12490" y="160734"/>
                  <a:pt x="16073" y="157151"/>
                  <a:pt x="16073" y="152698"/>
                </a:cubicBezTo>
                <a:lnTo>
                  <a:pt x="16073" y="65566"/>
                </a:lnTo>
                <a:close/>
                <a:moveTo>
                  <a:pt x="32147" y="89576"/>
                </a:moveTo>
                <a:lnTo>
                  <a:pt x="32147" y="128588"/>
                </a:lnTo>
                <a:cubicBezTo>
                  <a:pt x="32147" y="146335"/>
                  <a:pt x="60945" y="160734"/>
                  <a:pt x="96441" y="160734"/>
                </a:cubicBezTo>
                <a:cubicBezTo>
                  <a:pt x="131936" y="160734"/>
                  <a:pt x="160734" y="146335"/>
                  <a:pt x="160734" y="128588"/>
                </a:cubicBezTo>
                <a:lnTo>
                  <a:pt x="160734" y="89542"/>
                </a:lnTo>
                <a:lnTo>
                  <a:pt x="112882" y="109266"/>
                </a:lnTo>
                <a:cubicBezTo>
                  <a:pt x="107659" y="111409"/>
                  <a:pt x="102100" y="112514"/>
                  <a:pt x="96441" y="112514"/>
                </a:cubicBezTo>
                <a:cubicBezTo>
                  <a:pt x="90781" y="112514"/>
                  <a:pt x="85223" y="111409"/>
                  <a:pt x="79999" y="109266"/>
                </a:cubicBezTo>
                <a:lnTo>
                  <a:pt x="32147" y="89542"/>
                </a:lnTo>
                <a:close/>
              </a:path>
            </a:pathLst>
          </a:custGeom>
          <a:solidFill>
            <a:srgbClr val="C9A86A"/>
          </a:solidFill>
          <a:ln/>
        </p:spPr>
        <p:txBody>
          <a:bodyPr/>
          <a:lstStyle/>
          <a:p>
            <a:endParaRPr lang="en-GB"/>
          </a:p>
        </p:txBody>
      </p:sp>
      <p:sp>
        <p:nvSpPr>
          <p:cNvPr id="22" name="Text 20"/>
          <p:cNvSpPr/>
          <p:nvPr/>
        </p:nvSpPr>
        <p:spPr>
          <a:xfrm>
            <a:off x="1071563" y="4362450"/>
            <a:ext cx="3581400" cy="228600"/>
          </a:xfrm>
          <a:prstGeom prst="rect">
            <a:avLst/>
          </a:prstGeom>
          <a:noFill/>
          <a:ln/>
        </p:spPr>
        <p:txBody>
          <a:bodyPr wrap="square" lIns="0" tIns="0" rIns="0" bIns="0" rtlCol="0" anchor="ctr"/>
          <a:lstStyle/>
          <a:p>
            <a:pPr>
              <a:lnSpc>
                <a:spcPct val="130000"/>
              </a:lnSpc>
            </a:pPr>
            <a:r>
              <a:rPr lang="en-US" sz="1200" b="1" dirty="0">
                <a:solidFill>
                  <a:srgbClr val="EDF2F4"/>
                </a:solidFill>
                <a:latin typeface="Quattrocento Sans" pitchFamily="34" charset="0"/>
                <a:ea typeface="Quattrocento Sans" pitchFamily="34" charset="-122"/>
                <a:cs typeface="Quattrocento Sans" pitchFamily="34" charset="-120"/>
              </a:rPr>
              <a:t>Experience Learning</a:t>
            </a:r>
            <a:endParaRPr lang="en-US" sz="1600" dirty="0"/>
          </a:p>
        </p:txBody>
      </p:sp>
      <p:sp>
        <p:nvSpPr>
          <p:cNvPr id="23" name="Text 21"/>
          <p:cNvSpPr/>
          <p:nvPr/>
        </p:nvSpPr>
        <p:spPr>
          <a:xfrm>
            <a:off x="1071563" y="4629150"/>
            <a:ext cx="3571875" cy="190500"/>
          </a:xfrm>
          <a:prstGeom prst="rect">
            <a:avLst/>
          </a:prstGeom>
          <a:noFill/>
          <a:ln/>
        </p:spPr>
        <p:txBody>
          <a:bodyPr wrap="square" lIns="0" tIns="0" rIns="0" bIns="0" rtlCol="0" anchor="ctr"/>
          <a:lstStyle/>
          <a:p>
            <a:pPr>
              <a:lnSpc>
                <a:spcPct val="120000"/>
              </a:lnSpc>
            </a:pPr>
            <a:r>
              <a:rPr lang="en-US" sz="1050" dirty="0">
                <a:solidFill>
                  <a:srgbClr val="8D99AE"/>
                </a:solidFill>
                <a:latin typeface="Quattrocento Sans" pitchFamily="34" charset="0"/>
                <a:ea typeface="Quattrocento Sans" pitchFamily="34" charset="-122"/>
                <a:cs typeface="Quattrocento Sans" pitchFamily="34" charset="-120"/>
              </a:rPr>
              <a:t>Learns from past preprocessing attempts and their outcomes</a:t>
            </a:r>
            <a:endParaRPr lang="en-US" sz="1600" dirty="0"/>
          </a:p>
        </p:txBody>
      </p:sp>
      <p:sp>
        <p:nvSpPr>
          <p:cNvPr id="24" name="Shape 22"/>
          <p:cNvSpPr/>
          <p:nvPr/>
        </p:nvSpPr>
        <p:spPr>
          <a:xfrm>
            <a:off x="609600" y="5048250"/>
            <a:ext cx="5181600" cy="876300"/>
          </a:xfrm>
          <a:custGeom>
            <a:avLst/>
            <a:gdLst/>
            <a:ahLst/>
            <a:cxnLst/>
            <a:rect l="l" t="t" r="r" b="b"/>
            <a:pathLst>
              <a:path w="5181600" h="876300">
                <a:moveTo>
                  <a:pt x="38100" y="0"/>
                </a:moveTo>
                <a:lnTo>
                  <a:pt x="5105397" y="0"/>
                </a:lnTo>
                <a:cubicBezTo>
                  <a:pt x="5147483" y="0"/>
                  <a:pt x="5181600" y="34117"/>
                  <a:pt x="5181600" y="76203"/>
                </a:cubicBezTo>
                <a:lnTo>
                  <a:pt x="5181600" y="800097"/>
                </a:lnTo>
                <a:cubicBezTo>
                  <a:pt x="5181600" y="842183"/>
                  <a:pt x="5147483" y="876300"/>
                  <a:pt x="5105397" y="876300"/>
                </a:cubicBezTo>
                <a:lnTo>
                  <a:pt x="38100" y="876300"/>
                </a:lnTo>
                <a:cubicBezTo>
                  <a:pt x="17072" y="876300"/>
                  <a:pt x="0" y="859228"/>
                  <a:pt x="0" y="838200"/>
                </a:cubicBezTo>
                <a:lnTo>
                  <a:pt x="0" y="38100"/>
                </a:lnTo>
                <a:cubicBezTo>
                  <a:pt x="0" y="17072"/>
                  <a:pt x="17072" y="0"/>
                  <a:pt x="38100" y="0"/>
                </a:cubicBezTo>
                <a:close/>
              </a:path>
            </a:pathLst>
          </a:custGeom>
          <a:solidFill>
            <a:srgbClr val="1A1D24">
              <a:alpha val="50196"/>
            </a:srgbClr>
          </a:solidFill>
          <a:ln/>
        </p:spPr>
        <p:txBody>
          <a:bodyPr/>
          <a:lstStyle/>
          <a:p>
            <a:endParaRPr lang="en-GB"/>
          </a:p>
        </p:txBody>
      </p:sp>
      <p:sp>
        <p:nvSpPr>
          <p:cNvPr id="25" name="Shape 23"/>
          <p:cNvSpPr/>
          <p:nvPr/>
        </p:nvSpPr>
        <p:spPr>
          <a:xfrm>
            <a:off x="609600" y="5048250"/>
            <a:ext cx="38100" cy="876300"/>
          </a:xfrm>
          <a:custGeom>
            <a:avLst/>
            <a:gdLst/>
            <a:ahLst/>
            <a:cxnLst/>
            <a:rect l="l" t="t" r="r" b="b"/>
            <a:pathLst>
              <a:path w="38100" h="876300">
                <a:moveTo>
                  <a:pt x="38100" y="0"/>
                </a:moveTo>
                <a:lnTo>
                  <a:pt x="38100" y="0"/>
                </a:lnTo>
                <a:lnTo>
                  <a:pt x="38100" y="876300"/>
                </a:lnTo>
                <a:lnTo>
                  <a:pt x="38100" y="876300"/>
                </a:lnTo>
                <a:cubicBezTo>
                  <a:pt x="17072" y="876300"/>
                  <a:pt x="0" y="859228"/>
                  <a:pt x="0" y="838200"/>
                </a:cubicBezTo>
                <a:lnTo>
                  <a:pt x="0" y="38100"/>
                </a:lnTo>
                <a:cubicBezTo>
                  <a:pt x="0" y="17072"/>
                  <a:pt x="17072" y="0"/>
                  <a:pt x="38100" y="0"/>
                </a:cubicBezTo>
                <a:close/>
              </a:path>
            </a:pathLst>
          </a:custGeom>
          <a:solidFill>
            <a:srgbClr val="C9A86A"/>
          </a:solidFill>
          <a:ln/>
        </p:spPr>
        <p:txBody>
          <a:bodyPr/>
          <a:lstStyle/>
          <a:p>
            <a:endParaRPr lang="en-GB"/>
          </a:p>
        </p:txBody>
      </p:sp>
      <p:sp>
        <p:nvSpPr>
          <p:cNvPr id="26" name="Shape 24"/>
          <p:cNvSpPr/>
          <p:nvPr/>
        </p:nvSpPr>
        <p:spPr>
          <a:xfrm>
            <a:off x="746522" y="5200650"/>
            <a:ext cx="192881" cy="171450"/>
          </a:xfrm>
          <a:custGeom>
            <a:avLst/>
            <a:gdLst/>
            <a:ahLst/>
            <a:cxnLst/>
            <a:rect l="l" t="t" r="r" b="b"/>
            <a:pathLst>
              <a:path w="192881" h="171450">
                <a:moveTo>
                  <a:pt x="128588" y="53578"/>
                </a:moveTo>
                <a:cubicBezTo>
                  <a:pt x="122660" y="53578"/>
                  <a:pt x="117872" y="48790"/>
                  <a:pt x="117872" y="42863"/>
                </a:cubicBezTo>
                <a:cubicBezTo>
                  <a:pt x="117872" y="36935"/>
                  <a:pt x="122660" y="32147"/>
                  <a:pt x="128588" y="32147"/>
                </a:cubicBezTo>
                <a:lnTo>
                  <a:pt x="182166" y="32147"/>
                </a:lnTo>
                <a:cubicBezTo>
                  <a:pt x="188093" y="32147"/>
                  <a:pt x="192881" y="36935"/>
                  <a:pt x="192881" y="42863"/>
                </a:cubicBezTo>
                <a:lnTo>
                  <a:pt x="192881" y="96441"/>
                </a:lnTo>
                <a:cubicBezTo>
                  <a:pt x="192881" y="102368"/>
                  <a:pt x="188093" y="107156"/>
                  <a:pt x="182166" y="107156"/>
                </a:cubicBezTo>
                <a:cubicBezTo>
                  <a:pt x="176239" y="107156"/>
                  <a:pt x="171450" y="102368"/>
                  <a:pt x="171450" y="96441"/>
                </a:cubicBezTo>
                <a:lnTo>
                  <a:pt x="171450" y="68747"/>
                </a:lnTo>
                <a:lnTo>
                  <a:pt x="114724" y="125473"/>
                </a:lnTo>
                <a:cubicBezTo>
                  <a:pt x="110538" y="129659"/>
                  <a:pt x="103741" y="129659"/>
                  <a:pt x="99555" y="125473"/>
                </a:cubicBezTo>
                <a:lnTo>
                  <a:pt x="64294" y="90179"/>
                </a:lnTo>
                <a:lnTo>
                  <a:pt x="18284" y="136155"/>
                </a:lnTo>
                <a:cubicBezTo>
                  <a:pt x="14098" y="140341"/>
                  <a:pt x="7300" y="140341"/>
                  <a:pt x="3114" y="136155"/>
                </a:cubicBezTo>
                <a:cubicBezTo>
                  <a:pt x="-1072" y="131970"/>
                  <a:pt x="-1072" y="125172"/>
                  <a:pt x="3114" y="120986"/>
                </a:cubicBezTo>
                <a:lnTo>
                  <a:pt x="56692" y="67408"/>
                </a:lnTo>
                <a:cubicBezTo>
                  <a:pt x="60878" y="63222"/>
                  <a:pt x="67676" y="63222"/>
                  <a:pt x="71862" y="67408"/>
                </a:cubicBezTo>
                <a:lnTo>
                  <a:pt x="107156" y="102703"/>
                </a:lnTo>
                <a:lnTo>
                  <a:pt x="156281" y="53578"/>
                </a:lnTo>
                <a:lnTo>
                  <a:pt x="128588" y="53578"/>
                </a:lnTo>
                <a:close/>
              </a:path>
            </a:pathLst>
          </a:custGeom>
          <a:solidFill>
            <a:srgbClr val="C9A86A"/>
          </a:solidFill>
          <a:ln/>
        </p:spPr>
        <p:txBody>
          <a:bodyPr/>
          <a:lstStyle/>
          <a:p>
            <a:endParaRPr lang="en-GB"/>
          </a:p>
        </p:txBody>
      </p:sp>
      <p:sp>
        <p:nvSpPr>
          <p:cNvPr id="27" name="Text 25"/>
          <p:cNvSpPr/>
          <p:nvPr/>
        </p:nvSpPr>
        <p:spPr>
          <a:xfrm>
            <a:off x="1056382" y="5162550"/>
            <a:ext cx="4695825" cy="228600"/>
          </a:xfrm>
          <a:prstGeom prst="rect">
            <a:avLst/>
          </a:prstGeom>
          <a:noFill/>
          <a:ln/>
        </p:spPr>
        <p:txBody>
          <a:bodyPr wrap="square" lIns="0" tIns="0" rIns="0" bIns="0" rtlCol="0" anchor="ctr"/>
          <a:lstStyle/>
          <a:p>
            <a:pPr>
              <a:lnSpc>
                <a:spcPct val="130000"/>
              </a:lnSpc>
            </a:pPr>
            <a:r>
              <a:rPr lang="en-US" sz="1200" b="1" dirty="0">
                <a:solidFill>
                  <a:srgbClr val="EDF2F4"/>
                </a:solidFill>
                <a:latin typeface="Quattrocento Sans" pitchFamily="34" charset="0"/>
                <a:ea typeface="Quattrocento Sans" pitchFamily="34" charset="-122"/>
                <a:cs typeface="Quattrocento Sans" pitchFamily="34" charset="-120"/>
              </a:rPr>
              <a:t>Continuous Improvement</a:t>
            </a:r>
            <a:endParaRPr lang="en-US" sz="1600" dirty="0"/>
          </a:p>
        </p:txBody>
      </p:sp>
      <p:sp>
        <p:nvSpPr>
          <p:cNvPr id="28" name="Text 26"/>
          <p:cNvSpPr/>
          <p:nvPr/>
        </p:nvSpPr>
        <p:spPr>
          <a:xfrm>
            <a:off x="1056382" y="5429250"/>
            <a:ext cx="4686300" cy="381000"/>
          </a:xfrm>
          <a:prstGeom prst="rect">
            <a:avLst/>
          </a:prstGeom>
          <a:noFill/>
          <a:ln/>
        </p:spPr>
        <p:txBody>
          <a:bodyPr wrap="square" lIns="0" tIns="0" rIns="0" bIns="0" rtlCol="0" anchor="ctr"/>
          <a:lstStyle/>
          <a:p>
            <a:pPr>
              <a:lnSpc>
                <a:spcPct val="120000"/>
              </a:lnSpc>
            </a:pPr>
            <a:r>
              <a:rPr lang="en-US" sz="1050" dirty="0">
                <a:solidFill>
                  <a:srgbClr val="8D99AE"/>
                </a:solidFill>
                <a:latin typeface="Quattrocento Sans" pitchFamily="34" charset="0"/>
                <a:ea typeface="Quattrocento Sans" pitchFamily="34" charset="-122"/>
                <a:cs typeface="Quattrocento Sans" pitchFamily="34" charset="-120"/>
              </a:rPr>
              <a:t>Improves over time through meta-learning, becoming more efficient with each dataset</a:t>
            </a:r>
            <a:endParaRPr lang="en-US" sz="1600" dirty="0"/>
          </a:p>
        </p:txBody>
      </p:sp>
      <p:sp>
        <p:nvSpPr>
          <p:cNvPr id="29" name="Shape 27"/>
          <p:cNvSpPr/>
          <p:nvPr/>
        </p:nvSpPr>
        <p:spPr>
          <a:xfrm>
            <a:off x="6200775" y="1381125"/>
            <a:ext cx="5600700" cy="5086350"/>
          </a:xfrm>
          <a:custGeom>
            <a:avLst/>
            <a:gdLst/>
            <a:ahLst/>
            <a:cxnLst/>
            <a:rect l="l" t="t" r="r" b="b"/>
            <a:pathLst>
              <a:path w="5600700" h="5086350">
                <a:moveTo>
                  <a:pt x="114290" y="0"/>
                </a:moveTo>
                <a:lnTo>
                  <a:pt x="5486410" y="0"/>
                </a:lnTo>
                <a:cubicBezTo>
                  <a:pt x="5549530" y="0"/>
                  <a:pt x="5600700" y="51170"/>
                  <a:pt x="5600700" y="114290"/>
                </a:cubicBezTo>
                <a:lnTo>
                  <a:pt x="5600700" y="4972060"/>
                </a:lnTo>
                <a:cubicBezTo>
                  <a:pt x="5600700" y="5035180"/>
                  <a:pt x="5549530" y="5086350"/>
                  <a:pt x="5486410" y="5086350"/>
                </a:cubicBezTo>
                <a:lnTo>
                  <a:pt x="114290" y="5086350"/>
                </a:lnTo>
                <a:cubicBezTo>
                  <a:pt x="51170" y="5086350"/>
                  <a:pt x="0" y="5035180"/>
                  <a:pt x="0" y="4972060"/>
                </a:cubicBezTo>
                <a:lnTo>
                  <a:pt x="0" y="114290"/>
                </a:lnTo>
                <a:cubicBezTo>
                  <a:pt x="0" y="51212"/>
                  <a:pt x="51212" y="0"/>
                  <a:pt x="114290" y="0"/>
                </a:cubicBezTo>
                <a:close/>
              </a:path>
            </a:pathLst>
          </a:custGeom>
          <a:gradFill flip="none" rotWithShape="1">
            <a:gsLst>
              <a:gs pos="0">
                <a:srgbClr val="C9A86A">
                  <a:alpha val="20000"/>
                </a:srgbClr>
              </a:gs>
              <a:gs pos="100000">
                <a:srgbClr val="C9A86A">
                  <a:alpha val="5000"/>
                </a:srgbClr>
              </a:gs>
            </a:gsLst>
            <a:lin ang="2700000" scaled="1"/>
          </a:gradFill>
          <a:ln w="25400">
            <a:solidFill>
              <a:srgbClr val="C9A86A"/>
            </a:solidFill>
            <a:prstDash val="solid"/>
          </a:ln>
        </p:spPr>
        <p:txBody>
          <a:bodyPr/>
          <a:lstStyle/>
          <a:p>
            <a:endParaRPr lang="en-GB"/>
          </a:p>
        </p:txBody>
      </p:sp>
      <p:sp>
        <p:nvSpPr>
          <p:cNvPr id="30" name="Shape 28"/>
          <p:cNvSpPr/>
          <p:nvPr/>
        </p:nvSpPr>
        <p:spPr>
          <a:xfrm>
            <a:off x="6400800" y="1581150"/>
            <a:ext cx="533400" cy="533400"/>
          </a:xfrm>
          <a:custGeom>
            <a:avLst/>
            <a:gdLst/>
            <a:ahLst/>
            <a:cxnLst/>
            <a:rect l="l" t="t" r="r" b="b"/>
            <a:pathLst>
              <a:path w="533400" h="533400">
                <a:moveTo>
                  <a:pt x="114302" y="0"/>
                </a:moveTo>
                <a:lnTo>
                  <a:pt x="419098" y="0"/>
                </a:lnTo>
                <a:cubicBezTo>
                  <a:pt x="482183" y="0"/>
                  <a:pt x="533400" y="51217"/>
                  <a:pt x="533400" y="114302"/>
                </a:cubicBezTo>
                <a:lnTo>
                  <a:pt x="533400" y="419098"/>
                </a:lnTo>
                <a:cubicBezTo>
                  <a:pt x="533400" y="482183"/>
                  <a:pt x="482183" y="533400"/>
                  <a:pt x="419098" y="533400"/>
                </a:cubicBezTo>
                <a:lnTo>
                  <a:pt x="114302" y="533400"/>
                </a:lnTo>
                <a:cubicBezTo>
                  <a:pt x="51217" y="533400"/>
                  <a:pt x="0" y="482183"/>
                  <a:pt x="0" y="419098"/>
                </a:cubicBezTo>
                <a:lnTo>
                  <a:pt x="0" y="114302"/>
                </a:lnTo>
                <a:cubicBezTo>
                  <a:pt x="0" y="51217"/>
                  <a:pt x="51217" y="0"/>
                  <a:pt x="114302" y="0"/>
                </a:cubicBezTo>
                <a:close/>
              </a:path>
            </a:pathLst>
          </a:custGeom>
          <a:solidFill>
            <a:srgbClr val="C9A86A"/>
          </a:solidFill>
          <a:ln/>
        </p:spPr>
        <p:txBody>
          <a:bodyPr/>
          <a:lstStyle/>
          <a:p>
            <a:endParaRPr lang="en-GB"/>
          </a:p>
        </p:txBody>
      </p:sp>
      <p:sp>
        <p:nvSpPr>
          <p:cNvPr id="31" name="Shape 29"/>
          <p:cNvSpPr/>
          <p:nvPr/>
        </p:nvSpPr>
        <p:spPr>
          <a:xfrm>
            <a:off x="6553200" y="1733550"/>
            <a:ext cx="228600" cy="228600"/>
          </a:xfrm>
          <a:custGeom>
            <a:avLst/>
            <a:gdLst/>
            <a:ahLst/>
            <a:cxnLst/>
            <a:rect l="l" t="t" r="r" b="b"/>
            <a:pathLst>
              <a:path w="228600" h="228600">
                <a:moveTo>
                  <a:pt x="103808" y="2322"/>
                </a:moveTo>
                <a:cubicBezTo>
                  <a:pt x="110460" y="-759"/>
                  <a:pt x="118140" y="-759"/>
                  <a:pt x="124792" y="2322"/>
                </a:cubicBezTo>
                <a:lnTo>
                  <a:pt x="222394" y="47417"/>
                </a:lnTo>
                <a:cubicBezTo>
                  <a:pt x="226189" y="49158"/>
                  <a:pt x="228600" y="52953"/>
                  <a:pt x="228600" y="57150"/>
                </a:cubicBezTo>
                <a:cubicBezTo>
                  <a:pt x="228600" y="61347"/>
                  <a:pt x="226189" y="65142"/>
                  <a:pt x="222394" y="66883"/>
                </a:cubicBezTo>
                <a:lnTo>
                  <a:pt x="124792" y="111978"/>
                </a:lnTo>
                <a:cubicBezTo>
                  <a:pt x="118140" y="115059"/>
                  <a:pt x="110460" y="115059"/>
                  <a:pt x="103808" y="111978"/>
                </a:cubicBezTo>
                <a:lnTo>
                  <a:pt x="6206" y="66883"/>
                </a:lnTo>
                <a:cubicBezTo>
                  <a:pt x="2411" y="65097"/>
                  <a:pt x="0" y="61302"/>
                  <a:pt x="0" y="57150"/>
                </a:cubicBezTo>
                <a:cubicBezTo>
                  <a:pt x="0" y="52998"/>
                  <a:pt x="2411" y="49158"/>
                  <a:pt x="6206" y="47417"/>
                </a:cubicBezTo>
                <a:lnTo>
                  <a:pt x="103808" y="2322"/>
                </a:lnTo>
                <a:close/>
                <a:moveTo>
                  <a:pt x="21476" y="97512"/>
                </a:moveTo>
                <a:lnTo>
                  <a:pt x="94833" y="131400"/>
                </a:lnTo>
                <a:cubicBezTo>
                  <a:pt x="107201" y="137115"/>
                  <a:pt x="121444" y="137115"/>
                  <a:pt x="133811" y="131400"/>
                </a:cubicBezTo>
                <a:lnTo>
                  <a:pt x="207169" y="97512"/>
                </a:lnTo>
                <a:lnTo>
                  <a:pt x="222394" y="104567"/>
                </a:lnTo>
                <a:cubicBezTo>
                  <a:pt x="226189" y="106308"/>
                  <a:pt x="228600" y="110103"/>
                  <a:pt x="228600" y="114300"/>
                </a:cubicBezTo>
                <a:cubicBezTo>
                  <a:pt x="228600" y="118497"/>
                  <a:pt x="226189" y="122292"/>
                  <a:pt x="222394" y="124033"/>
                </a:cubicBezTo>
                <a:lnTo>
                  <a:pt x="124792" y="169128"/>
                </a:lnTo>
                <a:cubicBezTo>
                  <a:pt x="118140" y="172209"/>
                  <a:pt x="110460" y="172209"/>
                  <a:pt x="103808" y="169128"/>
                </a:cubicBezTo>
                <a:lnTo>
                  <a:pt x="6206" y="124033"/>
                </a:lnTo>
                <a:cubicBezTo>
                  <a:pt x="2411" y="122247"/>
                  <a:pt x="0" y="118452"/>
                  <a:pt x="0" y="114300"/>
                </a:cubicBezTo>
                <a:cubicBezTo>
                  <a:pt x="0" y="110148"/>
                  <a:pt x="2411" y="106308"/>
                  <a:pt x="6206" y="104567"/>
                </a:cubicBezTo>
                <a:lnTo>
                  <a:pt x="21431" y="97512"/>
                </a:lnTo>
                <a:close/>
                <a:moveTo>
                  <a:pt x="6206" y="161717"/>
                </a:moveTo>
                <a:lnTo>
                  <a:pt x="21431" y="154662"/>
                </a:lnTo>
                <a:lnTo>
                  <a:pt x="94789" y="188550"/>
                </a:lnTo>
                <a:cubicBezTo>
                  <a:pt x="107156" y="194265"/>
                  <a:pt x="121399" y="194265"/>
                  <a:pt x="133767" y="188550"/>
                </a:cubicBezTo>
                <a:lnTo>
                  <a:pt x="207124" y="154662"/>
                </a:lnTo>
                <a:lnTo>
                  <a:pt x="222349" y="161717"/>
                </a:lnTo>
                <a:cubicBezTo>
                  <a:pt x="226144" y="163458"/>
                  <a:pt x="228555" y="167253"/>
                  <a:pt x="228555" y="171450"/>
                </a:cubicBezTo>
                <a:cubicBezTo>
                  <a:pt x="228555" y="175647"/>
                  <a:pt x="226144" y="179442"/>
                  <a:pt x="222349" y="181183"/>
                </a:cubicBezTo>
                <a:lnTo>
                  <a:pt x="124748" y="226278"/>
                </a:lnTo>
                <a:cubicBezTo>
                  <a:pt x="118095" y="229359"/>
                  <a:pt x="110416" y="229359"/>
                  <a:pt x="103763" y="226278"/>
                </a:cubicBezTo>
                <a:lnTo>
                  <a:pt x="6206" y="181183"/>
                </a:lnTo>
                <a:cubicBezTo>
                  <a:pt x="2411" y="179397"/>
                  <a:pt x="0" y="175602"/>
                  <a:pt x="0" y="171450"/>
                </a:cubicBezTo>
                <a:cubicBezTo>
                  <a:pt x="0" y="167298"/>
                  <a:pt x="2411" y="163458"/>
                  <a:pt x="6206" y="161717"/>
                </a:cubicBezTo>
                <a:close/>
              </a:path>
            </a:pathLst>
          </a:custGeom>
          <a:solidFill>
            <a:srgbClr val="1A1D24"/>
          </a:solidFill>
          <a:ln/>
        </p:spPr>
        <p:txBody>
          <a:bodyPr/>
          <a:lstStyle/>
          <a:p>
            <a:endParaRPr lang="en-GB"/>
          </a:p>
        </p:txBody>
      </p:sp>
      <p:sp>
        <p:nvSpPr>
          <p:cNvPr id="32" name="Text 30"/>
          <p:cNvSpPr/>
          <p:nvPr/>
        </p:nvSpPr>
        <p:spPr>
          <a:xfrm>
            <a:off x="7048500" y="1695450"/>
            <a:ext cx="3362325" cy="304800"/>
          </a:xfrm>
          <a:prstGeom prst="rect">
            <a:avLst/>
          </a:prstGeom>
          <a:noFill/>
          <a:ln/>
        </p:spPr>
        <p:txBody>
          <a:bodyPr wrap="square" lIns="0" tIns="0" rIns="0" bIns="0" rtlCol="0" anchor="ctr"/>
          <a:lstStyle/>
          <a:p>
            <a:pPr>
              <a:lnSpc>
                <a:spcPct val="110000"/>
              </a:lnSpc>
            </a:pPr>
            <a:r>
              <a:rPr lang="en-US" sz="1800" b="1" dirty="0">
                <a:solidFill>
                  <a:srgbClr val="EDF2F4"/>
                </a:solidFill>
                <a:latin typeface="Liter" pitchFamily="34" charset="0"/>
                <a:ea typeface="Liter" pitchFamily="34" charset="-122"/>
                <a:cs typeface="Liter" pitchFamily="34" charset="-120"/>
              </a:rPr>
              <a:t>What does "Multi-Modal" mean?</a:t>
            </a:r>
            <a:endParaRPr lang="en-US" sz="1600" dirty="0"/>
          </a:p>
        </p:txBody>
      </p:sp>
      <p:sp>
        <p:nvSpPr>
          <p:cNvPr id="33" name="Text 31"/>
          <p:cNvSpPr/>
          <p:nvPr/>
        </p:nvSpPr>
        <p:spPr>
          <a:xfrm>
            <a:off x="6400800" y="2266950"/>
            <a:ext cx="5276850" cy="228600"/>
          </a:xfrm>
          <a:prstGeom prst="rect">
            <a:avLst/>
          </a:prstGeom>
          <a:noFill/>
          <a:ln/>
        </p:spPr>
        <p:txBody>
          <a:bodyPr wrap="square" lIns="0" tIns="0" rIns="0" bIns="0" rtlCol="0" anchor="ctr"/>
          <a:lstStyle/>
          <a:p>
            <a:pPr>
              <a:lnSpc>
                <a:spcPct val="130000"/>
              </a:lnSpc>
            </a:pPr>
            <a:r>
              <a:rPr lang="en-US" sz="1200" dirty="0">
                <a:solidFill>
                  <a:srgbClr val="8D99AE"/>
                </a:solidFill>
                <a:latin typeface="Quattrocento Sans" pitchFamily="34" charset="0"/>
                <a:ea typeface="Quattrocento Sans" pitchFamily="34" charset="-122"/>
                <a:cs typeface="Quattrocento Sans" pitchFamily="34" charset="-120"/>
              </a:rPr>
              <a:t>We support diverse data types through unified intelligent processing:</a:t>
            </a:r>
            <a:endParaRPr lang="en-US" sz="1600" dirty="0"/>
          </a:p>
        </p:txBody>
      </p:sp>
      <p:sp>
        <p:nvSpPr>
          <p:cNvPr id="34" name="Shape 32"/>
          <p:cNvSpPr/>
          <p:nvPr/>
        </p:nvSpPr>
        <p:spPr>
          <a:xfrm>
            <a:off x="6400800" y="2647950"/>
            <a:ext cx="5200650" cy="914400"/>
          </a:xfrm>
          <a:custGeom>
            <a:avLst/>
            <a:gdLst/>
            <a:ahLst/>
            <a:cxnLst/>
            <a:rect l="l" t="t" r="r" b="b"/>
            <a:pathLst>
              <a:path w="5200650" h="914400">
                <a:moveTo>
                  <a:pt x="76197" y="0"/>
                </a:moveTo>
                <a:lnTo>
                  <a:pt x="5124453" y="0"/>
                </a:lnTo>
                <a:cubicBezTo>
                  <a:pt x="5166535" y="0"/>
                  <a:pt x="5200650" y="34115"/>
                  <a:pt x="5200650" y="76197"/>
                </a:cubicBezTo>
                <a:lnTo>
                  <a:pt x="5200650" y="838203"/>
                </a:lnTo>
                <a:cubicBezTo>
                  <a:pt x="5200650" y="880285"/>
                  <a:pt x="5166535" y="914400"/>
                  <a:pt x="5124453" y="914400"/>
                </a:cubicBezTo>
                <a:lnTo>
                  <a:pt x="76197" y="914400"/>
                </a:lnTo>
                <a:cubicBezTo>
                  <a:pt x="34115" y="914400"/>
                  <a:pt x="0" y="880285"/>
                  <a:pt x="0" y="838203"/>
                </a:cubicBezTo>
                <a:lnTo>
                  <a:pt x="0" y="76197"/>
                </a:lnTo>
                <a:cubicBezTo>
                  <a:pt x="0" y="34143"/>
                  <a:pt x="34143" y="0"/>
                  <a:pt x="76197" y="0"/>
                </a:cubicBezTo>
                <a:close/>
              </a:path>
            </a:pathLst>
          </a:custGeom>
          <a:solidFill>
            <a:srgbClr val="1A1D24">
              <a:alpha val="50196"/>
            </a:srgbClr>
          </a:solidFill>
          <a:ln/>
        </p:spPr>
        <p:txBody>
          <a:bodyPr/>
          <a:lstStyle/>
          <a:p>
            <a:endParaRPr lang="en-GB"/>
          </a:p>
        </p:txBody>
      </p:sp>
      <p:sp>
        <p:nvSpPr>
          <p:cNvPr id="35" name="Shape 33"/>
          <p:cNvSpPr/>
          <p:nvPr/>
        </p:nvSpPr>
        <p:spPr>
          <a:xfrm>
            <a:off x="6553200" y="2800350"/>
            <a:ext cx="609600" cy="609600"/>
          </a:xfrm>
          <a:custGeom>
            <a:avLst/>
            <a:gdLst/>
            <a:ahLst/>
            <a:cxnLst/>
            <a:rect l="l" t="t" r="r" b="b"/>
            <a:pathLst>
              <a:path w="609600" h="609600">
                <a:moveTo>
                  <a:pt x="114300" y="0"/>
                </a:moveTo>
                <a:lnTo>
                  <a:pt x="495300" y="0"/>
                </a:lnTo>
                <a:cubicBezTo>
                  <a:pt x="558384" y="0"/>
                  <a:pt x="609600" y="51216"/>
                  <a:pt x="609600" y="114300"/>
                </a:cubicBezTo>
                <a:lnTo>
                  <a:pt x="609600" y="495300"/>
                </a:lnTo>
                <a:cubicBezTo>
                  <a:pt x="609600" y="558384"/>
                  <a:pt x="558384" y="609600"/>
                  <a:pt x="495300" y="609600"/>
                </a:cubicBezTo>
                <a:lnTo>
                  <a:pt x="114300" y="609600"/>
                </a:lnTo>
                <a:cubicBezTo>
                  <a:pt x="51216" y="609600"/>
                  <a:pt x="0" y="558384"/>
                  <a:pt x="0" y="495300"/>
                </a:cubicBezTo>
                <a:lnTo>
                  <a:pt x="0" y="114300"/>
                </a:lnTo>
                <a:cubicBezTo>
                  <a:pt x="0" y="51216"/>
                  <a:pt x="51216" y="0"/>
                  <a:pt x="114300" y="0"/>
                </a:cubicBezTo>
                <a:close/>
              </a:path>
            </a:pathLst>
          </a:custGeom>
          <a:solidFill>
            <a:srgbClr val="4A6C8C"/>
          </a:solidFill>
          <a:ln/>
        </p:spPr>
        <p:txBody>
          <a:bodyPr/>
          <a:lstStyle/>
          <a:p>
            <a:endParaRPr lang="en-GB"/>
          </a:p>
        </p:txBody>
      </p:sp>
      <p:sp>
        <p:nvSpPr>
          <p:cNvPr id="36" name="Shape 34"/>
          <p:cNvSpPr/>
          <p:nvPr/>
        </p:nvSpPr>
        <p:spPr>
          <a:xfrm>
            <a:off x="6757988" y="2990850"/>
            <a:ext cx="200025" cy="228600"/>
          </a:xfrm>
          <a:custGeom>
            <a:avLst/>
            <a:gdLst/>
            <a:ahLst/>
            <a:cxnLst/>
            <a:rect l="l" t="t" r="r" b="b"/>
            <a:pathLst>
              <a:path w="200025" h="228600">
                <a:moveTo>
                  <a:pt x="114300" y="71438"/>
                </a:moveTo>
                <a:lnTo>
                  <a:pt x="114300" y="114300"/>
                </a:lnTo>
                <a:lnTo>
                  <a:pt x="171450" y="114300"/>
                </a:lnTo>
                <a:lnTo>
                  <a:pt x="171450" y="71438"/>
                </a:lnTo>
                <a:lnTo>
                  <a:pt x="114300" y="71438"/>
                </a:lnTo>
                <a:close/>
                <a:moveTo>
                  <a:pt x="85725" y="71438"/>
                </a:moveTo>
                <a:lnTo>
                  <a:pt x="28575" y="71438"/>
                </a:lnTo>
                <a:lnTo>
                  <a:pt x="28575" y="114300"/>
                </a:lnTo>
                <a:lnTo>
                  <a:pt x="85725" y="114300"/>
                </a:lnTo>
                <a:lnTo>
                  <a:pt x="85725" y="71438"/>
                </a:lnTo>
                <a:close/>
                <a:moveTo>
                  <a:pt x="0" y="142875"/>
                </a:moveTo>
                <a:lnTo>
                  <a:pt x="0" y="42863"/>
                </a:lnTo>
                <a:cubicBezTo>
                  <a:pt x="0" y="27102"/>
                  <a:pt x="12814" y="14288"/>
                  <a:pt x="28575" y="14288"/>
                </a:cubicBezTo>
                <a:lnTo>
                  <a:pt x="171450" y="14288"/>
                </a:lnTo>
                <a:cubicBezTo>
                  <a:pt x="187211" y="14288"/>
                  <a:pt x="200025" y="27102"/>
                  <a:pt x="200025" y="42863"/>
                </a:cubicBezTo>
                <a:lnTo>
                  <a:pt x="200025" y="185738"/>
                </a:lnTo>
                <a:cubicBezTo>
                  <a:pt x="200025" y="201498"/>
                  <a:pt x="187211" y="214313"/>
                  <a:pt x="171450" y="214313"/>
                </a:cubicBezTo>
                <a:lnTo>
                  <a:pt x="28575" y="214313"/>
                </a:lnTo>
                <a:cubicBezTo>
                  <a:pt x="12814" y="214313"/>
                  <a:pt x="0" y="201498"/>
                  <a:pt x="0" y="185738"/>
                </a:cubicBezTo>
                <a:lnTo>
                  <a:pt x="0" y="142875"/>
                </a:lnTo>
                <a:close/>
                <a:moveTo>
                  <a:pt x="171450" y="142875"/>
                </a:moveTo>
                <a:lnTo>
                  <a:pt x="114300" y="142875"/>
                </a:lnTo>
                <a:lnTo>
                  <a:pt x="114300" y="185738"/>
                </a:lnTo>
                <a:lnTo>
                  <a:pt x="171450" y="185738"/>
                </a:lnTo>
                <a:lnTo>
                  <a:pt x="171450" y="142875"/>
                </a:lnTo>
                <a:close/>
                <a:moveTo>
                  <a:pt x="85725" y="185738"/>
                </a:moveTo>
                <a:lnTo>
                  <a:pt x="85725" y="142875"/>
                </a:lnTo>
                <a:lnTo>
                  <a:pt x="28575" y="142875"/>
                </a:lnTo>
                <a:lnTo>
                  <a:pt x="28575" y="185738"/>
                </a:lnTo>
                <a:lnTo>
                  <a:pt x="85725" y="185738"/>
                </a:lnTo>
                <a:close/>
              </a:path>
            </a:pathLst>
          </a:custGeom>
          <a:solidFill>
            <a:srgbClr val="EDF2F4"/>
          </a:solidFill>
          <a:ln/>
        </p:spPr>
        <p:txBody>
          <a:bodyPr/>
          <a:lstStyle/>
          <a:p>
            <a:endParaRPr lang="en-GB"/>
          </a:p>
        </p:txBody>
      </p:sp>
      <p:sp>
        <p:nvSpPr>
          <p:cNvPr id="37" name="Text 35"/>
          <p:cNvSpPr/>
          <p:nvPr/>
        </p:nvSpPr>
        <p:spPr>
          <a:xfrm>
            <a:off x="7315200" y="2857500"/>
            <a:ext cx="4219575" cy="266700"/>
          </a:xfrm>
          <a:prstGeom prst="rect">
            <a:avLst/>
          </a:prstGeom>
          <a:noFill/>
          <a:ln/>
        </p:spPr>
        <p:txBody>
          <a:bodyPr wrap="square" lIns="0" tIns="0" rIns="0" bIns="0" rtlCol="0" anchor="ctr"/>
          <a:lstStyle/>
          <a:p>
            <a:pPr>
              <a:lnSpc>
                <a:spcPct val="130000"/>
              </a:lnSpc>
            </a:pPr>
            <a:r>
              <a:rPr lang="en-US" sz="1350" b="1" dirty="0">
                <a:solidFill>
                  <a:srgbClr val="EDF2F4"/>
                </a:solidFill>
                <a:latin typeface="Quattrocento Sans" pitchFamily="34" charset="0"/>
                <a:ea typeface="Quattrocento Sans" pitchFamily="34" charset="-122"/>
                <a:cs typeface="Quattrocento Sans" pitchFamily="34" charset="-120"/>
              </a:rPr>
              <a:t>Tabular / Sensor Data</a:t>
            </a:r>
            <a:endParaRPr lang="en-US" sz="1600" dirty="0"/>
          </a:p>
        </p:txBody>
      </p:sp>
      <p:sp>
        <p:nvSpPr>
          <p:cNvPr id="38" name="Text 36"/>
          <p:cNvSpPr/>
          <p:nvPr/>
        </p:nvSpPr>
        <p:spPr>
          <a:xfrm>
            <a:off x="7315200" y="3162300"/>
            <a:ext cx="4200525" cy="190500"/>
          </a:xfrm>
          <a:prstGeom prst="rect">
            <a:avLst/>
          </a:prstGeom>
          <a:noFill/>
          <a:ln/>
        </p:spPr>
        <p:txBody>
          <a:bodyPr wrap="square" lIns="0" tIns="0" rIns="0" bIns="0" rtlCol="0" anchor="ctr"/>
          <a:lstStyle/>
          <a:p>
            <a:pPr>
              <a:lnSpc>
                <a:spcPct val="120000"/>
              </a:lnSpc>
            </a:pPr>
            <a:r>
              <a:rPr lang="en-US" sz="1050" dirty="0">
                <a:solidFill>
                  <a:srgbClr val="8D99AE"/>
                </a:solidFill>
                <a:latin typeface="Quattrocento Sans" pitchFamily="34" charset="0"/>
                <a:ea typeface="Quattrocento Sans" pitchFamily="34" charset="-122"/>
                <a:cs typeface="Quattrocento Sans" pitchFamily="34" charset="-120"/>
              </a:rPr>
              <a:t>Structured datasets, time-series, IoT sensor readings</a:t>
            </a:r>
            <a:endParaRPr lang="en-US" sz="1600" dirty="0"/>
          </a:p>
        </p:txBody>
      </p:sp>
      <p:sp>
        <p:nvSpPr>
          <p:cNvPr id="39" name="Shape 37"/>
          <p:cNvSpPr/>
          <p:nvPr/>
        </p:nvSpPr>
        <p:spPr>
          <a:xfrm>
            <a:off x="6400800" y="3676650"/>
            <a:ext cx="5200650" cy="914400"/>
          </a:xfrm>
          <a:custGeom>
            <a:avLst/>
            <a:gdLst/>
            <a:ahLst/>
            <a:cxnLst/>
            <a:rect l="l" t="t" r="r" b="b"/>
            <a:pathLst>
              <a:path w="5200650" h="914400">
                <a:moveTo>
                  <a:pt x="76197" y="0"/>
                </a:moveTo>
                <a:lnTo>
                  <a:pt x="5124453" y="0"/>
                </a:lnTo>
                <a:cubicBezTo>
                  <a:pt x="5166535" y="0"/>
                  <a:pt x="5200650" y="34115"/>
                  <a:pt x="5200650" y="76197"/>
                </a:cubicBezTo>
                <a:lnTo>
                  <a:pt x="5200650" y="838203"/>
                </a:lnTo>
                <a:cubicBezTo>
                  <a:pt x="5200650" y="880285"/>
                  <a:pt x="5166535" y="914400"/>
                  <a:pt x="5124453" y="914400"/>
                </a:cubicBezTo>
                <a:lnTo>
                  <a:pt x="76197" y="914400"/>
                </a:lnTo>
                <a:cubicBezTo>
                  <a:pt x="34115" y="914400"/>
                  <a:pt x="0" y="880285"/>
                  <a:pt x="0" y="838203"/>
                </a:cubicBezTo>
                <a:lnTo>
                  <a:pt x="0" y="76197"/>
                </a:lnTo>
                <a:cubicBezTo>
                  <a:pt x="0" y="34143"/>
                  <a:pt x="34143" y="0"/>
                  <a:pt x="76197" y="0"/>
                </a:cubicBezTo>
                <a:close/>
              </a:path>
            </a:pathLst>
          </a:custGeom>
          <a:solidFill>
            <a:srgbClr val="1A1D24">
              <a:alpha val="50196"/>
            </a:srgbClr>
          </a:solidFill>
          <a:ln/>
        </p:spPr>
        <p:txBody>
          <a:bodyPr/>
          <a:lstStyle/>
          <a:p>
            <a:endParaRPr lang="en-GB"/>
          </a:p>
        </p:txBody>
      </p:sp>
      <p:sp>
        <p:nvSpPr>
          <p:cNvPr id="40" name="Shape 38"/>
          <p:cNvSpPr/>
          <p:nvPr/>
        </p:nvSpPr>
        <p:spPr>
          <a:xfrm>
            <a:off x="6553200" y="3829050"/>
            <a:ext cx="609600" cy="609600"/>
          </a:xfrm>
          <a:custGeom>
            <a:avLst/>
            <a:gdLst/>
            <a:ahLst/>
            <a:cxnLst/>
            <a:rect l="l" t="t" r="r" b="b"/>
            <a:pathLst>
              <a:path w="609600" h="609600">
                <a:moveTo>
                  <a:pt x="114300" y="0"/>
                </a:moveTo>
                <a:lnTo>
                  <a:pt x="495300" y="0"/>
                </a:lnTo>
                <a:cubicBezTo>
                  <a:pt x="558384" y="0"/>
                  <a:pt x="609600" y="51216"/>
                  <a:pt x="609600" y="114300"/>
                </a:cubicBezTo>
                <a:lnTo>
                  <a:pt x="609600" y="495300"/>
                </a:lnTo>
                <a:cubicBezTo>
                  <a:pt x="609600" y="558384"/>
                  <a:pt x="558384" y="609600"/>
                  <a:pt x="495300" y="609600"/>
                </a:cubicBezTo>
                <a:lnTo>
                  <a:pt x="114300" y="609600"/>
                </a:lnTo>
                <a:cubicBezTo>
                  <a:pt x="51216" y="609600"/>
                  <a:pt x="0" y="558384"/>
                  <a:pt x="0" y="495300"/>
                </a:cubicBezTo>
                <a:lnTo>
                  <a:pt x="0" y="114300"/>
                </a:lnTo>
                <a:cubicBezTo>
                  <a:pt x="0" y="51216"/>
                  <a:pt x="51216" y="0"/>
                  <a:pt x="114300" y="0"/>
                </a:cubicBezTo>
                <a:close/>
              </a:path>
            </a:pathLst>
          </a:custGeom>
          <a:solidFill>
            <a:srgbClr val="C9A86A"/>
          </a:solidFill>
          <a:ln/>
        </p:spPr>
        <p:txBody>
          <a:bodyPr/>
          <a:lstStyle/>
          <a:p>
            <a:endParaRPr lang="en-GB"/>
          </a:p>
        </p:txBody>
      </p:sp>
      <p:sp>
        <p:nvSpPr>
          <p:cNvPr id="41" name="Shape 39"/>
          <p:cNvSpPr/>
          <p:nvPr/>
        </p:nvSpPr>
        <p:spPr>
          <a:xfrm>
            <a:off x="6757988" y="4019550"/>
            <a:ext cx="200025" cy="228600"/>
          </a:xfrm>
          <a:custGeom>
            <a:avLst/>
            <a:gdLst/>
            <a:ahLst/>
            <a:cxnLst/>
            <a:rect l="l" t="t" r="r" b="b"/>
            <a:pathLst>
              <a:path w="200025" h="228600">
                <a:moveTo>
                  <a:pt x="28575" y="14288"/>
                </a:moveTo>
                <a:cubicBezTo>
                  <a:pt x="12814" y="14288"/>
                  <a:pt x="0" y="27102"/>
                  <a:pt x="0" y="42863"/>
                </a:cubicBezTo>
                <a:lnTo>
                  <a:pt x="0" y="185738"/>
                </a:lnTo>
                <a:cubicBezTo>
                  <a:pt x="0" y="201498"/>
                  <a:pt x="12814" y="214313"/>
                  <a:pt x="28575" y="214313"/>
                </a:cubicBezTo>
                <a:lnTo>
                  <a:pt x="171450" y="214313"/>
                </a:lnTo>
                <a:cubicBezTo>
                  <a:pt x="187211" y="214313"/>
                  <a:pt x="200025" y="201498"/>
                  <a:pt x="200025" y="185738"/>
                </a:cubicBezTo>
                <a:lnTo>
                  <a:pt x="200025" y="42863"/>
                </a:lnTo>
                <a:cubicBezTo>
                  <a:pt x="200025" y="27102"/>
                  <a:pt x="187211" y="14288"/>
                  <a:pt x="171450" y="14288"/>
                </a:cubicBezTo>
                <a:lnTo>
                  <a:pt x="28575" y="14288"/>
                </a:lnTo>
                <a:close/>
                <a:moveTo>
                  <a:pt x="57150" y="50006"/>
                </a:moveTo>
                <a:cubicBezTo>
                  <a:pt x="68978" y="50006"/>
                  <a:pt x="78581" y="59609"/>
                  <a:pt x="78581" y="71438"/>
                </a:cubicBezTo>
                <a:cubicBezTo>
                  <a:pt x="78581" y="83266"/>
                  <a:pt x="68978" y="92869"/>
                  <a:pt x="57150" y="92869"/>
                </a:cubicBezTo>
                <a:cubicBezTo>
                  <a:pt x="45322" y="92869"/>
                  <a:pt x="35719" y="83266"/>
                  <a:pt x="35719" y="71438"/>
                </a:cubicBezTo>
                <a:cubicBezTo>
                  <a:pt x="35719" y="59609"/>
                  <a:pt x="45322" y="50006"/>
                  <a:pt x="57150" y="50006"/>
                </a:cubicBezTo>
                <a:close/>
                <a:moveTo>
                  <a:pt x="121444" y="100013"/>
                </a:moveTo>
                <a:cubicBezTo>
                  <a:pt x="125194" y="100013"/>
                  <a:pt x="128632" y="101977"/>
                  <a:pt x="130597" y="105147"/>
                </a:cubicBezTo>
                <a:lnTo>
                  <a:pt x="169887" y="169441"/>
                </a:lnTo>
                <a:cubicBezTo>
                  <a:pt x="171896" y="172745"/>
                  <a:pt x="171986" y="176897"/>
                  <a:pt x="170111" y="180290"/>
                </a:cubicBezTo>
                <a:cubicBezTo>
                  <a:pt x="168235" y="183684"/>
                  <a:pt x="164619" y="185738"/>
                  <a:pt x="160734" y="185738"/>
                </a:cubicBezTo>
                <a:lnTo>
                  <a:pt x="39291" y="185738"/>
                </a:lnTo>
                <a:cubicBezTo>
                  <a:pt x="35317" y="185738"/>
                  <a:pt x="31611" y="183505"/>
                  <a:pt x="29781" y="179978"/>
                </a:cubicBezTo>
                <a:cubicBezTo>
                  <a:pt x="27950" y="176451"/>
                  <a:pt x="28218" y="172164"/>
                  <a:pt x="30495" y="168905"/>
                </a:cubicBezTo>
                <a:lnTo>
                  <a:pt x="55498" y="133186"/>
                </a:lnTo>
                <a:cubicBezTo>
                  <a:pt x="57507" y="130329"/>
                  <a:pt x="60767" y="128632"/>
                  <a:pt x="64294" y="128632"/>
                </a:cubicBezTo>
                <a:cubicBezTo>
                  <a:pt x="67821" y="128632"/>
                  <a:pt x="71080" y="130329"/>
                  <a:pt x="73089" y="133186"/>
                </a:cubicBezTo>
                <a:lnTo>
                  <a:pt x="84877" y="150063"/>
                </a:lnTo>
                <a:lnTo>
                  <a:pt x="112291" y="105192"/>
                </a:lnTo>
                <a:cubicBezTo>
                  <a:pt x="114255" y="102022"/>
                  <a:pt x="117693" y="100057"/>
                  <a:pt x="121444" y="100057"/>
                </a:cubicBezTo>
                <a:close/>
              </a:path>
            </a:pathLst>
          </a:custGeom>
          <a:solidFill>
            <a:srgbClr val="1A1D24"/>
          </a:solidFill>
          <a:ln/>
        </p:spPr>
        <p:txBody>
          <a:bodyPr/>
          <a:lstStyle/>
          <a:p>
            <a:endParaRPr lang="en-GB"/>
          </a:p>
        </p:txBody>
      </p:sp>
      <p:sp>
        <p:nvSpPr>
          <p:cNvPr id="42" name="Text 40"/>
          <p:cNvSpPr/>
          <p:nvPr/>
        </p:nvSpPr>
        <p:spPr>
          <a:xfrm>
            <a:off x="7315200" y="3886200"/>
            <a:ext cx="4219575" cy="266700"/>
          </a:xfrm>
          <a:prstGeom prst="rect">
            <a:avLst/>
          </a:prstGeom>
          <a:noFill/>
          <a:ln/>
        </p:spPr>
        <p:txBody>
          <a:bodyPr wrap="square" lIns="0" tIns="0" rIns="0" bIns="0" rtlCol="0" anchor="ctr"/>
          <a:lstStyle/>
          <a:p>
            <a:pPr>
              <a:lnSpc>
                <a:spcPct val="130000"/>
              </a:lnSpc>
            </a:pPr>
            <a:r>
              <a:rPr lang="en-US" sz="1350" b="1" dirty="0">
                <a:solidFill>
                  <a:srgbClr val="EDF2F4"/>
                </a:solidFill>
                <a:latin typeface="Quattrocento Sans" pitchFamily="34" charset="0"/>
                <a:ea typeface="Quattrocento Sans" pitchFamily="34" charset="-122"/>
                <a:cs typeface="Quattrocento Sans" pitchFamily="34" charset="-120"/>
              </a:rPr>
              <a:t>Image Classification</a:t>
            </a:r>
            <a:endParaRPr lang="en-US" sz="1600" dirty="0"/>
          </a:p>
        </p:txBody>
      </p:sp>
      <p:sp>
        <p:nvSpPr>
          <p:cNvPr id="43" name="Text 41"/>
          <p:cNvSpPr/>
          <p:nvPr/>
        </p:nvSpPr>
        <p:spPr>
          <a:xfrm>
            <a:off x="7315200" y="4191000"/>
            <a:ext cx="4200525" cy="190500"/>
          </a:xfrm>
          <a:prstGeom prst="rect">
            <a:avLst/>
          </a:prstGeom>
          <a:noFill/>
          <a:ln/>
        </p:spPr>
        <p:txBody>
          <a:bodyPr wrap="square" lIns="0" tIns="0" rIns="0" bIns="0" rtlCol="0" anchor="ctr"/>
          <a:lstStyle/>
          <a:p>
            <a:pPr>
              <a:lnSpc>
                <a:spcPct val="120000"/>
              </a:lnSpc>
            </a:pPr>
            <a:r>
              <a:rPr lang="en-US" sz="1050" dirty="0">
                <a:solidFill>
                  <a:srgbClr val="8D99AE"/>
                </a:solidFill>
                <a:latin typeface="Quattrocento Sans" pitchFamily="34" charset="0"/>
                <a:ea typeface="Quattrocento Sans" pitchFamily="34" charset="-122"/>
                <a:cs typeface="Quattrocento Sans" pitchFamily="34" charset="-120"/>
              </a:rPr>
              <a:t>Computer vision datasets, medical imaging, object recognition</a:t>
            </a:r>
            <a:endParaRPr lang="en-US" sz="1600" dirty="0"/>
          </a:p>
        </p:txBody>
      </p:sp>
      <p:sp>
        <p:nvSpPr>
          <p:cNvPr id="44" name="Shape 42"/>
          <p:cNvSpPr/>
          <p:nvPr/>
        </p:nvSpPr>
        <p:spPr>
          <a:xfrm>
            <a:off x="6400800" y="4705350"/>
            <a:ext cx="5200650" cy="914400"/>
          </a:xfrm>
          <a:custGeom>
            <a:avLst/>
            <a:gdLst/>
            <a:ahLst/>
            <a:cxnLst/>
            <a:rect l="l" t="t" r="r" b="b"/>
            <a:pathLst>
              <a:path w="5200650" h="914400">
                <a:moveTo>
                  <a:pt x="76197" y="0"/>
                </a:moveTo>
                <a:lnTo>
                  <a:pt x="5124453" y="0"/>
                </a:lnTo>
                <a:cubicBezTo>
                  <a:pt x="5166535" y="0"/>
                  <a:pt x="5200650" y="34115"/>
                  <a:pt x="5200650" y="76197"/>
                </a:cubicBezTo>
                <a:lnTo>
                  <a:pt x="5200650" y="838203"/>
                </a:lnTo>
                <a:cubicBezTo>
                  <a:pt x="5200650" y="880285"/>
                  <a:pt x="5166535" y="914400"/>
                  <a:pt x="5124453" y="914400"/>
                </a:cubicBezTo>
                <a:lnTo>
                  <a:pt x="76197" y="914400"/>
                </a:lnTo>
                <a:cubicBezTo>
                  <a:pt x="34115" y="914400"/>
                  <a:pt x="0" y="880285"/>
                  <a:pt x="0" y="838203"/>
                </a:cubicBezTo>
                <a:lnTo>
                  <a:pt x="0" y="76197"/>
                </a:lnTo>
                <a:cubicBezTo>
                  <a:pt x="0" y="34143"/>
                  <a:pt x="34143" y="0"/>
                  <a:pt x="76197" y="0"/>
                </a:cubicBezTo>
                <a:close/>
              </a:path>
            </a:pathLst>
          </a:custGeom>
          <a:solidFill>
            <a:srgbClr val="1A1D24">
              <a:alpha val="50196"/>
            </a:srgbClr>
          </a:solidFill>
          <a:ln/>
        </p:spPr>
        <p:txBody>
          <a:bodyPr/>
          <a:lstStyle/>
          <a:p>
            <a:endParaRPr lang="en-GB"/>
          </a:p>
        </p:txBody>
      </p:sp>
      <p:sp>
        <p:nvSpPr>
          <p:cNvPr id="45" name="Shape 43"/>
          <p:cNvSpPr/>
          <p:nvPr/>
        </p:nvSpPr>
        <p:spPr>
          <a:xfrm>
            <a:off x="6553200" y="4857750"/>
            <a:ext cx="609600" cy="609600"/>
          </a:xfrm>
          <a:custGeom>
            <a:avLst/>
            <a:gdLst/>
            <a:ahLst/>
            <a:cxnLst/>
            <a:rect l="l" t="t" r="r" b="b"/>
            <a:pathLst>
              <a:path w="609600" h="609600">
                <a:moveTo>
                  <a:pt x="114300" y="0"/>
                </a:moveTo>
                <a:lnTo>
                  <a:pt x="495300" y="0"/>
                </a:lnTo>
                <a:cubicBezTo>
                  <a:pt x="558384" y="0"/>
                  <a:pt x="609600" y="51216"/>
                  <a:pt x="609600" y="114300"/>
                </a:cubicBezTo>
                <a:lnTo>
                  <a:pt x="609600" y="495300"/>
                </a:lnTo>
                <a:cubicBezTo>
                  <a:pt x="609600" y="558384"/>
                  <a:pt x="558384" y="609600"/>
                  <a:pt x="495300" y="609600"/>
                </a:cubicBezTo>
                <a:lnTo>
                  <a:pt x="114300" y="609600"/>
                </a:lnTo>
                <a:cubicBezTo>
                  <a:pt x="51216" y="609600"/>
                  <a:pt x="0" y="558384"/>
                  <a:pt x="0" y="495300"/>
                </a:cubicBezTo>
                <a:lnTo>
                  <a:pt x="0" y="114300"/>
                </a:lnTo>
                <a:cubicBezTo>
                  <a:pt x="0" y="51216"/>
                  <a:pt x="51216" y="0"/>
                  <a:pt x="114300" y="0"/>
                </a:cubicBezTo>
                <a:close/>
              </a:path>
            </a:pathLst>
          </a:custGeom>
          <a:solidFill>
            <a:srgbClr val="4A6C8C"/>
          </a:solidFill>
          <a:ln/>
        </p:spPr>
        <p:txBody>
          <a:bodyPr/>
          <a:lstStyle/>
          <a:p>
            <a:endParaRPr lang="en-GB"/>
          </a:p>
        </p:txBody>
      </p:sp>
      <p:sp>
        <p:nvSpPr>
          <p:cNvPr id="46" name="Shape 44"/>
          <p:cNvSpPr/>
          <p:nvPr/>
        </p:nvSpPr>
        <p:spPr>
          <a:xfrm>
            <a:off x="6743700" y="5048250"/>
            <a:ext cx="228600" cy="228600"/>
          </a:xfrm>
          <a:custGeom>
            <a:avLst/>
            <a:gdLst/>
            <a:ahLst/>
            <a:cxnLst/>
            <a:rect l="l" t="t" r="r" b="b"/>
            <a:pathLst>
              <a:path w="228600" h="228600">
                <a:moveTo>
                  <a:pt x="208955" y="3125"/>
                </a:moveTo>
                <a:cubicBezTo>
                  <a:pt x="212348" y="5849"/>
                  <a:pt x="214313" y="9957"/>
                  <a:pt x="214313" y="14288"/>
                </a:cubicBezTo>
                <a:lnTo>
                  <a:pt x="214313" y="150019"/>
                </a:lnTo>
                <a:cubicBezTo>
                  <a:pt x="214313" y="169753"/>
                  <a:pt x="195114" y="185738"/>
                  <a:pt x="171450" y="185738"/>
                </a:cubicBezTo>
                <a:cubicBezTo>
                  <a:pt x="147786" y="185738"/>
                  <a:pt x="128588" y="169753"/>
                  <a:pt x="128588" y="150019"/>
                </a:cubicBezTo>
                <a:cubicBezTo>
                  <a:pt x="128588" y="130284"/>
                  <a:pt x="147786" y="114300"/>
                  <a:pt x="171450" y="114300"/>
                </a:cubicBezTo>
                <a:cubicBezTo>
                  <a:pt x="176451" y="114300"/>
                  <a:pt x="181273" y="115014"/>
                  <a:pt x="185738" y="116354"/>
                </a:cubicBezTo>
                <a:lnTo>
                  <a:pt x="185738" y="64249"/>
                </a:lnTo>
                <a:lnTo>
                  <a:pt x="85725" y="86484"/>
                </a:lnTo>
                <a:lnTo>
                  <a:pt x="85725" y="178594"/>
                </a:lnTo>
                <a:cubicBezTo>
                  <a:pt x="85725" y="198328"/>
                  <a:pt x="66526" y="214313"/>
                  <a:pt x="42863" y="214313"/>
                </a:cubicBezTo>
                <a:cubicBezTo>
                  <a:pt x="19199" y="214313"/>
                  <a:pt x="0" y="198328"/>
                  <a:pt x="0" y="178594"/>
                </a:cubicBezTo>
                <a:cubicBezTo>
                  <a:pt x="0" y="158859"/>
                  <a:pt x="19199" y="142875"/>
                  <a:pt x="42863" y="142875"/>
                </a:cubicBezTo>
                <a:cubicBezTo>
                  <a:pt x="47863" y="142875"/>
                  <a:pt x="52685" y="143589"/>
                  <a:pt x="57150" y="144929"/>
                </a:cubicBezTo>
                <a:lnTo>
                  <a:pt x="57150" y="42863"/>
                </a:lnTo>
                <a:cubicBezTo>
                  <a:pt x="57150" y="36165"/>
                  <a:pt x="61793" y="30361"/>
                  <a:pt x="68357" y="28932"/>
                </a:cubicBezTo>
                <a:lnTo>
                  <a:pt x="196944" y="357"/>
                </a:lnTo>
                <a:cubicBezTo>
                  <a:pt x="201186" y="-580"/>
                  <a:pt x="205606" y="446"/>
                  <a:pt x="208999" y="3170"/>
                </a:cubicBezTo>
                <a:close/>
              </a:path>
            </a:pathLst>
          </a:custGeom>
          <a:solidFill>
            <a:srgbClr val="EDF2F4"/>
          </a:solidFill>
          <a:ln/>
        </p:spPr>
        <p:txBody>
          <a:bodyPr/>
          <a:lstStyle/>
          <a:p>
            <a:endParaRPr lang="en-GB"/>
          </a:p>
        </p:txBody>
      </p:sp>
      <p:sp>
        <p:nvSpPr>
          <p:cNvPr id="47" name="Text 45"/>
          <p:cNvSpPr/>
          <p:nvPr/>
        </p:nvSpPr>
        <p:spPr>
          <a:xfrm>
            <a:off x="7315200" y="4914900"/>
            <a:ext cx="4219575" cy="266700"/>
          </a:xfrm>
          <a:prstGeom prst="rect">
            <a:avLst/>
          </a:prstGeom>
          <a:noFill/>
          <a:ln/>
        </p:spPr>
        <p:txBody>
          <a:bodyPr wrap="square" lIns="0" tIns="0" rIns="0" bIns="0" rtlCol="0" anchor="ctr"/>
          <a:lstStyle/>
          <a:p>
            <a:pPr>
              <a:lnSpc>
                <a:spcPct val="130000"/>
              </a:lnSpc>
            </a:pPr>
            <a:r>
              <a:rPr lang="en-US" sz="1350" b="1" dirty="0">
                <a:solidFill>
                  <a:srgbClr val="EDF2F4"/>
                </a:solidFill>
                <a:latin typeface="Quattrocento Sans" pitchFamily="34" charset="0"/>
                <a:ea typeface="Quattrocento Sans" pitchFamily="34" charset="-122"/>
                <a:cs typeface="Quattrocento Sans" pitchFamily="34" charset="-120"/>
              </a:rPr>
              <a:t>Audio Classification</a:t>
            </a:r>
            <a:endParaRPr lang="en-US" sz="1600" dirty="0"/>
          </a:p>
        </p:txBody>
      </p:sp>
      <p:sp>
        <p:nvSpPr>
          <p:cNvPr id="48" name="Text 46"/>
          <p:cNvSpPr/>
          <p:nvPr/>
        </p:nvSpPr>
        <p:spPr>
          <a:xfrm>
            <a:off x="7315200" y="5219700"/>
            <a:ext cx="4200525" cy="190500"/>
          </a:xfrm>
          <a:prstGeom prst="rect">
            <a:avLst/>
          </a:prstGeom>
          <a:noFill/>
          <a:ln/>
        </p:spPr>
        <p:txBody>
          <a:bodyPr wrap="square" lIns="0" tIns="0" rIns="0" bIns="0" rtlCol="0" anchor="ctr"/>
          <a:lstStyle/>
          <a:p>
            <a:pPr>
              <a:lnSpc>
                <a:spcPct val="120000"/>
              </a:lnSpc>
            </a:pPr>
            <a:r>
              <a:rPr lang="en-US" sz="1050" dirty="0">
                <a:solidFill>
                  <a:srgbClr val="8D99AE"/>
                </a:solidFill>
                <a:latin typeface="Quattrocento Sans" pitchFamily="34" charset="0"/>
                <a:ea typeface="Quattrocento Sans" pitchFamily="34" charset="-122"/>
                <a:cs typeface="Quattrocento Sans" pitchFamily="34" charset="-120"/>
              </a:rPr>
              <a:t>Speech recognition, sound classification, music analysis</a:t>
            </a:r>
            <a:endParaRPr lang="en-US" sz="1600" dirty="0"/>
          </a:p>
        </p:txBody>
      </p:sp>
    </p:spTree>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A1D24"/>
        </a:solidFill>
        <a:effectLst/>
      </p:bgPr>
    </p:bg>
    <p:spTree>
      <p:nvGrpSpPr>
        <p:cNvPr id="1" name=""/>
        <p:cNvGrpSpPr/>
        <p:nvPr/>
      </p:nvGrpSpPr>
      <p:grpSpPr>
        <a:xfrm>
          <a:off x="0" y="0"/>
          <a:ext cx="0" cy="0"/>
          <a:chOff x="0" y="0"/>
          <a:chExt cx="0" cy="0"/>
        </a:xfrm>
      </p:grpSpPr>
      <p:sp>
        <p:nvSpPr>
          <p:cNvPr id="2" name="Text 0"/>
          <p:cNvSpPr/>
          <p:nvPr/>
        </p:nvSpPr>
        <p:spPr>
          <a:xfrm>
            <a:off x="381000" y="381000"/>
            <a:ext cx="11506200" cy="228600"/>
          </a:xfrm>
          <a:prstGeom prst="rect">
            <a:avLst/>
          </a:prstGeom>
          <a:noFill/>
          <a:ln/>
        </p:spPr>
        <p:txBody>
          <a:bodyPr wrap="square" lIns="0" tIns="0" rIns="0" bIns="0" rtlCol="0" anchor="ctr"/>
          <a:lstStyle/>
          <a:p>
            <a:pPr>
              <a:lnSpc>
                <a:spcPct val="130000"/>
              </a:lnSpc>
            </a:pPr>
            <a:r>
              <a:rPr lang="en-US" sz="1200" b="1" kern="0" spc="120" dirty="0">
                <a:solidFill>
                  <a:srgbClr val="C9A86A"/>
                </a:solidFill>
                <a:latin typeface="Quattrocento Sans" pitchFamily="34" charset="0"/>
                <a:ea typeface="Quattrocento Sans" pitchFamily="34" charset="-122"/>
                <a:cs typeface="Quattrocento Sans" pitchFamily="34" charset="-120"/>
              </a:rPr>
              <a:t>Project 1 Architecture</a:t>
            </a:r>
            <a:endParaRPr lang="en-US" sz="1600" dirty="0"/>
          </a:p>
        </p:txBody>
      </p:sp>
      <p:sp>
        <p:nvSpPr>
          <p:cNvPr id="3" name="Text 1"/>
          <p:cNvSpPr/>
          <p:nvPr/>
        </p:nvSpPr>
        <p:spPr>
          <a:xfrm>
            <a:off x="381000" y="685800"/>
            <a:ext cx="11601450" cy="381000"/>
          </a:xfrm>
          <a:prstGeom prst="rect">
            <a:avLst/>
          </a:prstGeom>
          <a:noFill/>
          <a:ln/>
        </p:spPr>
        <p:txBody>
          <a:bodyPr wrap="square" lIns="0" tIns="0" rIns="0" bIns="0" rtlCol="0" anchor="ctr"/>
          <a:lstStyle/>
          <a:p>
            <a:pPr>
              <a:lnSpc>
                <a:spcPct val="90000"/>
              </a:lnSpc>
            </a:pPr>
            <a:r>
              <a:rPr lang="en-US" sz="2700" b="1" dirty="0">
                <a:solidFill>
                  <a:srgbClr val="EDF2F4"/>
                </a:solidFill>
                <a:latin typeface="Liter" pitchFamily="34" charset="0"/>
                <a:ea typeface="Liter" pitchFamily="34" charset="-122"/>
                <a:cs typeface="Liter" pitchFamily="34" charset="-120"/>
              </a:rPr>
              <a:t>Agent Perspective: Inputs and Outputs</a:t>
            </a:r>
            <a:endParaRPr lang="en-US" sz="1600" dirty="0"/>
          </a:p>
        </p:txBody>
      </p:sp>
      <p:sp>
        <p:nvSpPr>
          <p:cNvPr id="4" name="Shape 2"/>
          <p:cNvSpPr/>
          <p:nvPr/>
        </p:nvSpPr>
        <p:spPr>
          <a:xfrm>
            <a:off x="381000" y="1181100"/>
            <a:ext cx="914400" cy="38100"/>
          </a:xfrm>
          <a:custGeom>
            <a:avLst/>
            <a:gdLst/>
            <a:ahLst/>
            <a:cxnLst/>
            <a:rect l="l" t="t" r="r" b="b"/>
            <a:pathLst>
              <a:path w="914400" h="38100">
                <a:moveTo>
                  <a:pt x="0" y="0"/>
                </a:moveTo>
                <a:lnTo>
                  <a:pt x="914400" y="0"/>
                </a:lnTo>
                <a:lnTo>
                  <a:pt x="914400" y="38100"/>
                </a:lnTo>
                <a:lnTo>
                  <a:pt x="0" y="38100"/>
                </a:lnTo>
                <a:lnTo>
                  <a:pt x="0" y="0"/>
                </a:lnTo>
                <a:close/>
              </a:path>
            </a:pathLst>
          </a:custGeom>
          <a:solidFill>
            <a:srgbClr val="C9A86A"/>
          </a:solidFill>
          <a:ln/>
        </p:spPr>
        <p:txBody>
          <a:bodyPr/>
          <a:lstStyle/>
          <a:p>
            <a:endParaRPr lang="en-GB"/>
          </a:p>
        </p:txBody>
      </p:sp>
      <p:sp>
        <p:nvSpPr>
          <p:cNvPr id="5" name="Shape 3"/>
          <p:cNvSpPr/>
          <p:nvPr/>
        </p:nvSpPr>
        <p:spPr>
          <a:xfrm>
            <a:off x="390525" y="1419225"/>
            <a:ext cx="3667125" cy="4438650"/>
          </a:xfrm>
          <a:custGeom>
            <a:avLst/>
            <a:gdLst/>
            <a:ahLst/>
            <a:cxnLst/>
            <a:rect l="l" t="t" r="r" b="b"/>
            <a:pathLst>
              <a:path w="3667125" h="4438650">
                <a:moveTo>
                  <a:pt x="114304" y="0"/>
                </a:moveTo>
                <a:lnTo>
                  <a:pt x="3552821" y="0"/>
                </a:lnTo>
                <a:cubicBezTo>
                  <a:pt x="3615949" y="0"/>
                  <a:pt x="3667125" y="51176"/>
                  <a:pt x="3667125" y="114304"/>
                </a:cubicBezTo>
                <a:lnTo>
                  <a:pt x="3667125" y="4324346"/>
                </a:lnTo>
                <a:cubicBezTo>
                  <a:pt x="3667125" y="4387474"/>
                  <a:pt x="3615949" y="4438650"/>
                  <a:pt x="3552821" y="4438650"/>
                </a:cubicBezTo>
                <a:lnTo>
                  <a:pt x="114304" y="4438650"/>
                </a:lnTo>
                <a:cubicBezTo>
                  <a:pt x="51176" y="4438650"/>
                  <a:pt x="0" y="4387474"/>
                  <a:pt x="0" y="4324346"/>
                </a:cubicBezTo>
                <a:lnTo>
                  <a:pt x="0" y="114304"/>
                </a:lnTo>
                <a:cubicBezTo>
                  <a:pt x="0" y="51176"/>
                  <a:pt x="51176" y="0"/>
                  <a:pt x="114304" y="0"/>
                </a:cubicBezTo>
                <a:close/>
              </a:path>
            </a:pathLst>
          </a:custGeom>
          <a:gradFill flip="none" rotWithShape="1">
            <a:gsLst>
              <a:gs pos="0">
                <a:srgbClr val="4A6C8C">
                  <a:alpha val="30000"/>
                </a:srgbClr>
              </a:gs>
              <a:gs pos="100000">
                <a:srgbClr val="4A6C8C">
                  <a:alpha val="10000"/>
                </a:srgbClr>
              </a:gs>
            </a:gsLst>
            <a:lin ang="5400000" scaled="1"/>
          </a:gradFill>
          <a:ln w="25400">
            <a:solidFill>
              <a:srgbClr val="4A6C8C"/>
            </a:solidFill>
            <a:prstDash val="solid"/>
          </a:ln>
        </p:spPr>
        <p:txBody>
          <a:bodyPr/>
          <a:lstStyle/>
          <a:p>
            <a:endParaRPr lang="en-GB"/>
          </a:p>
        </p:txBody>
      </p:sp>
      <p:sp>
        <p:nvSpPr>
          <p:cNvPr id="6" name="Shape 4"/>
          <p:cNvSpPr/>
          <p:nvPr/>
        </p:nvSpPr>
        <p:spPr>
          <a:xfrm>
            <a:off x="590550" y="1657350"/>
            <a:ext cx="457200" cy="457200"/>
          </a:xfrm>
          <a:custGeom>
            <a:avLst/>
            <a:gdLst/>
            <a:ahLst/>
            <a:cxnLst/>
            <a:rect l="l" t="t" r="r" b="b"/>
            <a:pathLst>
              <a:path w="457200" h="457200">
                <a:moveTo>
                  <a:pt x="228600" y="0"/>
                </a:moveTo>
                <a:lnTo>
                  <a:pt x="228600" y="0"/>
                </a:lnTo>
                <a:cubicBezTo>
                  <a:pt x="354768" y="0"/>
                  <a:pt x="457200" y="102432"/>
                  <a:pt x="457200" y="228600"/>
                </a:cubicBezTo>
                <a:lnTo>
                  <a:pt x="457200" y="228600"/>
                </a:lnTo>
                <a:cubicBezTo>
                  <a:pt x="457200" y="354768"/>
                  <a:pt x="354768" y="457200"/>
                  <a:pt x="228600" y="457200"/>
                </a:cubicBezTo>
                <a:lnTo>
                  <a:pt x="228600" y="457200"/>
                </a:lnTo>
                <a:cubicBezTo>
                  <a:pt x="102432" y="457200"/>
                  <a:pt x="0" y="354768"/>
                  <a:pt x="0" y="228600"/>
                </a:cubicBezTo>
                <a:lnTo>
                  <a:pt x="0" y="228600"/>
                </a:lnTo>
                <a:cubicBezTo>
                  <a:pt x="0" y="102432"/>
                  <a:pt x="102432" y="0"/>
                  <a:pt x="228600" y="0"/>
                </a:cubicBezTo>
                <a:close/>
              </a:path>
            </a:pathLst>
          </a:custGeom>
          <a:solidFill>
            <a:srgbClr val="4A6C8C"/>
          </a:solidFill>
          <a:ln/>
        </p:spPr>
        <p:txBody>
          <a:bodyPr/>
          <a:lstStyle/>
          <a:p>
            <a:endParaRPr lang="en-GB"/>
          </a:p>
        </p:txBody>
      </p:sp>
      <p:sp>
        <p:nvSpPr>
          <p:cNvPr id="7" name="Shape 5"/>
          <p:cNvSpPr/>
          <p:nvPr/>
        </p:nvSpPr>
        <p:spPr>
          <a:xfrm>
            <a:off x="723900" y="1790700"/>
            <a:ext cx="190500" cy="190500"/>
          </a:xfrm>
          <a:custGeom>
            <a:avLst/>
            <a:gdLst/>
            <a:ahLst/>
            <a:cxnLst/>
            <a:rect l="l" t="t" r="r" b="b"/>
            <a:pathLst>
              <a:path w="190500" h="190500">
                <a:moveTo>
                  <a:pt x="86320" y="0"/>
                </a:moveTo>
                <a:cubicBezTo>
                  <a:pt x="143842" y="0"/>
                  <a:pt x="190500" y="46658"/>
                  <a:pt x="190500" y="104180"/>
                </a:cubicBezTo>
                <a:cubicBezTo>
                  <a:pt x="190500" y="109128"/>
                  <a:pt x="186519" y="113109"/>
                  <a:pt x="181570" y="113109"/>
                </a:cubicBezTo>
                <a:cubicBezTo>
                  <a:pt x="176622" y="113109"/>
                  <a:pt x="172641" y="109128"/>
                  <a:pt x="172641" y="104180"/>
                </a:cubicBezTo>
                <a:cubicBezTo>
                  <a:pt x="172641" y="56517"/>
                  <a:pt x="133983" y="17859"/>
                  <a:pt x="86320" y="17859"/>
                </a:cubicBezTo>
                <a:cubicBezTo>
                  <a:pt x="81372" y="17859"/>
                  <a:pt x="77391" y="13878"/>
                  <a:pt x="77391" y="8930"/>
                </a:cubicBezTo>
                <a:cubicBezTo>
                  <a:pt x="77391" y="3981"/>
                  <a:pt x="81372" y="0"/>
                  <a:pt x="86320" y="0"/>
                </a:cubicBezTo>
                <a:close/>
                <a:moveTo>
                  <a:pt x="77391" y="44648"/>
                </a:moveTo>
                <a:cubicBezTo>
                  <a:pt x="77391" y="39700"/>
                  <a:pt x="81372" y="35719"/>
                  <a:pt x="86320" y="35719"/>
                </a:cubicBezTo>
                <a:cubicBezTo>
                  <a:pt x="124123" y="35719"/>
                  <a:pt x="154781" y="66377"/>
                  <a:pt x="154781" y="104180"/>
                </a:cubicBezTo>
                <a:cubicBezTo>
                  <a:pt x="154781" y="109128"/>
                  <a:pt x="150800" y="113109"/>
                  <a:pt x="145852" y="113109"/>
                </a:cubicBezTo>
                <a:cubicBezTo>
                  <a:pt x="140903" y="113109"/>
                  <a:pt x="136922" y="109128"/>
                  <a:pt x="136922" y="104180"/>
                </a:cubicBezTo>
                <a:cubicBezTo>
                  <a:pt x="136922" y="76237"/>
                  <a:pt x="114263" y="53578"/>
                  <a:pt x="86320" y="53578"/>
                </a:cubicBezTo>
                <a:cubicBezTo>
                  <a:pt x="81372" y="53578"/>
                  <a:pt x="77391" y="49597"/>
                  <a:pt x="77391" y="44648"/>
                </a:cubicBezTo>
                <a:close/>
                <a:moveTo>
                  <a:pt x="9823" y="53094"/>
                </a:moveTo>
                <a:cubicBezTo>
                  <a:pt x="13097" y="46434"/>
                  <a:pt x="21878" y="45690"/>
                  <a:pt x="27124" y="50936"/>
                </a:cubicBezTo>
                <a:lnTo>
                  <a:pt x="74935" y="98747"/>
                </a:lnTo>
                <a:lnTo>
                  <a:pt x="86841" y="86841"/>
                </a:lnTo>
                <a:cubicBezTo>
                  <a:pt x="91492" y="82190"/>
                  <a:pt x="99045" y="82190"/>
                  <a:pt x="103696" y="86841"/>
                </a:cubicBezTo>
                <a:cubicBezTo>
                  <a:pt x="108347" y="91492"/>
                  <a:pt x="108347" y="99045"/>
                  <a:pt x="103696" y="103696"/>
                </a:cubicBezTo>
                <a:lnTo>
                  <a:pt x="91790" y="115602"/>
                </a:lnTo>
                <a:lnTo>
                  <a:pt x="139601" y="163413"/>
                </a:lnTo>
                <a:cubicBezTo>
                  <a:pt x="144847" y="168659"/>
                  <a:pt x="144066" y="177403"/>
                  <a:pt x="137443" y="180715"/>
                </a:cubicBezTo>
                <a:cubicBezTo>
                  <a:pt x="124718" y="187003"/>
                  <a:pt x="110430" y="190537"/>
                  <a:pt x="95287" y="190537"/>
                </a:cubicBezTo>
                <a:cubicBezTo>
                  <a:pt x="42676" y="190537"/>
                  <a:pt x="37" y="147898"/>
                  <a:pt x="37" y="95287"/>
                </a:cubicBezTo>
                <a:cubicBezTo>
                  <a:pt x="37" y="80144"/>
                  <a:pt x="3572" y="65819"/>
                  <a:pt x="9860" y="53132"/>
                </a:cubicBezTo>
                <a:close/>
              </a:path>
            </a:pathLst>
          </a:custGeom>
          <a:solidFill>
            <a:srgbClr val="EDF2F4"/>
          </a:solidFill>
          <a:ln/>
        </p:spPr>
        <p:txBody>
          <a:bodyPr/>
          <a:lstStyle/>
          <a:p>
            <a:endParaRPr lang="en-GB"/>
          </a:p>
        </p:txBody>
      </p:sp>
      <p:sp>
        <p:nvSpPr>
          <p:cNvPr id="8" name="Text 6"/>
          <p:cNvSpPr/>
          <p:nvPr/>
        </p:nvSpPr>
        <p:spPr>
          <a:xfrm>
            <a:off x="1162050" y="1619250"/>
            <a:ext cx="781050" cy="533400"/>
          </a:xfrm>
          <a:prstGeom prst="rect">
            <a:avLst/>
          </a:prstGeom>
          <a:noFill/>
          <a:ln/>
        </p:spPr>
        <p:txBody>
          <a:bodyPr wrap="square" lIns="0" tIns="0" rIns="0" bIns="0" rtlCol="0" anchor="ctr"/>
          <a:lstStyle/>
          <a:p>
            <a:pPr>
              <a:lnSpc>
                <a:spcPct val="120000"/>
              </a:lnSpc>
            </a:pPr>
            <a:r>
              <a:rPr lang="en-US" sz="1500" b="1" dirty="0">
                <a:solidFill>
                  <a:srgbClr val="EDF2F4"/>
                </a:solidFill>
                <a:latin typeface="Liter" pitchFamily="34" charset="0"/>
                <a:ea typeface="Liter" pitchFamily="34" charset="-122"/>
                <a:cs typeface="Liter" pitchFamily="34" charset="-120"/>
              </a:rPr>
              <a:t>Sensors</a:t>
            </a:r>
            <a:endParaRPr lang="en-US" sz="1600" dirty="0"/>
          </a:p>
          <a:p>
            <a:pPr>
              <a:lnSpc>
                <a:spcPct val="120000"/>
              </a:lnSpc>
            </a:pPr>
            <a:r>
              <a:rPr lang="en-US" sz="1200" dirty="0">
                <a:solidFill>
                  <a:srgbClr val="8D99AE"/>
                </a:solidFill>
                <a:latin typeface="Liter" pitchFamily="34" charset="0"/>
                <a:ea typeface="Liter" pitchFamily="34" charset="-122"/>
                <a:cs typeface="Liter" pitchFamily="34" charset="-120"/>
              </a:rPr>
              <a:t>(Inputs)</a:t>
            </a:r>
            <a:endParaRPr lang="en-US" sz="1600" dirty="0"/>
          </a:p>
        </p:txBody>
      </p:sp>
      <p:sp>
        <p:nvSpPr>
          <p:cNvPr id="9" name="Shape 7"/>
          <p:cNvSpPr/>
          <p:nvPr/>
        </p:nvSpPr>
        <p:spPr>
          <a:xfrm>
            <a:off x="609600" y="2305050"/>
            <a:ext cx="3248025" cy="609600"/>
          </a:xfrm>
          <a:custGeom>
            <a:avLst/>
            <a:gdLst/>
            <a:ahLst/>
            <a:cxnLst/>
            <a:rect l="l" t="t" r="r" b="b"/>
            <a:pathLst>
              <a:path w="3248025" h="609600">
                <a:moveTo>
                  <a:pt x="38100" y="0"/>
                </a:moveTo>
                <a:lnTo>
                  <a:pt x="3171825" y="0"/>
                </a:lnTo>
                <a:cubicBezTo>
                  <a:pt x="3213881" y="0"/>
                  <a:pt x="3248025" y="34144"/>
                  <a:pt x="3248025" y="76200"/>
                </a:cubicBezTo>
                <a:lnTo>
                  <a:pt x="3248025" y="533400"/>
                </a:lnTo>
                <a:cubicBezTo>
                  <a:pt x="3248025" y="575456"/>
                  <a:pt x="3213881" y="609600"/>
                  <a:pt x="3171825" y="609600"/>
                </a:cubicBezTo>
                <a:lnTo>
                  <a:pt x="38100" y="609600"/>
                </a:lnTo>
                <a:cubicBezTo>
                  <a:pt x="17072" y="609600"/>
                  <a:pt x="0" y="592528"/>
                  <a:pt x="0" y="571500"/>
                </a:cubicBezTo>
                <a:lnTo>
                  <a:pt x="0" y="38100"/>
                </a:lnTo>
                <a:cubicBezTo>
                  <a:pt x="0" y="17072"/>
                  <a:pt x="17072" y="0"/>
                  <a:pt x="38100" y="0"/>
                </a:cubicBezTo>
                <a:close/>
              </a:path>
            </a:pathLst>
          </a:custGeom>
          <a:solidFill>
            <a:srgbClr val="1A1D24">
              <a:alpha val="60000"/>
            </a:srgbClr>
          </a:solidFill>
          <a:ln/>
        </p:spPr>
        <p:txBody>
          <a:bodyPr/>
          <a:lstStyle/>
          <a:p>
            <a:endParaRPr lang="en-GB"/>
          </a:p>
        </p:txBody>
      </p:sp>
      <p:sp>
        <p:nvSpPr>
          <p:cNvPr id="10" name="Shape 8"/>
          <p:cNvSpPr/>
          <p:nvPr/>
        </p:nvSpPr>
        <p:spPr>
          <a:xfrm>
            <a:off x="609600" y="2305050"/>
            <a:ext cx="38100" cy="609600"/>
          </a:xfrm>
          <a:custGeom>
            <a:avLst/>
            <a:gdLst/>
            <a:ahLst/>
            <a:cxnLst/>
            <a:rect l="l" t="t" r="r" b="b"/>
            <a:pathLst>
              <a:path w="38100" h="609600">
                <a:moveTo>
                  <a:pt x="38100" y="0"/>
                </a:moveTo>
                <a:lnTo>
                  <a:pt x="38100" y="0"/>
                </a:lnTo>
                <a:lnTo>
                  <a:pt x="38100" y="609600"/>
                </a:lnTo>
                <a:lnTo>
                  <a:pt x="38100" y="609600"/>
                </a:lnTo>
                <a:cubicBezTo>
                  <a:pt x="17072" y="609600"/>
                  <a:pt x="0" y="592528"/>
                  <a:pt x="0" y="571500"/>
                </a:cubicBezTo>
                <a:lnTo>
                  <a:pt x="0" y="38100"/>
                </a:lnTo>
                <a:cubicBezTo>
                  <a:pt x="0" y="17072"/>
                  <a:pt x="17072" y="0"/>
                  <a:pt x="38100" y="0"/>
                </a:cubicBezTo>
                <a:close/>
              </a:path>
            </a:pathLst>
          </a:custGeom>
          <a:solidFill>
            <a:srgbClr val="C9A86A"/>
          </a:solidFill>
          <a:ln/>
        </p:spPr>
        <p:txBody>
          <a:bodyPr/>
          <a:lstStyle/>
          <a:p>
            <a:endParaRPr lang="en-GB"/>
          </a:p>
        </p:txBody>
      </p:sp>
      <p:sp>
        <p:nvSpPr>
          <p:cNvPr id="11" name="Text 9"/>
          <p:cNvSpPr/>
          <p:nvPr/>
        </p:nvSpPr>
        <p:spPr>
          <a:xfrm>
            <a:off x="742950" y="2419350"/>
            <a:ext cx="3067050" cy="190500"/>
          </a:xfrm>
          <a:prstGeom prst="rect">
            <a:avLst/>
          </a:prstGeom>
          <a:noFill/>
          <a:ln/>
        </p:spPr>
        <p:txBody>
          <a:bodyPr wrap="square" lIns="0" tIns="0" rIns="0" bIns="0" rtlCol="0" anchor="ctr"/>
          <a:lstStyle/>
          <a:p>
            <a:pPr>
              <a:lnSpc>
                <a:spcPct val="120000"/>
              </a:lnSpc>
            </a:pPr>
            <a:r>
              <a:rPr lang="en-US" sz="1050" b="1" dirty="0">
                <a:solidFill>
                  <a:srgbClr val="EDF2F4"/>
                </a:solidFill>
                <a:latin typeface="Quattrocento Sans" pitchFamily="34" charset="0"/>
                <a:ea typeface="Quattrocento Sans" pitchFamily="34" charset="-122"/>
                <a:cs typeface="Quattrocento Sans" pitchFamily="34" charset="-120"/>
              </a:rPr>
              <a:t>Dataset Statistics</a:t>
            </a:r>
            <a:endParaRPr lang="en-US" sz="1600" dirty="0"/>
          </a:p>
        </p:txBody>
      </p:sp>
      <p:sp>
        <p:nvSpPr>
          <p:cNvPr id="12" name="Text 10"/>
          <p:cNvSpPr/>
          <p:nvPr/>
        </p:nvSpPr>
        <p:spPr>
          <a:xfrm>
            <a:off x="742950" y="2647950"/>
            <a:ext cx="3057525" cy="152400"/>
          </a:xfrm>
          <a:prstGeom prst="rect">
            <a:avLst/>
          </a:prstGeom>
          <a:noFill/>
          <a:ln/>
        </p:spPr>
        <p:txBody>
          <a:bodyPr wrap="square" lIns="0" tIns="0" rIns="0" bIns="0" rtlCol="0" anchor="ctr"/>
          <a:lstStyle/>
          <a:p>
            <a:pPr>
              <a:lnSpc>
                <a:spcPct val="110000"/>
              </a:lnSpc>
            </a:pPr>
            <a:r>
              <a:rPr lang="en-US" sz="900" dirty="0">
                <a:solidFill>
                  <a:srgbClr val="8D99AE"/>
                </a:solidFill>
                <a:latin typeface="Quattrocento Sans" pitchFamily="34" charset="0"/>
                <a:ea typeface="Quattrocento Sans" pitchFamily="34" charset="-122"/>
                <a:cs typeface="Quattrocento Sans" pitchFamily="34" charset="-120"/>
              </a:rPr>
              <a:t>Size, dimensions, feature types, distributions</a:t>
            </a:r>
            <a:endParaRPr lang="en-US" sz="1600" dirty="0"/>
          </a:p>
        </p:txBody>
      </p:sp>
      <p:sp>
        <p:nvSpPr>
          <p:cNvPr id="13" name="Shape 11"/>
          <p:cNvSpPr/>
          <p:nvPr/>
        </p:nvSpPr>
        <p:spPr>
          <a:xfrm>
            <a:off x="609600" y="2990850"/>
            <a:ext cx="3248025" cy="609600"/>
          </a:xfrm>
          <a:custGeom>
            <a:avLst/>
            <a:gdLst/>
            <a:ahLst/>
            <a:cxnLst/>
            <a:rect l="l" t="t" r="r" b="b"/>
            <a:pathLst>
              <a:path w="3248025" h="609600">
                <a:moveTo>
                  <a:pt x="38100" y="0"/>
                </a:moveTo>
                <a:lnTo>
                  <a:pt x="3171825" y="0"/>
                </a:lnTo>
                <a:cubicBezTo>
                  <a:pt x="3213881" y="0"/>
                  <a:pt x="3248025" y="34144"/>
                  <a:pt x="3248025" y="76200"/>
                </a:cubicBezTo>
                <a:lnTo>
                  <a:pt x="3248025" y="533400"/>
                </a:lnTo>
                <a:cubicBezTo>
                  <a:pt x="3248025" y="575456"/>
                  <a:pt x="3213881" y="609600"/>
                  <a:pt x="3171825" y="609600"/>
                </a:cubicBezTo>
                <a:lnTo>
                  <a:pt x="38100" y="609600"/>
                </a:lnTo>
                <a:cubicBezTo>
                  <a:pt x="17072" y="609600"/>
                  <a:pt x="0" y="592528"/>
                  <a:pt x="0" y="571500"/>
                </a:cubicBezTo>
                <a:lnTo>
                  <a:pt x="0" y="38100"/>
                </a:lnTo>
                <a:cubicBezTo>
                  <a:pt x="0" y="17072"/>
                  <a:pt x="17072" y="0"/>
                  <a:pt x="38100" y="0"/>
                </a:cubicBezTo>
                <a:close/>
              </a:path>
            </a:pathLst>
          </a:custGeom>
          <a:solidFill>
            <a:srgbClr val="1A1D24">
              <a:alpha val="60000"/>
            </a:srgbClr>
          </a:solidFill>
          <a:ln/>
        </p:spPr>
        <p:txBody>
          <a:bodyPr/>
          <a:lstStyle/>
          <a:p>
            <a:endParaRPr lang="en-GB"/>
          </a:p>
        </p:txBody>
      </p:sp>
      <p:sp>
        <p:nvSpPr>
          <p:cNvPr id="14" name="Shape 12"/>
          <p:cNvSpPr/>
          <p:nvPr/>
        </p:nvSpPr>
        <p:spPr>
          <a:xfrm>
            <a:off x="609600" y="2990850"/>
            <a:ext cx="38100" cy="609600"/>
          </a:xfrm>
          <a:custGeom>
            <a:avLst/>
            <a:gdLst/>
            <a:ahLst/>
            <a:cxnLst/>
            <a:rect l="l" t="t" r="r" b="b"/>
            <a:pathLst>
              <a:path w="38100" h="609600">
                <a:moveTo>
                  <a:pt x="38100" y="0"/>
                </a:moveTo>
                <a:lnTo>
                  <a:pt x="38100" y="0"/>
                </a:lnTo>
                <a:lnTo>
                  <a:pt x="38100" y="609600"/>
                </a:lnTo>
                <a:lnTo>
                  <a:pt x="38100" y="609600"/>
                </a:lnTo>
                <a:cubicBezTo>
                  <a:pt x="17072" y="609600"/>
                  <a:pt x="0" y="592528"/>
                  <a:pt x="0" y="571500"/>
                </a:cubicBezTo>
                <a:lnTo>
                  <a:pt x="0" y="38100"/>
                </a:lnTo>
                <a:cubicBezTo>
                  <a:pt x="0" y="17072"/>
                  <a:pt x="17072" y="0"/>
                  <a:pt x="38100" y="0"/>
                </a:cubicBezTo>
                <a:close/>
              </a:path>
            </a:pathLst>
          </a:custGeom>
          <a:solidFill>
            <a:srgbClr val="C9A86A"/>
          </a:solidFill>
          <a:ln/>
        </p:spPr>
        <p:txBody>
          <a:bodyPr/>
          <a:lstStyle/>
          <a:p>
            <a:endParaRPr lang="en-GB"/>
          </a:p>
        </p:txBody>
      </p:sp>
      <p:sp>
        <p:nvSpPr>
          <p:cNvPr id="15" name="Text 13"/>
          <p:cNvSpPr/>
          <p:nvPr/>
        </p:nvSpPr>
        <p:spPr>
          <a:xfrm>
            <a:off x="742950" y="3105150"/>
            <a:ext cx="3067050" cy="190500"/>
          </a:xfrm>
          <a:prstGeom prst="rect">
            <a:avLst/>
          </a:prstGeom>
          <a:noFill/>
          <a:ln/>
        </p:spPr>
        <p:txBody>
          <a:bodyPr wrap="square" lIns="0" tIns="0" rIns="0" bIns="0" rtlCol="0" anchor="ctr"/>
          <a:lstStyle/>
          <a:p>
            <a:pPr>
              <a:lnSpc>
                <a:spcPct val="120000"/>
              </a:lnSpc>
            </a:pPr>
            <a:r>
              <a:rPr lang="en-US" sz="1050" b="1" dirty="0">
                <a:solidFill>
                  <a:srgbClr val="EDF2F4"/>
                </a:solidFill>
                <a:latin typeface="Quattrocento Sans" pitchFamily="34" charset="0"/>
                <a:ea typeface="Quattrocento Sans" pitchFamily="34" charset="-122"/>
                <a:cs typeface="Quattrocento Sans" pitchFamily="34" charset="-120"/>
              </a:rPr>
              <a:t>Missing Values</a:t>
            </a:r>
            <a:endParaRPr lang="en-US" sz="1600" dirty="0"/>
          </a:p>
        </p:txBody>
      </p:sp>
      <p:sp>
        <p:nvSpPr>
          <p:cNvPr id="16" name="Text 14"/>
          <p:cNvSpPr/>
          <p:nvPr/>
        </p:nvSpPr>
        <p:spPr>
          <a:xfrm>
            <a:off x="742950" y="3333750"/>
            <a:ext cx="3057525" cy="152400"/>
          </a:xfrm>
          <a:prstGeom prst="rect">
            <a:avLst/>
          </a:prstGeom>
          <a:noFill/>
          <a:ln/>
        </p:spPr>
        <p:txBody>
          <a:bodyPr wrap="square" lIns="0" tIns="0" rIns="0" bIns="0" rtlCol="0" anchor="ctr"/>
          <a:lstStyle/>
          <a:p>
            <a:pPr>
              <a:lnSpc>
                <a:spcPct val="110000"/>
              </a:lnSpc>
            </a:pPr>
            <a:r>
              <a:rPr lang="en-US" sz="900" dirty="0">
                <a:solidFill>
                  <a:srgbClr val="8D99AE"/>
                </a:solidFill>
                <a:latin typeface="Quattrocento Sans" pitchFamily="34" charset="0"/>
                <a:ea typeface="Quattrocento Sans" pitchFamily="34" charset="-122"/>
                <a:cs typeface="Quattrocento Sans" pitchFamily="34" charset="-120"/>
              </a:rPr>
              <a:t>Percentage, patterns, impact assessment</a:t>
            </a:r>
            <a:endParaRPr lang="en-US" sz="1600" dirty="0"/>
          </a:p>
        </p:txBody>
      </p:sp>
      <p:sp>
        <p:nvSpPr>
          <p:cNvPr id="17" name="Shape 15"/>
          <p:cNvSpPr/>
          <p:nvPr/>
        </p:nvSpPr>
        <p:spPr>
          <a:xfrm>
            <a:off x="609600" y="3676650"/>
            <a:ext cx="3248025" cy="609600"/>
          </a:xfrm>
          <a:custGeom>
            <a:avLst/>
            <a:gdLst/>
            <a:ahLst/>
            <a:cxnLst/>
            <a:rect l="l" t="t" r="r" b="b"/>
            <a:pathLst>
              <a:path w="3248025" h="609600">
                <a:moveTo>
                  <a:pt x="38100" y="0"/>
                </a:moveTo>
                <a:lnTo>
                  <a:pt x="3171825" y="0"/>
                </a:lnTo>
                <a:cubicBezTo>
                  <a:pt x="3213881" y="0"/>
                  <a:pt x="3248025" y="34144"/>
                  <a:pt x="3248025" y="76200"/>
                </a:cubicBezTo>
                <a:lnTo>
                  <a:pt x="3248025" y="533400"/>
                </a:lnTo>
                <a:cubicBezTo>
                  <a:pt x="3248025" y="575456"/>
                  <a:pt x="3213881" y="609600"/>
                  <a:pt x="3171825" y="609600"/>
                </a:cubicBezTo>
                <a:lnTo>
                  <a:pt x="38100" y="609600"/>
                </a:lnTo>
                <a:cubicBezTo>
                  <a:pt x="17072" y="609600"/>
                  <a:pt x="0" y="592528"/>
                  <a:pt x="0" y="571500"/>
                </a:cubicBezTo>
                <a:lnTo>
                  <a:pt x="0" y="38100"/>
                </a:lnTo>
                <a:cubicBezTo>
                  <a:pt x="0" y="17072"/>
                  <a:pt x="17072" y="0"/>
                  <a:pt x="38100" y="0"/>
                </a:cubicBezTo>
                <a:close/>
              </a:path>
            </a:pathLst>
          </a:custGeom>
          <a:solidFill>
            <a:srgbClr val="1A1D24">
              <a:alpha val="60000"/>
            </a:srgbClr>
          </a:solidFill>
          <a:ln/>
        </p:spPr>
        <p:txBody>
          <a:bodyPr/>
          <a:lstStyle/>
          <a:p>
            <a:endParaRPr lang="en-GB"/>
          </a:p>
        </p:txBody>
      </p:sp>
      <p:sp>
        <p:nvSpPr>
          <p:cNvPr id="18" name="Shape 16"/>
          <p:cNvSpPr/>
          <p:nvPr/>
        </p:nvSpPr>
        <p:spPr>
          <a:xfrm>
            <a:off x="609600" y="3676650"/>
            <a:ext cx="38100" cy="609600"/>
          </a:xfrm>
          <a:custGeom>
            <a:avLst/>
            <a:gdLst/>
            <a:ahLst/>
            <a:cxnLst/>
            <a:rect l="l" t="t" r="r" b="b"/>
            <a:pathLst>
              <a:path w="38100" h="609600">
                <a:moveTo>
                  <a:pt x="38100" y="0"/>
                </a:moveTo>
                <a:lnTo>
                  <a:pt x="38100" y="0"/>
                </a:lnTo>
                <a:lnTo>
                  <a:pt x="38100" y="609600"/>
                </a:lnTo>
                <a:lnTo>
                  <a:pt x="38100" y="609600"/>
                </a:lnTo>
                <a:cubicBezTo>
                  <a:pt x="17072" y="609600"/>
                  <a:pt x="0" y="592528"/>
                  <a:pt x="0" y="571500"/>
                </a:cubicBezTo>
                <a:lnTo>
                  <a:pt x="0" y="38100"/>
                </a:lnTo>
                <a:cubicBezTo>
                  <a:pt x="0" y="17072"/>
                  <a:pt x="17072" y="0"/>
                  <a:pt x="38100" y="0"/>
                </a:cubicBezTo>
                <a:close/>
              </a:path>
            </a:pathLst>
          </a:custGeom>
          <a:solidFill>
            <a:srgbClr val="C9A86A"/>
          </a:solidFill>
          <a:ln/>
        </p:spPr>
        <p:txBody>
          <a:bodyPr/>
          <a:lstStyle/>
          <a:p>
            <a:endParaRPr lang="en-GB"/>
          </a:p>
        </p:txBody>
      </p:sp>
      <p:sp>
        <p:nvSpPr>
          <p:cNvPr id="19" name="Text 17"/>
          <p:cNvSpPr/>
          <p:nvPr/>
        </p:nvSpPr>
        <p:spPr>
          <a:xfrm>
            <a:off x="742950" y="3790950"/>
            <a:ext cx="3067050" cy="190500"/>
          </a:xfrm>
          <a:prstGeom prst="rect">
            <a:avLst/>
          </a:prstGeom>
          <a:noFill/>
          <a:ln/>
        </p:spPr>
        <p:txBody>
          <a:bodyPr wrap="square" lIns="0" tIns="0" rIns="0" bIns="0" rtlCol="0" anchor="ctr"/>
          <a:lstStyle/>
          <a:p>
            <a:pPr>
              <a:lnSpc>
                <a:spcPct val="120000"/>
              </a:lnSpc>
            </a:pPr>
            <a:r>
              <a:rPr lang="en-US" sz="1050" b="1" dirty="0">
                <a:solidFill>
                  <a:srgbClr val="EDF2F4"/>
                </a:solidFill>
                <a:latin typeface="Quattrocento Sans" pitchFamily="34" charset="0"/>
                <a:ea typeface="Quattrocento Sans" pitchFamily="34" charset="-122"/>
                <a:cs typeface="Quattrocento Sans" pitchFamily="34" charset="-120"/>
              </a:rPr>
              <a:t>Class Imbalance</a:t>
            </a:r>
            <a:endParaRPr lang="en-US" sz="1600" dirty="0"/>
          </a:p>
        </p:txBody>
      </p:sp>
      <p:sp>
        <p:nvSpPr>
          <p:cNvPr id="20" name="Text 18"/>
          <p:cNvSpPr/>
          <p:nvPr/>
        </p:nvSpPr>
        <p:spPr>
          <a:xfrm>
            <a:off x="742950" y="4019550"/>
            <a:ext cx="3057525" cy="152400"/>
          </a:xfrm>
          <a:prstGeom prst="rect">
            <a:avLst/>
          </a:prstGeom>
          <a:noFill/>
          <a:ln/>
        </p:spPr>
        <p:txBody>
          <a:bodyPr wrap="square" lIns="0" tIns="0" rIns="0" bIns="0" rtlCol="0" anchor="ctr"/>
          <a:lstStyle/>
          <a:p>
            <a:pPr>
              <a:lnSpc>
                <a:spcPct val="110000"/>
              </a:lnSpc>
            </a:pPr>
            <a:r>
              <a:rPr lang="en-US" sz="900" dirty="0">
                <a:solidFill>
                  <a:srgbClr val="8D99AE"/>
                </a:solidFill>
                <a:latin typeface="Quattrocento Sans" pitchFamily="34" charset="0"/>
                <a:ea typeface="Quattrocento Sans" pitchFamily="34" charset="-122"/>
                <a:cs typeface="Quattrocento Sans" pitchFamily="34" charset="-120"/>
              </a:rPr>
              <a:t>Distribution ratios, minority class detection</a:t>
            </a:r>
            <a:endParaRPr lang="en-US" sz="1600" dirty="0"/>
          </a:p>
        </p:txBody>
      </p:sp>
      <p:sp>
        <p:nvSpPr>
          <p:cNvPr id="21" name="Shape 19"/>
          <p:cNvSpPr/>
          <p:nvPr/>
        </p:nvSpPr>
        <p:spPr>
          <a:xfrm>
            <a:off x="609600" y="4362450"/>
            <a:ext cx="3248025" cy="609600"/>
          </a:xfrm>
          <a:custGeom>
            <a:avLst/>
            <a:gdLst/>
            <a:ahLst/>
            <a:cxnLst/>
            <a:rect l="l" t="t" r="r" b="b"/>
            <a:pathLst>
              <a:path w="3248025" h="609600">
                <a:moveTo>
                  <a:pt x="38100" y="0"/>
                </a:moveTo>
                <a:lnTo>
                  <a:pt x="3171825" y="0"/>
                </a:lnTo>
                <a:cubicBezTo>
                  <a:pt x="3213881" y="0"/>
                  <a:pt x="3248025" y="34144"/>
                  <a:pt x="3248025" y="76200"/>
                </a:cubicBezTo>
                <a:lnTo>
                  <a:pt x="3248025" y="533400"/>
                </a:lnTo>
                <a:cubicBezTo>
                  <a:pt x="3248025" y="575456"/>
                  <a:pt x="3213881" y="609600"/>
                  <a:pt x="3171825" y="609600"/>
                </a:cubicBezTo>
                <a:lnTo>
                  <a:pt x="38100" y="609600"/>
                </a:lnTo>
                <a:cubicBezTo>
                  <a:pt x="17072" y="609600"/>
                  <a:pt x="0" y="592528"/>
                  <a:pt x="0" y="571500"/>
                </a:cubicBezTo>
                <a:lnTo>
                  <a:pt x="0" y="38100"/>
                </a:lnTo>
                <a:cubicBezTo>
                  <a:pt x="0" y="17072"/>
                  <a:pt x="17072" y="0"/>
                  <a:pt x="38100" y="0"/>
                </a:cubicBezTo>
                <a:close/>
              </a:path>
            </a:pathLst>
          </a:custGeom>
          <a:solidFill>
            <a:srgbClr val="1A1D24">
              <a:alpha val="60000"/>
            </a:srgbClr>
          </a:solidFill>
          <a:ln/>
        </p:spPr>
        <p:txBody>
          <a:bodyPr/>
          <a:lstStyle/>
          <a:p>
            <a:endParaRPr lang="en-GB"/>
          </a:p>
        </p:txBody>
      </p:sp>
      <p:sp>
        <p:nvSpPr>
          <p:cNvPr id="22" name="Shape 20"/>
          <p:cNvSpPr/>
          <p:nvPr/>
        </p:nvSpPr>
        <p:spPr>
          <a:xfrm>
            <a:off x="609600" y="4362450"/>
            <a:ext cx="38100" cy="609600"/>
          </a:xfrm>
          <a:custGeom>
            <a:avLst/>
            <a:gdLst/>
            <a:ahLst/>
            <a:cxnLst/>
            <a:rect l="l" t="t" r="r" b="b"/>
            <a:pathLst>
              <a:path w="38100" h="609600">
                <a:moveTo>
                  <a:pt x="38100" y="0"/>
                </a:moveTo>
                <a:lnTo>
                  <a:pt x="38100" y="0"/>
                </a:lnTo>
                <a:lnTo>
                  <a:pt x="38100" y="609600"/>
                </a:lnTo>
                <a:lnTo>
                  <a:pt x="38100" y="609600"/>
                </a:lnTo>
                <a:cubicBezTo>
                  <a:pt x="17072" y="609600"/>
                  <a:pt x="0" y="592528"/>
                  <a:pt x="0" y="571500"/>
                </a:cubicBezTo>
                <a:lnTo>
                  <a:pt x="0" y="38100"/>
                </a:lnTo>
                <a:cubicBezTo>
                  <a:pt x="0" y="17072"/>
                  <a:pt x="17072" y="0"/>
                  <a:pt x="38100" y="0"/>
                </a:cubicBezTo>
                <a:close/>
              </a:path>
            </a:pathLst>
          </a:custGeom>
          <a:solidFill>
            <a:srgbClr val="C9A86A"/>
          </a:solidFill>
          <a:ln/>
        </p:spPr>
        <p:txBody>
          <a:bodyPr/>
          <a:lstStyle/>
          <a:p>
            <a:endParaRPr lang="en-GB"/>
          </a:p>
        </p:txBody>
      </p:sp>
      <p:sp>
        <p:nvSpPr>
          <p:cNvPr id="23" name="Text 21"/>
          <p:cNvSpPr/>
          <p:nvPr/>
        </p:nvSpPr>
        <p:spPr>
          <a:xfrm>
            <a:off x="742950" y="4476750"/>
            <a:ext cx="3067050" cy="190500"/>
          </a:xfrm>
          <a:prstGeom prst="rect">
            <a:avLst/>
          </a:prstGeom>
          <a:noFill/>
          <a:ln/>
        </p:spPr>
        <p:txBody>
          <a:bodyPr wrap="square" lIns="0" tIns="0" rIns="0" bIns="0" rtlCol="0" anchor="ctr"/>
          <a:lstStyle/>
          <a:p>
            <a:pPr>
              <a:lnSpc>
                <a:spcPct val="120000"/>
              </a:lnSpc>
            </a:pPr>
            <a:r>
              <a:rPr lang="en-US" sz="1050" b="1" dirty="0">
                <a:solidFill>
                  <a:srgbClr val="EDF2F4"/>
                </a:solidFill>
                <a:latin typeface="Quattrocento Sans" pitchFamily="34" charset="0"/>
                <a:ea typeface="Quattrocento Sans" pitchFamily="34" charset="-122"/>
                <a:cs typeface="Quattrocento Sans" pitchFamily="34" charset="-120"/>
              </a:rPr>
              <a:t>Quality Metrics</a:t>
            </a:r>
            <a:endParaRPr lang="en-US" sz="1600" dirty="0"/>
          </a:p>
        </p:txBody>
      </p:sp>
      <p:sp>
        <p:nvSpPr>
          <p:cNvPr id="24" name="Text 22"/>
          <p:cNvSpPr/>
          <p:nvPr/>
        </p:nvSpPr>
        <p:spPr>
          <a:xfrm>
            <a:off x="742950" y="4705350"/>
            <a:ext cx="3057525" cy="152400"/>
          </a:xfrm>
          <a:prstGeom prst="rect">
            <a:avLst/>
          </a:prstGeom>
          <a:noFill/>
          <a:ln/>
        </p:spPr>
        <p:txBody>
          <a:bodyPr wrap="square" lIns="0" tIns="0" rIns="0" bIns="0" rtlCol="0" anchor="ctr"/>
          <a:lstStyle/>
          <a:p>
            <a:pPr>
              <a:lnSpc>
                <a:spcPct val="110000"/>
              </a:lnSpc>
            </a:pPr>
            <a:r>
              <a:rPr lang="en-US" sz="900" dirty="0">
                <a:solidFill>
                  <a:srgbClr val="8D99AE"/>
                </a:solidFill>
                <a:latin typeface="Quattrocento Sans" pitchFamily="34" charset="0"/>
                <a:ea typeface="Quattrocento Sans" pitchFamily="34" charset="-122"/>
                <a:cs typeface="Quattrocento Sans" pitchFamily="34" charset="-120"/>
              </a:rPr>
              <a:t>Image/audio resolution, noise levels, artifacts</a:t>
            </a:r>
            <a:endParaRPr lang="en-US" sz="1600" dirty="0"/>
          </a:p>
        </p:txBody>
      </p:sp>
      <p:sp>
        <p:nvSpPr>
          <p:cNvPr id="25" name="Shape 23"/>
          <p:cNvSpPr/>
          <p:nvPr/>
        </p:nvSpPr>
        <p:spPr>
          <a:xfrm>
            <a:off x="609600" y="5048250"/>
            <a:ext cx="3248025" cy="609600"/>
          </a:xfrm>
          <a:custGeom>
            <a:avLst/>
            <a:gdLst/>
            <a:ahLst/>
            <a:cxnLst/>
            <a:rect l="l" t="t" r="r" b="b"/>
            <a:pathLst>
              <a:path w="3248025" h="609600">
                <a:moveTo>
                  <a:pt x="38100" y="0"/>
                </a:moveTo>
                <a:lnTo>
                  <a:pt x="3171825" y="0"/>
                </a:lnTo>
                <a:cubicBezTo>
                  <a:pt x="3213881" y="0"/>
                  <a:pt x="3248025" y="34144"/>
                  <a:pt x="3248025" y="76200"/>
                </a:cubicBezTo>
                <a:lnTo>
                  <a:pt x="3248025" y="533400"/>
                </a:lnTo>
                <a:cubicBezTo>
                  <a:pt x="3248025" y="575456"/>
                  <a:pt x="3213881" y="609600"/>
                  <a:pt x="3171825" y="609600"/>
                </a:cubicBezTo>
                <a:lnTo>
                  <a:pt x="38100" y="609600"/>
                </a:lnTo>
                <a:cubicBezTo>
                  <a:pt x="17072" y="609600"/>
                  <a:pt x="0" y="592528"/>
                  <a:pt x="0" y="571500"/>
                </a:cubicBezTo>
                <a:lnTo>
                  <a:pt x="0" y="38100"/>
                </a:lnTo>
                <a:cubicBezTo>
                  <a:pt x="0" y="17072"/>
                  <a:pt x="17072" y="0"/>
                  <a:pt x="38100" y="0"/>
                </a:cubicBezTo>
                <a:close/>
              </a:path>
            </a:pathLst>
          </a:custGeom>
          <a:solidFill>
            <a:srgbClr val="1A1D24">
              <a:alpha val="60000"/>
            </a:srgbClr>
          </a:solidFill>
          <a:ln/>
        </p:spPr>
        <p:txBody>
          <a:bodyPr/>
          <a:lstStyle/>
          <a:p>
            <a:endParaRPr lang="en-GB"/>
          </a:p>
        </p:txBody>
      </p:sp>
      <p:sp>
        <p:nvSpPr>
          <p:cNvPr id="26" name="Shape 24"/>
          <p:cNvSpPr/>
          <p:nvPr/>
        </p:nvSpPr>
        <p:spPr>
          <a:xfrm>
            <a:off x="609600" y="5048250"/>
            <a:ext cx="38100" cy="609600"/>
          </a:xfrm>
          <a:custGeom>
            <a:avLst/>
            <a:gdLst/>
            <a:ahLst/>
            <a:cxnLst/>
            <a:rect l="l" t="t" r="r" b="b"/>
            <a:pathLst>
              <a:path w="38100" h="609600">
                <a:moveTo>
                  <a:pt x="38100" y="0"/>
                </a:moveTo>
                <a:lnTo>
                  <a:pt x="38100" y="0"/>
                </a:lnTo>
                <a:lnTo>
                  <a:pt x="38100" y="609600"/>
                </a:lnTo>
                <a:lnTo>
                  <a:pt x="38100" y="609600"/>
                </a:lnTo>
                <a:cubicBezTo>
                  <a:pt x="17072" y="609600"/>
                  <a:pt x="0" y="592528"/>
                  <a:pt x="0" y="571500"/>
                </a:cubicBezTo>
                <a:lnTo>
                  <a:pt x="0" y="38100"/>
                </a:lnTo>
                <a:cubicBezTo>
                  <a:pt x="0" y="17072"/>
                  <a:pt x="17072" y="0"/>
                  <a:pt x="38100" y="0"/>
                </a:cubicBezTo>
                <a:close/>
              </a:path>
            </a:pathLst>
          </a:custGeom>
          <a:solidFill>
            <a:srgbClr val="C9A86A"/>
          </a:solidFill>
          <a:ln/>
        </p:spPr>
        <p:txBody>
          <a:bodyPr/>
          <a:lstStyle/>
          <a:p>
            <a:endParaRPr lang="en-GB"/>
          </a:p>
        </p:txBody>
      </p:sp>
      <p:sp>
        <p:nvSpPr>
          <p:cNvPr id="27" name="Text 25"/>
          <p:cNvSpPr/>
          <p:nvPr/>
        </p:nvSpPr>
        <p:spPr>
          <a:xfrm>
            <a:off x="742950" y="5162550"/>
            <a:ext cx="3067050" cy="190500"/>
          </a:xfrm>
          <a:prstGeom prst="rect">
            <a:avLst/>
          </a:prstGeom>
          <a:noFill/>
          <a:ln/>
        </p:spPr>
        <p:txBody>
          <a:bodyPr wrap="square" lIns="0" tIns="0" rIns="0" bIns="0" rtlCol="0" anchor="ctr"/>
          <a:lstStyle/>
          <a:p>
            <a:pPr>
              <a:lnSpc>
                <a:spcPct val="120000"/>
              </a:lnSpc>
            </a:pPr>
            <a:r>
              <a:rPr lang="en-US" sz="1050" b="1" dirty="0">
                <a:solidFill>
                  <a:srgbClr val="EDF2F4"/>
                </a:solidFill>
                <a:latin typeface="Quattrocento Sans" pitchFamily="34" charset="0"/>
                <a:ea typeface="Quattrocento Sans" pitchFamily="34" charset="-122"/>
                <a:cs typeface="Quattrocento Sans" pitchFamily="34" charset="-120"/>
              </a:rPr>
              <a:t>Validation Accuracy</a:t>
            </a:r>
            <a:endParaRPr lang="en-US" sz="1600" dirty="0"/>
          </a:p>
        </p:txBody>
      </p:sp>
      <p:sp>
        <p:nvSpPr>
          <p:cNvPr id="28" name="Text 26"/>
          <p:cNvSpPr/>
          <p:nvPr/>
        </p:nvSpPr>
        <p:spPr>
          <a:xfrm>
            <a:off x="742950" y="5391150"/>
            <a:ext cx="3057525" cy="152400"/>
          </a:xfrm>
          <a:prstGeom prst="rect">
            <a:avLst/>
          </a:prstGeom>
          <a:noFill/>
          <a:ln/>
        </p:spPr>
        <p:txBody>
          <a:bodyPr wrap="square" lIns="0" tIns="0" rIns="0" bIns="0" rtlCol="0" anchor="ctr"/>
          <a:lstStyle/>
          <a:p>
            <a:pPr>
              <a:lnSpc>
                <a:spcPct val="110000"/>
              </a:lnSpc>
            </a:pPr>
            <a:r>
              <a:rPr lang="en-US" sz="900" dirty="0">
                <a:solidFill>
                  <a:srgbClr val="8D99AE"/>
                </a:solidFill>
                <a:latin typeface="Quattrocento Sans" pitchFamily="34" charset="0"/>
                <a:ea typeface="Quattrocento Sans" pitchFamily="34" charset="-122"/>
                <a:cs typeface="Quattrocento Sans" pitchFamily="34" charset="-120"/>
              </a:rPr>
              <a:t>Performance feedback from test pipelines</a:t>
            </a:r>
            <a:endParaRPr lang="en-US" sz="1600" dirty="0"/>
          </a:p>
        </p:txBody>
      </p:sp>
      <p:sp>
        <p:nvSpPr>
          <p:cNvPr id="29" name="Shape 27"/>
          <p:cNvSpPr/>
          <p:nvPr/>
        </p:nvSpPr>
        <p:spPr>
          <a:xfrm>
            <a:off x="4263926" y="1419225"/>
            <a:ext cx="3667125" cy="4438650"/>
          </a:xfrm>
          <a:custGeom>
            <a:avLst/>
            <a:gdLst/>
            <a:ahLst/>
            <a:cxnLst/>
            <a:rect l="l" t="t" r="r" b="b"/>
            <a:pathLst>
              <a:path w="3667125" h="4438650">
                <a:moveTo>
                  <a:pt x="114304" y="0"/>
                </a:moveTo>
                <a:lnTo>
                  <a:pt x="3552821" y="0"/>
                </a:lnTo>
                <a:cubicBezTo>
                  <a:pt x="3615949" y="0"/>
                  <a:pt x="3667125" y="51176"/>
                  <a:pt x="3667125" y="114304"/>
                </a:cubicBezTo>
                <a:lnTo>
                  <a:pt x="3667125" y="4324346"/>
                </a:lnTo>
                <a:cubicBezTo>
                  <a:pt x="3667125" y="4387474"/>
                  <a:pt x="3615949" y="4438650"/>
                  <a:pt x="3552821" y="4438650"/>
                </a:cubicBezTo>
                <a:lnTo>
                  <a:pt x="114304" y="4438650"/>
                </a:lnTo>
                <a:cubicBezTo>
                  <a:pt x="51176" y="4438650"/>
                  <a:pt x="0" y="4387474"/>
                  <a:pt x="0" y="4324346"/>
                </a:cubicBezTo>
                <a:lnTo>
                  <a:pt x="0" y="114304"/>
                </a:lnTo>
                <a:cubicBezTo>
                  <a:pt x="0" y="51176"/>
                  <a:pt x="51176" y="0"/>
                  <a:pt x="114304" y="0"/>
                </a:cubicBezTo>
                <a:close/>
              </a:path>
            </a:pathLst>
          </a:custGeom>
          <a:gradFill flip="none" rotWithShape="1">
            <a:gsLst>
              <a:gs pos="0">
                <a:srgbClr val="C9A86A">
                  <a:alpha val="30000"/>
                </a:srgbClr>
              </a:gs>
              <a:gs pos="100000">
                <a:srgbClr val="C9A86A">
                  <a:alpha val="10000"/>
                </a:srgbClr>
              </a:gs>
            </a:gsLst>
            <a:lin ang="5400000" scaled="1"/>
          </a:gradFill>
          <a:ln w="25400">
            <a:solidFill>
              <a:srgbClr val="C9A86A"/>
            </a:solidFill>
            <a:prstDash val="solid"/>
          </a:ln>
        </p:spPr>
        <p:txBody>
          <a:bodyPr/>
          <a:lstStyle/>
          <a:p>
            <a:endParaRPr lang="en-GB"/>
          </a:p>
        </p:txBody>
      </p:sp>
      <p:sp>
        <p:nvSpPr>
          <p:cNvPr id="30" name="Shape 28"/>
          <p:cNvSpPr/>
          <p:nvPr/>
        </p:nvSpPr>
        <p:spPr>
          <a:xfrm>
            <a:off x="4463951" y="1657350"/>
            <a:ext cx="457200" cy="457200"/>
          </a:xfrm>
          <a:custGeom>
            <a:avLst/>
            <a:gdLst/>
            <a:ahLst/>
            <a:cxnLst/>
            <a:rect l="l" t="t" r="r" b="b"/>
            <a:pathLst>
              <a:path w="457200" h="457200">
                <a:moveTo>
                  <a:pt x="228600" y="0"/>
                </a:moveTo>
                <a:lnTo>
                  <a:pt x="228600" y="0"/>
                </a:lnTo>
                <a:cubicBezTo>
                  <a:pt x="354768" y="0"/>
                  <a:pt x="457200" y="102432"/>
                  <a:pt x="457200" y="228600"/>
                </a:cubicBezTo>
                <a:lnTo>
                  <a:pt x="457200" y="228600"/>
                </a:lnTo>
                <a:cubicBezTo>
                  <a:pt x="457200" y="354768"/>
                  <a:pt x="354768" y="457200"/>
                  <a:pt x="228600" y="457200"/>
                </a:cubicBezTo>
                <a:lnTo>
                  <a:pt x="228600" y="457200"/>
                </a:lnTo>
                <a:cubicBezTo>
                  <a:pt x="102432" y="457200"/>
                  <a:pt x="0" y="354768"/>
                  <a:pt x="0" y="228600"/>
                </a:cubicBezTo>
                <a:lnTo>
                  <a:pt x="0" y="228600"/>
                </a:lnTo>
                <a:cubicBezTo>
                  <a:pt x="0" y="102432"/>
                  <a:pt x="102432" y="0"/>
                  <a:pt x="228600" y="0"/>
                </a:cubicBezTo>
                <a:close/>
              </a:path>
            </a:pathLst>
          </a:custGeom>
          <a:solidFill>
            <a:srgbClr val="C9A86A"/>
          </a:solidFill>
          <a:ln/>
        </p:spPr>
        <p:txBody>
          <a:bodyPr/>
          <a:lstStyle/>
          <a:p>
            <a:endParaRPr lang="en-GB"/>
          </a:p>
        </p:txBody>
      </p:sp>
      <p:sp>
        <p:nvSpPr>
          <p:cNvPr id="31" name="Shape 29"/>
          <p:cNvSpPr/>
          <p:nvPr/>
        </p:nvSpPr>
        <p:spPr>
          <a:xfrm>
            <a:off x="4573488" y="1790700"/>
            <a:ext cx="238125" cy="190500"/>
          </a:xfrm>
          <a:custGeom>
            <a:avLst/>
            <a:gdLst/>
            <a:ahLst/>
            <a:cxnLst/>
            <a:rect l="l" t="t" r="r" b="b"/>
            <a:pathLst>
              <a:path w="238125" h="190500">
                <a:moveTo>
                  <a:pt x="154744" y="78321"/>
                </a:moveTo>
                <a:cubicBezTo>
                  <a:pt x="159283" y="77093"/>
                  <a:pt x="164046" y="79251"/>
                  <a:pt x="166092" y="83455"/>
                </a:cubicBezTo>
                <a:lnTo>
                  <a:pt x="173013" y="97445"/>
                </a:lnTo>
                <a:cubicBezTo>
                  <a:pt x="176845" y="97966"/>
                  <a:pt x="180603" y="99008"/>
                  <a:pt x="184138" y="100459"/>
                </a:cubicBezTo>
                <a:lnTo>
                  <a:pt x="197160" y="91790"/>
                </a:lnTo>
                <a:cubicBezTo>
                  <a:pt x="201067" y="89185"/>
                  <a:pt x="206239" y="89706"/>
                  <a:pt x="209550" y="93018"/>
                </a:cubicBezTo>
                <a:lnTo>
                  <a:pt x="216694" y="100161"/>
                </a:lnTo>
                <a:cubicBezTo>
                  <a:pt x="220005" y="103473"/>
                  <a:pt x="220526" y="108682"/>
                  <a:pt x="217922" y="112551"/>
                </a:cubicBezTo>
                <a:lnTo>
                  <a:pt x="209252" y="125537"/>
                </a:lnTo>
                <a:cubicBezTo>
                  <a:pt x="209959" y="127285"/>
                  <a:pt x="210592" y="129108"/>
                  <a:pt x="211113" y="131006"/>
                </a:cubicBezTo>
                <a:cubicBezTo>
                  <a:pt x="211634" y="132904"/>
                  <a:pt x="211968" y="134764"/>
                  <a:pt x="212229" y="136661"/>
                </a:cubicBezTo>
                <a:lnTo>
                  <a:pt x="226256" y="143582"/>
                </a:lnTo>
                <a:cubicBezTo>
                  <a:pt x="230460" y="145666"/>
                  <a:pt x="232618" y="150428"/>
                  <a:pt x="231391" y="154930"/>
                </a:cubicBezTo>
                <a:lnTo>
                  <a:pt x="228786" y="164678"/>
                </a:lnTo>
                <a:cubicBezTo>
                  <a:pt x="227558" y="169180"/>
                  <a:pt x="223354" y="172231"/>
                  <a:pt x="218666" y="171934"/>
                </a:cubicBezTo>
                <a:lnTo>
                  <a:pt x="203039" y="170929"/>
                </a:lnTo>
                <a:cubicBezTo>
                  <a:pt x="200695" y="173943"/>
                  <a:pt x="197979" y="176733"/>
                  <a:pt x="194890" y="179115"/>
                </a:cubicBezTo>
                <a:lnTo>
                  <a:pt x="195895" y="194704"/>
                </a:lnTo>
                <a:cubicBezTo>
                  <a:pt x="196193" y="199392"/>
                  <a:pt x="193142" y="203634"/>
                  <a:pt x="188640" y="204825"/>
                </a:cubicBezTo>
                <a:lnTo>
                  <a:pt x="178891" y="207429"/>
                </a:lnTo>
                <a:cubicBezTo>
                  <a:pt x="174352" y="208657"/>
                  <a:pt x="169627" y="206499"/>
                  <a:pt x="167543" y="202295"/>
                </a:cubicBezTo>
                <a:lnTo>
                  <a:pt x="160623" y="188305"/>
                </a:lnTo>
                <a:cubicBezTo>
                  <a:pt x="156790" y="187784"/>
                  <a:pt x="153033" y="186742"/>
                  <a:pt x="149498" y="185291"/>
                </a:cubicBezTo>
                <a:lnTo>
                  <a:pt x="136475" y="193960"/>
                </a:lnTo>
                <a:cubicBezTo>
                  <a:pt x="132569" y="196565"/>
                  <a:pt x="127397" y="196044"/>
                  <a:pt x="124085" y="192732"/>
                </a:cubicBezTo>
                <a:lnTo>
                  <a:pt x="116942" y="185589"/>
                </a:lnTo>
                <a:cubicBezTo>
                  <a:pt x="113630" y="182277"/>
                  <a:pt x="113109" y="177105"/>
                  <a:pt x="115714" y="173199"/>
                </a:cubicBezTo>
                <a:lnTo>
                  <a:pt x="124383" y="160176"/>
                </a:lnTo>
                <a:cubicBezTo>
                  <a:pt x="123676" y="158428"/>
                  <a:pt x="123044" y="156604"/>
                  <a:pt x="122523" y="154707"/>
                </a:cubicBezTo>
                <a:cubicBezTo>
                  <a:pt x="122002" y="152809"/>
                  <a:pt x="121667" y="150912"/>
                  <a:pt x="121407" y="149051"/>
                </a:cubicBezTo>
                <a:lnTo>
                  <a:pt x="107379" y="142131"/>
                </a:lnTo>
                <a:cubicBezTo>
                  <a:pt x="103175" y="140047"/>
                  <a:pt x="101054" y="135285"/>
                  <a:pt x="102245" y="130783"/>
                </a:cubicBezTo>
                <a:lnTo>
                  <a:pt x="104849" y="121034"/>
                </a:lnTo>
                <a:cubicBezTo>
                  <a:pt x="106077" y="116532"/>
                  <a:pt x="110282" y="113481"/>
                  <a:pt x="114970" y="113779"/>
                </a:cubicBezTo>
                <a:lnTo>
                  <a:pt x="130559" y="114784"/>
                </a:lnTo>
                <a:cubicBezTo>
                  <a:pt x="132904" y="111770"/>
                  <a:pt x="135620" y="108979"/>
                  <a:pt x="138708" y="106598"/>
                </a:cubicBezTo>
                <a:lnTo>
                  <a:pt x="137703" y="91046"/>
                </a:lnTo>
                <a:cubicBezTo>
                  <a:pt x="137406" y="86358"/>
                  <a:pt x="140457" y="82116"/>
                  <a:pt x="144959" y="80925"/>
                </a:cubicBezTo>
                <a:lnTo>
                  <a:pt x="154707" y="78321"/>
                </a:lnTo>
                <a:close/>
                <a:moveTo>
                  <a:pt x="166836" y="126504"/>
                </a:moveTo>
                <a:cubicBezTo>
                  <a:pt x="157801" y="126514"/>
                  <a:pt x="150474" y="133858"/>
                  <a:pt x="150484" y="142894"/>
                </a:cubicBezTo>
                <a:cubicBezTo>
                  <a:pt x="150494" y="151929"/>
                  <a:pt x="157838" y="159256"/>
                  <a:pt x="166874" y="159246"/>
                </a:cubicBezTo>
                <a:cubicBezTo>
                  <a:pt x="175909" y="159236"/>
                  <a:pt x="183236" y="151892"/>
                  <a:pt x="183226" y="142856"/>
                </a:cubicBezTo>
                <a:cubicBezTo>
                  <a:pt x="183216" y="133821"/>
                  <a:pt x="175872" y="126494"/>
                  <a:pt x="166836" y="126504"/>
                </a:cubicBezTo>
                <a:close/>
                <a:moveTo>
                  <a:pt x="83679" y="-16929"/>
                </a:moveTo>
                <a:lnTo>
                  <a:pt x="93427" y="-14325"/>
                </a:lnTo>
                <a:cubicBezTo>
                  <a:pt x="97929" y="-13097"/>
                  <a:pt x="100980" y="-8855"/>
                  <a:pt x="100682" y="-4204"/>
                </a:cubicBezTo>
                <a:lnTo>
                  <a:pt x="99678" y="11348"/>
                </a:lnTo>
                <a:cubicBezTo>
                  <a:pt x="102766" y="13729"/>
                  <a:pt x="105482" y="16483"/>
                  <a:pt x="107826" y="19534"/>
                </a:cubicBezTo>
                <a:lnTo>
                  <a:pt x="123453" y="18529"/>
                </a:lnTo>
                <a:cubicBezTo>
                  <a:pt x="128104" y="18231"/>
                  <a:pt x="132345" y="21282"/>
                  <a:pt x="133573" y="25784"/>
                </a:cubicBezTo>
                <a:lnTo>
                  <a:pt x="136178" y="35533"/>
                </a:lnTo>
                <a:cubicBezTo>
                  <a:pt x="137368" y="40035"/>
                  <a:pt x="135248" y="44797"/>
                  <a:pt x="131043" y="46881"/>
                </a:cubicBezTo>
                <a:lnTo>
                  <a:pt x="117016" y="53801"/>
                </a:lnTo>
                <a:cubicBezTo>
                  <a:pt x="116756" y="55699"/>
                  <a:pt x="116384" y="57596"/>
                  <a:pt x="115900" y="59457"/>
                </a:cubicBezTo>
                <a:cubicBezTo>
                  <a:pt x="115416" y="61317"/>
                  <a:pt x="114746" y="63178"/>
                  <a:pt x="114040" y="64926"/>
                </a:cubicBezTo>
                <a:lnTo>
                  <a:pt x="122709" y="77949"/>
                </a:lnTo>
                <a:cubicBezTo>
                  <a:pt x="125313" y="81855"/>
                  <a:pt x="124792" y="87027"/>
                  <a:pt x="121481" y="90339"/>
                </a:cubicBezTo>
                <a:lnTo>
                  <a:pt x="114337" y="97482"/>
                </a:lnTo>
                <a:cubicBezTo>
                  <a:pt x="111026" y="100794"/>
                  <a:pt x="105854" y="101315"/>
                  <a:pt x="101947" y="98710"/>
                </a:cubicBezTo>
                <a:lnTo>
                  <a:pt x="88925" y="90041"/>
                </a:lnTo>
                <a:cubicBezTo>
                  <a:pt x="85390" y="91492"/>
                  <a:pt x="81632" y="92534"/>
                  <a:pt x="77800" y="93055"/>
                </a:cubicBezTo>
                <a:lnTo>
                  <a:pt x="70879" y="107045"/>
                </a:lnTo>
                <a:cubicBezTo>
                  <a:pt x="68796" y="111249"/>
                  <a:pt x="64033" y="113370"/>
                  <a:pt x="59531" y="112179"/>
                </a:cubicBezTo>
                <a:lnTo>
                  <a:pt x="49783" y="109575"/>
                </a:lnTo>
                <a:cubicBezTo>
                  <a:pt x="45244" y="108347"/>
                  <a:pt x="42230" y="104105"/>
                  <a:pt x="42528" y="99454"/>
                </a:cubicBezTo>
                <a:lnTo>
                  <a:pt x="43532" y="83865"/>
                </a:lnTo>
                <a:cubicBezTo>
                  <a:pt x="40444" y="81483"/>
                  <a:pt x="37728" y="78730"/>
                  <a:pt x="35384" y="75679"/>
                </a:cubicBezTo>
                <a:lnTo>
                  <a:pt x="19757" y="76684"/>
                </a:lnTo>
                <a:cubicBezTo>
                  <a:pt x="15106" y="76981"/>
                  <a:pt x="10864" y="73930"/>
                  <a:pt x="9637" y="69428"/>
                </a:cubicBezTo>
                <a:lnTo>
                  <a:pt x="7032" y="59680"/>
                </a:lnTo>
                <a:cubicBezTo>
                  <a:pt x="5842" y="55178"/>
                  <a:pt x="7962" y="50416"/>
                  <a:pt x="12167" y="48332"/>
                </a:cubicBezTo>
                <a:lnTo>
                  <a:pt x="26194" y="41411"/>
                </a:lnTo>
                <a:cubicBezTo>
                  <a:pt x="26454" y="39514"/>
                  <a:pt x="26826" y="37654"/>
                  <a:pt x="27310" y="35756"/>
                </a:cubicBezTo>
                <a:cubicBezTo>
                  <a:pt x="27831" y="33858"/>
                  <a:pt x="28426" y="32035"/>
                  <a:pt x="29170" y="30287"/>
                </a:cubicBezTo>
                <a:lnTo>
                  <a:pt x="20501" y="17301"/>
                </a:lnTo>
                <a:cubicBezTo>
                  <a:pt x="17897" y="13395"/>
                  <a:pt x="18417" y="8223"/>
                  <a:pt x="21729" y="4911"/>
                </a:cubicBezTo>
                <a:lnTo>
                  <a:pt x="28873" y="-2232"/>
                </a:lnTo>
                <a:cubicBezTo>
                  <a:pt x="32184" y="-5544"/>
                  <a:pt x="37356" y="-6065"/>
                  <a:pt x="41263" y="-3460"/>
                </a:cubicBezTo>
                <a:lnTo>
                  <a:pt x="54285" y="5209"/>
                </a:lnTo>
                <a:cubicBezTo>
                  <a:pt x="57820" y="3758"/>
                  <a:pt x="61578" y="2716"/>
                  <a:pt x="65410" y="2195"/>
                </a:cubicBezTo>
                <a:lnTo>
                  <a:pt x="72330" y="-11795"/>
                </a:lnTo>
                <a:cubicBezTo>
                  <a:pt x="74414" y="-15999"/>
                  <a:pt x="79139" y="-18120"/>
                  <a:pt x="83679" y="-16929"/>
                </a:cubicBezTo>
                <a:close/>
                <a:moveTo>
                  <a:pt x="71586" y="31254"/>
                </a:moveTo>
                <a:cubicBezTo>
                  <a:pt x="62551" y="31254"/>
                  <a:pt x="55215" y="38590"/>
                  <a:pt x="55215" y="47625"/>
                </a:cubicBezTo>
                <a:cubicBezTo>
                  <a:pt x="55215" y="56660"/>
                  <a:pt x="62551" y="63996"/>
                  <a:pt x="71586" y="63996"/>
                </a:cubicBezTo>
                <a:cubicBezTo>
                  <a:pt x="80622" y="63996"/>
                  <a:pt x="87957" y="56660"/>
                  <a:pt x="87957" y="47625"/>
                </a:cubicBezTo>
                <a:cubicBezTo>
                  <a:pt x="87957" y="38590"/>
                  <a:pt x="80622" y="31254"/>
                  <a:pt x="71586" y="31254"/>
                </a:cubicBezTo>
                <a:close/>
              </a:path>
            </a:pathLst>
          </a:custGeom>
          <a:solidFill>
            <a:srgbClr val="1A1D24"/>
          </a:solidFill>
          <a:ln/>
        </p:spPr>
        <p:txBody>
          <a:bodyPr/>
          <a:lstStyle/>
          <a:p>
            <a:endParaRPr lang="en-GB"/>
          </a:p>
        </p:txBody>
      </p:sp>
      <p:sp>
        <p:nvSpPr>
          <p:cNvPr id="32" name="Text 30"/>
          <p:cNvSpPr/>
          <p:nvPr/>
        </p:nvSpPr>
        <p:spPr>
          <a:xfrm>
            <a:off x="5035451" y="1619250"/>
            <a:ext cx="876300" cy="533400"/>
          </a:xfrm>
          <a:prstGeom prst="rect">
            <a:avLst/>
          </a:prstGeom>
          <a:noFill/>
          <a:ln/>
        </p:spPr>
        <p:txBody>
          <a:bodyPr wrap="square" lIns="0" tIns="0" rIns="0" bIns="0" rtlCol="0" anchor="ctr"/>
          <a:lstStyle/>
          <a:p>
            <a:pPr>
              <a:lnSpc>
                <a:spcPct val="120000"/>
              </a:lnSpc>
            </a:pPr>
            <a:r>
              <a:rPr lang="en-US" sz="1500" b="1" dirty="0">
                <a:solidFill>
                  <a:srgbClr val="EDF2F4"/>
                </a:solidFill>
                <a:latin typeface="Liter" pitchFamily="34" charset="0"/>
                <a:ea typeface="Liter" pitchFamily="34" charset="-122"/>
                <a:cs typeface="Liter" pitchFamily="34" charset="-120"/>
              </a:rPr>
              <a:t>Actions</a:t>
            </a:r>
            <a:endParaRPr lang="en-US" sz="1600" dirty="0"/>
          </a:p>
          <a:p>
            <a:pPr>
              <a:lnSpc>
                <a:spcPct val="120000"/>
              </a:lnSpc>
            </a:pPr>
            <a:r>
              <a:rPr lang="en-US" sz="1200" dirty="0">
                <a:solidFill>
                  <a:srgbClr val="8D99AE"/>
                </a:solidFill>
                <a:latin typeface="Liter" pitchFamily="34" charset="0"/>
                <a:ea typeface="Liter" pitchFamily="34" charset="-122"/>
                <a:cs typeface="Liter" pitchFamily="34" charset="-120"/>
              </a:rPr>
              <a:t>(Actuators)</a:t>
            </a:r>
            <a:endParaRPr lang="en-US" sz="1600" dirty="0"/>
          </a:p>
        </p:txBody>
      </p:sp>
      <p:sp>
        <p:nvSpPr>
          <p:cNvPr id="33" name="Shape 31"/>
          <p:cNvSpPr/>
          <p:nvPr/>
        </p:nvSpPr>
        <p:spPr>
          <a:xfrm>
            <a:off x="4483001" y="2305050"/>
            <a:ext cx="3248025" cy="609600"/>
          </a:xfrm>
          <a:custGeom>
            <a:avLst/>
            <a:gdLst/>
            <a:ahLst/>
            <a:cxnLst/>
            <a:rect l="l" t="t" r="r" b="b"/>
            <a:pathLst>
              <a:path w="3248025" h="609600">
                <a:moveTo>
                  <a:pt x="38100" y="0"/>
                </a:moveTo>
                <a:lnTo>
                  <a:pt x="3171825" y="0"/>
                </a:lnTo>
                <a:cubicBezTo>
                  <a:pt x="3213881" y="0"/>
                  <a:pt x="3248025" y="34144"/>
                  <a:pt x="3248025" y="76200"/>
                </a:cubicBezTo>
                <a:lnTo>
                  <a:pt x="3248025" y="533400"/>
                </a:lnTo>
                <a:cubicBezTo>
                  <a:pt x="3248025" y="575456"/>
                  <a:pt x="3213881" y="609600"/>
                  <a:pt x="3171825" y="609600"/>
                </a:cubicBezTo>
                <a:lnTo>
                  <a:pt x="38100" y="609600"/>
                </a:lnTo>
                <a:cubicBezTo>
                  <a:pt x="17072" y="609600"/>
                  <a:pt x="0" y="592528"/>
                  <a:pt x="0" y="571500"/>
                </a:cubicBezTo>
                <a:lnTo>
                  <a:pt x="0" y="38100"/>
                </a:lnTo>
                <a:cubicBezTo>
                  <a:pt x="0" y="17072"/>
                  <a:pt x="17072" y="0"/>
                  <a:pt x="38100" y="0"/>
                </a:cubicBezTo>
                <a:close/>
              </a:path>
            </a:pathLst>
          </a:custGeom>
          <a:solidFill>
            <a:srgbClr val="1A1D24">
              <a:alpha val="60000"/>
            </a:srgbClr>
          </a:solidFill>
          <a:ln/>
        </p:spPr>
        <p:txBody>
          <a:bodyPr/>
          <a:lstStyle/>
          <a:p>
            <a:endParaRPr lang="en-GB"/>
          </a:p>
        </p:txBody>
      </p:sp>
      <p:sp>
        <p:nvSpPr>
          <p:cNvPr id="34" name="Shape 32"/>
          <p:cNvSpPr/>
          <p:nvPr/>
        </p:nvSpPr>
        <p:spPr>
          <a:xfrm>
            <a:off x="4483001" y="2305050"/>
            <a:ext cx="38100" cy="609600"/>
          </a:xfrm>
          <a:custGeom>
            <a:avLst/>
            <a:gdLst/>
            <a:ahLst/>
            <a:cxnLst/>
            <a:rect l="l" t="t" r="r" b="b"/>
            <a:pathLst>
              <a:path w="38100" h="609600">
                <a:moveTo>
                  <a:pt x="38100" y="0"/>
                </a:moveTo>
                <a:lnTo>
                  <a:pt x="38100" y="0"/>
                </a:lnTo>
                <a:lnTo>
                  <a:pt x="38100" y="609600"/>
                </a:lnTo>
                <a:lnTo>
                  <a:pt x="38100" y="609600"/>
                </a:lnTo>
                <a:cubicBezTo>
                  <a:pt x="17072" y="609600"/>
                  <a:pt x="0" y="592528"/>
                  <a:pt x="0" y="571500"/>
                </a:cubicBezTo>
                <a:lnTo>
                  <a:pt x="0" y="38100"/>
                </a:lnTo>
                <a:cubicBezTo>
                  <a:pt x="0" y="17072"/>
                  <a:pt x="17072" y="0"/>
                  <a:pt x="38100" y="0"/>
                </a:cubicBezTo>
                <a:close/>
              </a:path>
            </a:pathLst>
          </a:custGeom>
          <a:solidFill>
            <a:srgbClr val="4A6C8C"/>
          </a:solidFill>
          <a:ln/>
        </p:spPr>
        <p:txBody>
          <a:bodyPr/>
          <a:lstStyle/>
          <a:p>
            <a:endParaRPr lang="en-GB"/>
          </a:p>
        </p:txBody>
      </p:sp>
      <p:sp>
        <p:nvSpPr>
          <p:cNvPr id="35" name="Text 33"/>
          <p:cNvSpPr/>
          <p:nvPr/>
        </p:nvSpPr>
        <p:spPr>
          <a:xfrm>
            <a:off x="4616351" y="2419350"/>
            <a:ext cx="3067050" cy="190500"/>
          </a:xfrm>
          <a:prstGeom prst="rect">
            <a:avLst/>
          </a:prstGeom>
          <a:noFill/>
          <a:ln/>
        </p:spPr>
        <p:txBody>
          <a:bodyPr wrap="square" lIns="0" tIns="0" rIns="0" bIns="0" rtlCol="0" anchor="ctr"/>
          <a:lstStyle/>
          <a:p>
            <a:pPr>
              <a:lnSpc>
                <a:spcPct val="120000"/>
              </a:lnSpc>
            </a:pPr>
            <a:r>
              <a:rPr lang="en-US" sz="1050" b="1" dirty="0">
                <a:solidFill>
                  <a:srgbClr val="EDF2F4"/>
                </a:solidFill>
                <a:latin typeface="Quattrocento Sans" pitchFamily="34" charset="0"/>
                <a:ea typeface="Quattrocento Sans" pitchFamily="34" charset="-122"/>
                <a:cs typeface="Quattrocento Sans" pitchFamily="34" charset="-120"/>
              </a:rPr>
              <a:t>Apply Preprocessing</a:t>
            </a:r>
            <a:endParaRPr lang="en-US" sz="1600" dirty="0"/>
          </a:p>
        </p:txBody>
      </p:sp>
      <p:sp>
        <p:nvSpPr>
          <p:cNvPr id="36" name="Text 34"/>
          <p:cNvSpPr/>
          <p:nvPr/>
        </p:nvSpPr>
        <p:spPr>
          <a:xfrm>
            <a:off x="4616351" y="2647950"/>
            <a:ext cx="3057525" cy="152400"/>
          </a:xfrm>
          <a:prstGeom prst="rect">
            <a:avLst/>
          </a:prstGeom>
          <a:noFill/>
          <a:ln/>
        </p:spPr>
        <p:txBody>
          <a:bodyPr wrap="square" lIns="0" tIns="0" rIns="0" bIns="0" rtlCol="0" anchor="ctr"/>
          <a:lstStyle/>
          <a:p>
            <a:pPr>
              <a:lnSpc>
                <a:spcPct val="110000"/>
              </a:lnSpc>
            </a:pPr>
            <a:r>
              <a:rPr lang="en-US" sz="900" dirty="0">
                <a:solidFill>
                  <a:srgbClr val="8D99AE"/>
                </a:solidFill>
                <a:latin typeface="Quattrocento Sans" pitchFamily="34" charset="0"/>
                <a:ea typeface="Quattrocento Sans" pitchFamily="34" charset="-122"/>
                <a:cs typeface="Quattrocento Sans" pitchFamily="34" charset="-120"/>
              </a:rPr>
              <a:t>Normalization, encoding, augmentation, cleaning</a:t>
            </a:r>
            <a:endParaRPr lang="en-US" sz="1600" dirty="0"/>
          </a:p>
        </p:txBody>
      </p:sp>
      <p:sp>
        <p:nvSpPr>
          <p:cNvPr id="37" name="Shape 35"/>
          <p:cNvSpPr/>
          <p:nvPr/>
        </p:nvSpPr>
        <p:spPr>
          <a:xfrm>
            <a:off x="4483001" y="2990850"/>
            <a:ext cx="3248025" cy="609600"/>
          </a:xfrm>
          <a:custGeom>
            <a:avLst/>
            <a:gdLst/>
            <a:ahLst/>
            <a:cxnLst/>
            <a:rect l="l" t="t" r="r" b="b"/>
            <a:pathLst>
              <a:path w="3248025" h="609600">
                <a:moveTo>
                  <a:pt x="38100" y="0"/>
                </a:moveTo>
                <a:lnTo>
                  <a:pt x="3171825" y="0"/>
                </a:lnTo>
                <a:cubicBezTo>
                  <a:pt x="3213881" y="0"/>
                  <a:pt x="3248025" y="34144"/>
                  <a:pt x="3248025" y="76200"/>
                </a:cubicBezTo>
                <a:lnTo>
                  <a:pt x="3248025" y="533400"/>
                </a:lnTo>
                <a:cubicBezTo>
                  <a:pt x="3248025" y="575456"/>
                  <a:pt x="3213881" y="609600"/>
                  <a:pt x="3171825" y="609600"/>
                </a:cubicBezTo>
                <a:lnTo>
                  <a:pt x="38100" y="609600"/>
                </a:lnTo>
                <a:cubicBezTo>
                  <a:pt x="17072" y="609600"/>
                  <a:pt x="0" y="592528"/>
                  <a:pt x="0" y="571500"/>
                </a:cubicBezTo>
                <a:lnTo>
                  <a:pt x="0" y="38100"/>
                </a:lnTo>
                <a:cubicBezTo>
                  <a:pt x="0" y="17072"/>
                  <a:pt x="17072" y="0"/>
                  <a:pt x="38100" y="0"/>
                </a:cubicBezTo>
                <a:close/>
              </a:path>
            </a:pathLst>
          </a:custGeom>
          <a:solidFill>
            <a:srgbClr val="1A1D24">
              <a:alpha val="60000"/>
            </a:srgbClr>
          </a:solidFill>
          <a:ln/>
        </p:spPr>
        <p:txBody>
          <a:bodyPr/>
          <a:lstStyle/>
          <a:p>
            <a:endParaRPr lang="en-GB"/>
          </a:p>
        </p:txBody>
      </p:sp>
      <p:sp>
        <p:nvSpPr>
          <p:cNvPr id="38" name="Shape 36"/>
          <p:cNvSpPr/>
          <p:nvPr/>
        </p:nvSpPr>
        <p:spPr>
          <a:xfrm>
            <a:off x="4483001" y="2990850"/>
            <a:ext cx="38100" cy="609600"/>
          </a:xfrm>
          <a:custGeom>
            <a:avLst/>
            <a:gdLst/>
            <a:ahLst/>
            <a:cxnLst/>
            <a:rect l="l" t="t" r="r" b="b"/>
            <a:pathLst>
              <a:path w="38100" h="609600">
                <a:moveTo>
                  <a:pt x="38100" y="0"/>
                </a:moveTo>
                <a:lnTo>
                  <a:pt x="38100" y="0"/>
                </a:lnTo>
                <a:lnTo>
                  <a:pt x="38100" y="609600"/>
                </a:lnTo>
                <a:lnTo>
                  <a:pt x="38100" y="609600"/>
                </a:lnTo>
                <a:cubicBezTo>
                  <a:pt x="17072" y="609600"/>
                  <a:pt x="0" y="592528"/>
                  <a:pt x="0" y="571500"/>
                </a:cubicBezTo>
                <a:lnTo>
                  <a:pt x="0" y="38100"/>
                </a:lnTo>
                <a:cubicBezTo>
                  <a:pt x="0" y="17072"/>
                  <a:pt x="17072" y="0"/>
                  <a:pt x="38100" y="0"/>
                </a:cubicBezTo>
                <a:close/>
              </a:path>
            </a:pathLst>
          </a:custGeom>
          <a:solidFill>
            <a:srgbClr val="4A6C8C"/>
          </a:solidFill>
          <a:ln/>
        </p:spPr>
        <p:txBody>
          <a:bodyPr/>
          <a:lstStyle/>
          <a:p>
            <a:endParaRPr lang="en-GB"/>
          </a:p>
        </p:txBody>
      </p:sp>
      <p:sp>
        <p:nvSpPr>
          <p:cNvPr id="39" name="Text 37"/>
          <p:cNvSpPr/>
          <p:nvPr/>
        </p:nvSpPr>
        <p:spPr>
          <a:xfrm>
            <a:off x="4616351" y="3105150"/>
            <a:ext cx="3067050" cy="190500"/>
          </a:xfrm>
          <a:prstGeom prst="rect">
            <a:avLst/>
          </a:prstGeom>
          <a:noFill/>
          <a:ln/>
        </p:spPr>
        <p:txBody>
          <a:bodyPr wrap="square" lIns="0" tIns="0" rIns="0" bIns="0" rtlCol="0" anchor="ctr"/>
          <a:lstStyle/>
          <a:p>
            <a:pPr>
              <a:lnSpc>
                <a:spcPct val="120000"/>
              </a:lnSpc>
            </a:pPr>
            <a:r>
              <a:rPr lang="en-US" sz="1050" b="1" dirty="0">
                <a:solidFill>
                  <a:srgbClr val="EDF2F4"/>
                </a:solidFill>
                <a:latin typeface="Quattrocento Sans" pitchFamily="34" charset="0"/>
                <a:ea typeface="Quattrocento Sans" pitchFamily="34" charset="-122"/>
                <a:cs typeface="Quattrocento Sans" pitchFamily="34" charset="-120"/>
              </a:rPr>
              <a:t>Train Lightweight Model</a:t>
            </a:r>
            <a:endParaRPr lang="en-US" sz="1600" dirty="0"/>
          </a:p>
        </p:txBody>
      </p:sp>
      <p:sp>
        <p:nvSpPr>
          <p:cNvPr id="40" name="Text 38"/>
          <p:cNvSpPr/>
          <p:nvPr/>
        </p:nvSpPr>
        <p:spPr>
          <a:xfrm>
            <a:off x="4616351" y="3333750"/>
            <a:ext cx="3057525" cy="152400"/>
          </a:xfrm>
          <a:prstGeom prst="rect">
            <a:avLst/>
          </a:prstGeom>
          <a:noFill/>
          <a:ln/>
        </p:spPr>
        <p:txBody>
          <a:bodyPr wrap="square" lIns="0" tIns="0" rIns="0" bIns="0" rtlCol="0" anchor="ctr"/>
          <a:lstStyle/>
          <a:p>
            <a:pPr>
              <a:lnSpc>
                <a:spcPct val="110000"/>
              </a:lnSpc>
            </a:pPr>
            <a:r>
              <a:rPr lang="en-US" sz="900" dirty="0">
                <a:solidFill>
                  <a:srgbClr val="8D99AE"/>
                </a:solidFill>
                <a:latin typeface="Quattrocento Sans" pitchFamily="34" charset="0"/>
                <a:ea typeface="Quattrocento Sans" pitchFamily="34" charset="-122"/>
                <a:cs typeface="Quattrocento Sans" pitchFamily="34" charset="-120"/>
              </a:rPr>
              <a:t>Quick evaluation of preprocessing effectiveness</a:t>
            </a:r>
            <a:endParaRPr lang="en-US" sz="1600" dirty="0"/>
          </a:p>
        </p:txBody>
      </p:sp>
      <p:sp>
        <p:nvSpPr>
          <p:cNvPr id="41" name="Shape 39"/>
          <p:cNvSpPr/>
          <p:nvPr/>
        </p:nvSpPr>
        <p:spPr>
          <a:xfrm>
            <a:off x="4483001" y="3676650"/>
            <a:ext cx="3248025" cy="609600"/>
          </a:xfrm>
          <a:custGeom>
            <a:avLst/>
            <a:gdLst/>
            <a:ahLst/>
            <a:cxnLst/>
            <a:rect l="l" t="t" r="r" b="b"/>
            <a:pathLst>
              <a:path w="3248025" h="609600">
                <a:moveTo>
                  <a:pt x="38100" y="0"/>
                </a:moveTo>
                <a:lnTo>
                  <a:pt x="3171825" y="0"/>
                </a:lnTo>
                <a:cubicBezTo>
                  <a:pt x="3213881" y="0"/>
                  <a:pt x="3248025" y="34144"/>
                  <a:pt x="3248025" y="76200"/>
                </a:cubicBezTo>
                <a:lnTo>
                  <a:pt x="3248025" y="533400"/>
                </a:lnTo>
                <a:cubicBezTo>
                  <a:pt x="3248025" y="575456"/>
                  <a:pt x="3213881" y="609600"/>
                  <a:pt x="3171825" y="609600"/>
                </a:cubicBezTo>
                <a:lnTo>
                  <a:pt x="38100" y="609600"/>
                </a:lnTo>
                <a:cubicBezTo>
                  <a:pt x="17072" y="609600"/>
                  <a:pt x="0" y="592528"/>
                  <a:pt x="0" y="571500"/>
                </a:cubicBezTo>
                <a:lnTo>
                  <a:pt x="0" y="38100"/>
                </a:lnTo>
                <a:cubicBezTo>
                  <a:pt x="0" y="17072"/>
                  <a:pt x="17072" y="0"/>
                  <a:pt x="38100" y="0"/>
                </a:cubicBezTo>
                <a:close/>
              </a:path>
            </a:pathLst>
          </a:custGeom>
          <a:solidFill>
            <a:srgbClr val="1A1D24">
              <a:alpha val="60000"/>
            </a:srgbClr>
          </a:solidFill>
          <a:ln/>
        </p:spPr>
        <p:txBody>
          <a:bodyPr/>
          <a:lstStyle/>
          <a:p>
            <a:endParaRPr lang="en-GB"/>
          </a:p>
        </p:txBody>
      </p:sp>
      <p:sp>
        <p:nvSpPr>
          <p:cNvPr id="42" name="Shape 40"/>
          <p:cNvSpPr/>
          <p:nvPr/>
        </p:nvSpPr>
        <p:spPr>
          <a:xfrm>
            <a:off x="4483001" y="3676650"/>
            <a:ext cx="38100" cy="609600"/>
          </a:xfrm>
          <a:custGeom>
            <a:avLst/>
            <a:gdLst/>
            <a:ahLst/>
            <a:cxnLst/>
            <a:rect l="l" t="t" r="r" b="b"/>
            <a:pathLst>
              <a:path w="38100" h="609600">
                <a:moveTo>
                  <a:pt x="38100" y="0"/>
                </a:moveTo>
                <a:lnTo>
                  <a:pt x="38100" y="0"/>
                </a:lnTo>
                <a:lnTo>
                  <a:pt x="38100" y="609600"/>
                </a:lnTo>
                <a:lnTo>
                  <a:pt x="38100" y="609600"/>
                </a:lnTo>
                <a:cubicBezTo>
                  <a:pt x="17072" y="609600"/>
                  <a:pt x="0" y="592528"/>
                  <a:pt x="0" y="571500"/>
                </a:cubicBezTo>
                <a:lnTo>
                  <a:pt x="0" y="38100"/>
                </a:lnTo>
                <a:cubicBezTo>
                  <a:pt x="0" y="17072"/>
                  <a:pt x="17072" y="0"/>
                  <a:pt x="38100" y="0"/>
                </a:cubicBezTo>
                <a:close/>
              </a:path>
            </a:pathLst>
          </a:custGeom>
          <a:solidFill>
            <a:srgbClr val="4A6C8C"/>
          </a:solidFill>
          <a:ln/>
        </p:spPr>
        <p:txBody>
          <a:bodyPr/>
          <a:lstStyle/>
          <a:p>
            <a:endParaRPr lang="en-GB"/>
          </a:p>
        </p:txBody>
      </p:sp>
      <p:sp>
        <p:nvSpPr>
          <p:cNvPr id="43" name="Text 41"/>
          <p:cNvSpPr/>
          <p:nvPr/>
        </p:nvSpPr>
        <p:spPr>
          <a:xfrm>
            <a:off x="4616351" y="3790950"/>
            <a:ext cx="3067050" cy="190500"/>
          </a:xfrm>
          <a:prstGeom prst="rect">
            <a:avLst/>
          </a:prstGeom>
          <a:noFill/>
          <a:ln/>
        </p:spPr>
        <p:txBody>
          <a:bodyPr wrap="square" lIns="0" tIns="0" rIns="0" bIns="0" rtlCol="0" anchor="ctr"/>
          <a:lstStyle/>
          <a:p>
            <a:pPr>
              <a:lnSpc>
                <a:spcPct val="120000"/>
              </a:lnSpc>
            </a:pPr>
            <a:r>
              <a:rPr lang="en-US" sz="1050" b="1" dirty="0">
                <a:solidFill>
                  <a:srgbClr val="EDF2F4"/>
                </a:solidFill>
                <a:latin typeface="Quattrocento Sans" pitchFamily="34" charset="0"/>
                <a:ea typeface="Quattrocento Sans" pitchFamily="34" charset="-122"/>
                <a:cs typeface="Quattrocento Sans" pitchFamily="34" charset="-120"/>
              </a:rPr>
              <a:t>Compare Pipelines</a:t>
            </a:r>
            <a:endParaRPr lang="en-US" sz="1600" dirty="0"/>
          </a:p>
        </p:txBody>
      </p:sp>
      <p:sp>
        <p:nvSpPr>
          <p:cNvPr id="44" name="Text 42"/>
          <p:cNvSpPr/>
          <p:nvPr/>
        </p:nvSpPr>
        <p:spPr>
          <a:xfrm>
            <a:off x="4616351" y="4019550"/>
            <a:ext cx="3057525" cy="152400"/>
          </a:xfrm>
          <a:prstGeom prst="rect">
            <a:avLst/>
          </a:prstGeom>
          <a:noFill/>
          <a:ln/>
        </p:spPr>
        <p:txBody>
          <a:bodyPr wrap="square" lIns="0" tIns="0" rIns="0" bIns="0" rtlCol="0" anchor="ctr"/>
          <a:lstStyle/>
          <a:p>
            <a:pPr>
              <a:lnSpc>
                <a:spcPct val="110000"/>
              </a:lnSpc>
            </a:pPr>
            <a:r>
              <a:rPr lang="en-US" sz="900" dirty="0">
                <a:solidFill>
                  <a:srgbClr val="8D99AE"/>
                </a:solidFill>
                <a:latin typeface="Quattrocento Sans" pitchFamily="34" charset="0"/>
                <a:ea typeface="Quattrocento Sans" pitchFamily="34" charset="-122"/>
                <a:cs typeface="Quattrocento Sans" pitchFamily="34" charset="-120"/>
              </a:rPr>
              <a:t>Benchmark multiple strategies side-by-side</a:t>
            </a:r>
            <a:endParaRPr lang="en-US" sz="1600" dirty="0"/>
          </a:p>
        </p:txBody>
      </p:sp>
      <p:sp>
        <p:nvSpPr>
          <p:cNvPr id="45" name="Shape 43"/>
          <p:cNvSpPr/>
          <p:nvPr/>
        </p:nvSpPr>
        <p:spPr>
          <a:xfrm>
            <a:off x="4483001" y="4362450"/>
            <a:ext cx="3248025" cy="609600"/>
          </a:xfrm>
          <a:custGeom>
            <a:avLst/>
            <a:gdLst/>
            <a:ahLst/>
            <a:cxnLst/>
            <a:rect l="l" t="t" r="r" b="b"/>
            <a:pathLst>
              <a:path w="3248025" h="609600">
                <a:moveTo>
                  <a:pt x="38100" y="0"/>
                </a:moveTo>
                <a:lnTo>
                  <a:pt x="3171825" y="0"/>
                </a:lnTo>
                <a:cubicBezTo>
                  <a:pt x="3213881" y="0"/>
                  <a:pt x="3248025" y="34144"/>
                  <a:pt x="3248025" y="76200"/>
                </a:cubicBezTo>
                <a:lnTo>
                  <a:pt x="3248025" y="533400"/>
                </a:lnTo>
                <a:cubicBezTo>
                  <a:pt x="3248025" y="575456"/>
                  <a:pt x="3213881" y="609600"/>
                  <a:pt x="3171825" y="609600"/>
                </a:cubicBezTo>
                <a:lnTo>
                  <a:pt x="38100" y="609600"/>
                </a:lnTo>
                <a:cubicBezTo>
                  <a:pt x="17072" y="609600"/>
                  <a:pt x="0" y="592528"/>
                  <a:pt x="0" y="571500"/>
                </a:cubicBezTo>
                <a:lnTo>
                  <a:pt x="0" y="38100"/>
                </a:lnTo>
                <a:cubicBezTo>
                  <a:pt x="0" y="17072"/>
                  <a:pt x="17072" y="0"/>
                  <a:pt x="38100" y="0"/>
                </a:cubicBezTo>
                <a:close/>
              </a:path>
            </a:pathLst>
          </a:custGeom>
          <a:solidFill>
            <a:srgbClr val="1A1D24">
              <a:alpha val="60000"/>
            </a:srgbClr>
          </a:solidFill>
          <a:ln/>
        </p:spPr>
        <p:txBody>
          <a:bodyPr/>
          <a:lstStyle/>
          <a:p>
            <a:endParaRPr lang="en-GB"/>
          </a:p>
        </p:txBody>
      </p:sp>
      <p:sp>
        <p:nvSpPr>
          <p:cNvPr id="46" name="Shape 44"/>
          <p:cNvSpPr/>
          <p:nvPr/>
        </p:nvSpPr>
        <p:spPr>
          <a:xfrm>
            <a:off x="4483001" y="4362450"/>
            <a:ext cx="38100" cy="609600"/>
          </a:xfrm>
          <a:custGeom>
            <a:avLst/>
            <a:gdLst/>
            <a:ahLst/>
            <a:cxnLst/>
            <a:rect l="l" t="t" r="r" b="b"/>
            <a:pathLst>
              <a:path w="38100" h="609600">
                <a:moveTo>
                  <a:pt x="38100" y="0"/>
                </a:moveTo>
                <a:lnTo>
                  <a:pt x="38100" y="0"/>
                </a:lnTo>
                <a:lnTo>
                  <a:pt x="38100" y="609600"/>
                </a:lnTo>
                <a:lnTo>
                  <a:pt x="38100" y="609600"/>
                </a:lnTo>
                <a:cubicBezTo>
                  <a:pt x="17072" y="609600"/>
                  <a:pt x="0" y="592528"/>
                  <a:pt x="0" y="571500"/>
                </a:cubicBezTo>
                <a:lnTo>
                  <a:pt x="0" y="38100"/>
                </a:lnTo>
                <a:cubicBezTo>
                  <a:pt x="0" y="17072"/>
                  <a:pt x="17072" y="0"/>
                  <a:pt x="38100" y="0"/>
                </a:cubicBezTo>
                <a:close/>
              </a:path>
            </a:pathLst>
          </a:custGeom>
          <a:solidFill>
            <a:srgbClr val="4A6C8C"/>
          </a:solidFill>
          <a:ln/>
        </p:spPr>
        <p:txBody>
          <a:bodyPr/>
          <a:lstStyle/>
          <a:p>
            <a:endParaRPr lang="en-GB"/>
          </a:p>
        </p:txBody>
      </p:sp>
      <p:sp>
        <p:nvSpPr>
          <p:cNvPr id="47" name="Text 45"/>
          <p:cNvSpPr/>
          <p:nvPr/>
        </p:nvSpPr>
        <p:spPr>
          <a:xfrm>
            <a:off x="4616351" y="4476750"/>
            <a:ext cx="3067050" cy="190500"/>
          </a:xfrm>
          <a:prstGeom prst="rect">
            <a:avLst/>
          </a:prstGeom>
          <a:noFill/>
          <a:ln/>
        </p:spPr>
        <p:txBody>
          <a:bodyPr wrap="square" lIns="0" tIns="0" rIns="0" bIns="0" rtlCol="0" anchor="ctr"/>
          <a:lstStyle/>
          <a:p>
            <a:pPr>
              <a:lnSpc>
                <a:spcPct val="120000"/>
              </a:lnSpc>
            </a:pPr>
            <a:r>
              <a:rPr lang="en-US" sz="1050" b="1" dirty="0">
                <a:solidFill>
                  <a:srgbClr val="EDF2F4"/>
                </a:solidFill>
                <a:latin typeface="Quattrocento Sans" pitchFamily="34" charset="0"/>
                <a:ea typeface="Quattrocento Sans" pitchFamily="34" charset="-122"/>
                <a:cs typeface="Quattrocento Sans" pitchFamily="34" charset="-120"/>
              </a:rPr>
              <a:t>Store Experience</a:t>
            </a:r>
            <a:endParaRPr lang="en-US" sz="1600" dirty="0"/>
          </a:p>
        </p:txBody>
      </p:sp>
      <p:sp>
        <p:nvSpPr>
          <p:cNvPr id="48" name="Text 46"/>
          <p:cNvSpPr/>
          <p:nvPr/>
        </p:nvSpPr>
        <p:spPr>
          <a:xfrm>
            <a:off x="4616351" y="4705350"/>
            <a:ext cx="3057525" cy="152400"/>
          </a:xfrm>
          <a:prstGeom prst="rect">
            <a:avLst/>
          </a:prstGeom>
          <a:noFill/>
          <a:ln/>
        </p:spPr>
        <p:txBody>
          <a:bodyPr wrap="square" lIns="0" tIns="0" rIns="0" bIns="0" rtlCol="0" anchor="ctr"/>
          <a:lstStyle/>
          <a:p>
            <a:pPr>
              <a:lnSpc>
                <a:spcPct val="110000"/>
              </a:lnSpc>
            </a:pPr>
            <a:r>
              <a:rPr lang="en-US" sz="900" dirty="0">
                <a:solidFill>
                  <a:srgbClr val="8D99AE"/>
                </a:solidFill>
                <a:latin typeface="Quattrocento Sans" pitchFamily="34" charset="0"/>
                <a:ea typeface="Quattrocento Sans" pitchFamily="34" charset="-122"/>
                <a:cs typeface="Quattrocento Sans" pitchFamily="34" charset="-120"/>
              </a:rPr>
              <a:t>Save successful strategies for future datasets</a:t>
            </a:r>
            <a:endParaRPr lang="en-US" sz="1600" dirty="0"/>
          </a:p>
        </p:txBody>
      </p:sp>
      <p:sp>
        <p:nvSpPr>
          <p:cNvPr id="49" name="Shape 47"/>
          <p:cNvSpPr/>
          <p:nvPr/>
        </p:nvSpPr>
        <p:spPr>
          <a:xfrm>
            <a:off x="4483001" y="5048250"/>
            <a:ext cx="3248025" cy="609600"/>
          </a:xfrm>
          <a:custGeom>
            <a:avLst/>
            <a:gdLst/>
            <a:ahLst/>
            <a:cxnLst/>
            <a:rect l="l" t="t" r="r" b="b"/>
            <a:pathLst>
              <a:path w="3248025" h="609600">
                <a:moveTo>
                  <a:pt x="38100" y="0"/>
                </a:moveTo>
                <a:lnTo>
                  <a:pt x="3171825" y="0"/>
                </a:lnTo>
                <a:cubicBezTo>
                  <a:pt x="3213881" y="0"/>
                  <a:pt x="3248025" y="34144"/>
                  <a:pt x="3248025" y="76200"/>
                </a:cubicBezTo>
                <a:lnTo>
                  <a:pt x="3248025" y="533400"/>
                </a:lnTo>
                <a:cubicBezTo>
                  <a:pt x="3248025" y="575456"/>
                  <a:pt x="3213881" y="609600"/>
                  <a:pt x="3171825" y="609600"/>
                </a:cubicBezTo>
                <a:lnTo>
                  <a:pt x="38100" y="609600"/>
                </a:lnTo>
                <a:cubicBezTo>
                  <a:pt x="17072" y="609600"/>
                  <a:pt x="0" y="592528"/>
                  <a:pt x="0" y="571500"/>
                </a:cubicBezTo>
                <a:lnTo>
                  <a:pt x="0" y="38100"/>
                </a:lnTo>
                <a:cubicBezTo>
                  <a:pt x="0" y="17072"/>
                  <a:pt x="17072" y="0"/>
                  <a:pt x="38100" y="0"/>
                </a:cubicBezTo>
                <a:close/>
              </a:path>
            </a:pathLst>
          </a:custGeom>
          <a:solidFill>
            <a:srgbClr val="1A1D24">
              <a:alpha val="60000"/>
            </a:srgbClr>
          </a:solidFill>
          <a:ln/>
        </p:spPr>
        <p:txBody>
          <a:bodyPr/>
          <a:lstStyle/>
          <a:p>
            <a:endParaRPr lang="en-GB"/>
          </a:p>
        </p:txBody>
      </p:sp>
      <p:sp>
        <p:nvSpPr>
          <p:cNvPr id="50" name="Shape 48"/>
          <p:cNvSpPr/>
          <p:nvPr/>
        </p:nvSpPr>
        <p:spPr>
          <a:xfrm>
            <a:off x="4483001" y="5048250"/>
            <a:ext cx="38100" cy="609600"/>
          </a:xfrm>
          <a:custGeom>
            <a:avLst/>
            <a:gdLst/>
            <a:ahLst/>
            <a:cxnLst/>
            <a:rect l="l" t="t" r="r" b="b"/>
            <a:pathLst>
              <a:path w="38100" h="609600">
                <a:moveTo>
                  <a:pt x="38100" y="0"/>
                </a:moveTo>
                <a:lnTo>
                  <a:pt x="38100" y="0"/>
                </a:lnTo>
                <a:lnTo>
                  <a:pt x="38100" y="609600"/>
                </a:lnTo>
                <a:lnTo>
                  <a:pt x="38100" y="609600"/>
                </a:lnTo>
                <a:cubicBezTo>
                  <a:pt x="17072" y="609600"/>
                  <a:pt x="0" y="592528"/>
                  <a:pt x="0" y="571500"/>
                </a:cubicBezTo>
                <a:lnTo>
                  <a:pt x="0" y="38100"/>
                </a:lnTo>
                <a:cubicBezTo>
                  <a:pt x="0" y="17072"/>
                  <a:pt x="17072" y="0"/>
                  <a:pt x="38100" y="0"/>
                </a:cubicBezTo>
                <a:close/>
              </a:path>
            </a:pathLst>
          </a:custGeom>
          <a:solidFill>
            <a:srgbClr val="4A6C8C"/>
          </a:solidFill>
          <a:ln/>
        </p:spPr>
        <p:txBody>
          <a:bodyPr/>
          <a:lstStyle/>
          <a:p>
            <a:endParaRPr lang="en-GB"/>
          </a:p>
        </p:txBody>
      </p:sp>
      <p:sp>
        <p:nvSpPr>
          <p:cNvPr id="51" name="Text 49"/>
          <p:cNvSpPr/>
          <p:nvPr/>
        </p:nvSpPr>
        <p:spPr>
          <a:xfrm>
            <a:off x="4616351" y="5162550"/>
            <a:ext cx="3067050" cy="190500"/>
          </a:xfrm>
          <a:prstGeom prst="rect">
            <a:avLst/>
          </a:prstGeom>
          <a:noFill/>
          <a:ln/>
        </p:spPr>
        <p:txBody>
          <a:bodyPr wrap="square" lIns="0" tIns="0" rIns="0" bIns="0" rtlCol="0" anchor="ctr"/>
          <a:lstStyle/>
          <a:p>
            <a:pPr>
              <a:lnSpc>
                <a:spcPct val="120000"/>
              </a:lnSpc>
            </a:pPr>
            <a:r>
              <a:rPr lang="en-US" sz="1050" b="1" dirty="0">
                <a:solidFill>
                  <a:srgbClr val="EDF2F4"/>
                </a:solidFill>
                <a:latin typeface="Quattrocento Sans" pitchFamily="34" charset="0"/>
                <a:ea typeface="Quattrocento Sans" pitchFamily="34" charset="-122"/>
                <a:cs typeface="Quattrocento Sans" pitchFamily="34" charset="-120"/>
              </a:rPr>
              <a:t>Update Knowledge Base</a:t>
            </a:r>
            <a:endParaRPr lang="en-US" sz="1600" dirty="0"/>
          </a:p>
        </p:txBody>
      </p:sp>
      <p:sp>
        <p:nvSpPr>
          <p:cNvPr id="52" name="Text 50"/>
          <p:cNvSpPr/>
          <p:nvPr/>
        </p:nvSpPr>
        <p:spPr>
          <a:xfrm>
            <a:off x="4616351" y="5391150"/>
            <a:ext cx="3057525" cy="152400"/>
          </a:xfrm>
          <a:prstGeom prst="rect">
            <a:avLst/>
          </a:prstGeom>
          <a:noFill/>
          <a:ln/>
        </p:spPr>
        <p:txBody>
          <a:bodyPr wrap="square" lIns="0" tIns="0" rIns="0" bIns="0" rtlCol="0" anchor="ctr"/>
          <a:lstStyle/>
          <a:p>
            <a:pPr>
              <a:lnSpc>
                <a:spcPct val="110000"/>
              </a:lnSpc>
            </a:pPr>
            <a:r>
              <a:rPr lang="en-US" sz="900" dirty="0">
                <a:solidFill>
                  <a:srgbClr val="8D99AE"/>
                </a:solidFill>
                <a:latin typeface="Quattrocento Sans" pitchFamily="34" charset="0"/>
                <a:ea typeface="Quattrocento Sans" pitchFamily="34" charset="-122"/>
                <a:cs typeface="Quattrocento Sans" pitchFamily="34" charset="-120"/>
              </a:rPr>
              <a:t>Meta-learning from accumulated experiences</a:t>
            </a:r>
            <a:endParaRPr lang="en-US" sz="1600" dirty="0"/>
          </a:p>
        </p:txBody>
      </p:sp>
      <p:sp>
        <p:nvSpPr>
          <p:cNvPr id="53" name="Shape 51"/>
          <p:cNvSpPr/>
          <p:nvPr/>
        </p:nvSpPr>
        <p:spPr>
          <a:xfrm>
            <a:off x="8137475" y="1419225"/>
            <a:ext cx="3667125" cy="4438650"/>
          </a:xfrm>
          <a:custGeom>
            <a:avLst/>
            <a:gdLst/>
            <a:ahLst/>
            <a:cxnLst/>
            <a:rect l="l" t="t" r="r" b="b"/>
            <a:pathLst>
              <a:path w="3667125" h="4438650">
                <a:moveTo>
                  <a:pt x="114304" y="0"/>
                </a:moveTo>
                <a:lnTo>
                  <a:pt x="3552821" y="0"/>
                </a:lnTo>
                <a:cubicBezTo>
                  <a:pt x="3615949" y="0"/>
                  <a:pt x="3667125" y="51176"/>
                  <a:pt x="3667125" y="114304"/>
                </a:cubicBezTo>
                <a:lnTo>
                  <a:pt x="3667125" y="4324346"/>
                </a:lnTo>
                <a:cubicBezTo>
                  <a:pt x="3667125" y="4387474"/>
                  <a:pt x="3615949" y="4438650"/>
                  <a:pt x="3552821" y="4438650"/>
                </a:cubicBezTo>
                <a:lnTo>
                  <a:pt x="114304" y="4438650"/>
                </a:lnTo>
                <a:cubicBezTo>
                  <a:pt x="51176" y="4438650"/>
                  <a:pt x="0" y="4387474"/>
                  <a:pt x="0" y="4324346"/>
                </a:cubicBezTo>
                <a:lnTo>
                  <a:pt x="0" y="114304"/>
                </a:lnTo>
                <a:cubicBezTo>
                  <a:pt x="0" y="51176"/>
                  <a:pt x="51176" y="0"/>
                  <a:pt x="114304" y="0"/>
                </a:cubicBezTo>
                <a:close/>
              </a:path>
            </a:pathLst>
          </a:custGeom>
          <a:gradFill flip="none" rotWithShape="1">
            <a:gsLst>
              <a:gs pos="0">
                <a:srgbClr val="4A6C8C">
                  <a:alpha val="30000"/>
                </a:srgbClr>
              </a:gs>
              <a:gs pos="100000">
                <a:srgbClr val="4A6C8C">
                  <a:alpha val="10000"/>
                </a:srgbClr>
              </a:gs>
            </a:gsLst>
            <a:lin ang="5400000" scaled="1"/>
          </a:gradFill>
          <a:ln w="25400">
            <a:solidFill>
              <a:srgbClr val="4A6C8C"/>
            </a:solidFill>
            <a:prstDash val="solid"/>
          </a:ln>
        </p:spPr>
        <p:txBody>
          <a:bodyPr/>
          <a:lstStyle/>
          <a:p>
            <a:endParaRPr lang="en-GB"/>
          </a:p>
        </p:txBody>
      </p:sp>
      <p:sp>
        <p:nvSpPr>
          <p:cNvPr id="54" name="Shape 52"/>
          <p:cNvSpPr/>
          <p:nvPr/>
        </p:nvSpPr>
        <p:spPr>
          <a:xfrm>
            <a:off x="8337500" y="1657350"/>
            <a:ext cx="457200" cy="457200"/>
          </a:xfrm>
          <a:custGeom>
            <a:avLst/>
            <a:gdLst/>
            <a:ahLst/>
            <a:cxnLst/>
            <a:rect l="l" t="t" r="r" b="b"/>
            <a:pathLst>
              <a:path w="457200" h="457200">
                <a:moveTo>
                  <a:pt x="228600" y="0"/>
                </a:moveTo>
                <a:lnTo>
                  <a:pt x="228600" y="0"/>
                </a:lnTo>
                <a:cubicBezTo>
                  <a:pt x="354768" y="0"/>
                  <a:pt x="457200" y="102432"/>
                  <a:pt x="457200" y="228600"/>
                </a:cubicBezTo>
                <a:lnTo>
                  <a:pt x="457200" y="228600"/>
                </a:lnTo>
                <a:cubicBezTo>
                  <a:pt x="457200" y="354768"/>
                  <a:pt x="354768" y="457200"/>
                  <a:pt x="228600" y="457200"/>
                </a:cubicBezTo>
                <a:lnTo>
                  <a:pt x="228600" y="457200"/>
                </a:lnTo>
                <a:cubicBezTo>
                  <a:pt x="102432" y="457200"/>
                  <a:pt x="0" y="354768"/>
                  <a:pt x="0" y="228600"/>
                </a:cubicBezTo>
                <a:lnTo>
                  <a:pt x="0" y="228600"/>
                </a:lnTo>
                <a:cubicBezTo>
                  <a:pt x="0" y="102432"/>
                  <a:pt x="102432" y="0"/>
                  <a:pt x="228600" y="0"/>
                </a:cubicBezTo>
                <a:close/>
              </a:path>
            </a:pathLst>
          </a:custGeom>
          <a:solidFill>
            <a:srgbClr val="4A6C8C"/>
          </a:solidFill>
          <a:ln/>
        </p:spPr>
        <p:txBody>
          <a:bodyPr/>
          <a:lstStyle/>
          <a:p>
            <a:endParaRPr lang="en-GB"/>
          </a:p>
        </p:txBody>
      </p:sp>
      <p:sp>
        <p:nvSpPr>
          <p:cNvPr id="55" name="Shape 53"/>
          <p:cNvSpPr/>
          <p:nvPr/>
        </p:nvSpPr>
        <p:spPr>
          <a:xfrm>
            <a:off x="8470850" y="1790700"/>
            <a:ext cx="190500" cy="190500"/>
          </a:xfrm>
          <a:custGeom>
            <a:avLst/>
            <a:gdLst/>
            <a:ahLst/>
            <a:cxnLst/>
            <a:rect l="l" t="t" r="r" b="b"/>
            <a:pathLst>
              <a:path w="190500" h="190500">
                <a:moveTo>
                  <a:pt x="53690" y="0"/>
                </a:moveTo>
                <a:lnTo>
                  <a:pt x="137033" y="0"/>
                </a:lnTo>
                <a:cubicBezTo>
                  <a:pt x="146893" y="0"/>
                  <a:pt x="154930" y="8111"/>
                  <a:pt x="154558" y="17934"/>
                </a:cubicBezTo>
                <a:cubicBezTo>
                  <a:pt x="154484" y="19906"/>
                  <a:pt x="154409" y="21878"/>
                  <a:pt x="154298" y="23812"/>
                </a:cubicBezTo>
                <a:lnTo>
                  <a:pt x="172752" y="23812"/>
                </a:lnTo>
                <a:cubicBezTo>
                  <a:pt x="182463" y="23812"/>
                  <a:pt x="191021" y="31849"/>
                  <a:pt x="190277" y="42342"/>
                </a:cubicBezTo>
                <a:cubicBezTo>
                  <a:pt x="187486" y="80925"/>
                  <a:pt x="167767" y="102133"/>
                  <a:pt x="146372" y="113221"/>
                </a:cubicBezTo>
                <a:cubicBezTo>
                  <a:pt x="140494" y="116272"/>
                  <a:pt x="134503" y="118542"/>
                  <a:pt x="128811" y="120216"/>
                </a:cubicBezTo>
                <a:cubicBezTo>
                  <a:pt x="121295" y="130857"/>
                  <a:pt x="113481" y="136475"/>
                  <a:pt x="107268" y="139489"/>
                </a:cubicBezTo>
                <a:lnTo>
                  <a:pt x="107268" y="166688"/>
                </a:lnTo>
                <a:lnTo>
                  <a:pt x="131080" y="166688"/>
                </a:lnTo>
                <a:cubicBezTo>
                  <a:pt x="137666" y="166688"/>
                  <a:pt x="142987" y="172008"/>
                  <a:pt x="142987" y="178594"/>
                </a:cubicBezTo>
                <a:cubicBezTo>
                  <a:pt x="142987" y="185179"/>
                  <a:pt x="137666" y="190500"/>
                  <a:pt x="131080" y="190500"/>
                </a:cubicBezTo>
                <a:lnTo>
                  <a:pt x="59643" y="190500"/>
                </a:lnTo>
                <a:cubicBezTo>
                  <a:pt x="53057" y="190500"/>
                  <a:pt x="47737" y="185179"/>
                  <a:pt x="47737" y="178594"/>
                </a:cubicBezTo>
                <a:cubicBezTo>
                  <a:pt x="47737" y="172008"/>
                  <a:pt x="53057" y="166688"/>
                  <a:pt x="59643" y="166688"/>
                </a:cubicBezTo>
                <a:lnTo>
                  <a:pt x="83455" y="166688"/>
                </a:lnTo>
                <a:lnTo>
                  <a:pt x="83455" y="139489"/>
                </a:lnTo>
                <a:cubicBezTo>
                  <a:pt x="77502" y="136624"/>
                  <a:pt x="70098" y="131304"/>
                  <a:pt x="62880" y="121518"/>
                </a:cubicBezTo>
                <a:cubicBezTo>
                  <a:pt x="56034" y="119732"/>
                  <a:pt x="48592" y="117016"/>
                  <a:pt x="41337" y="112923"/>
                </a:cubicBezTo>
                <a:cubicBezTo>
                  <a:pt x="21208" y="101650"/>
                  <a:pt x="3051" y="80404"/>
                  <a:pt x="446" y="42267"/>
                </a:cubicBezTo>
                <a:cubicBezTo>
                  <a:pt x="-260" y="31812"/>
                  <a:pt x="8260" y="23775"/>
                  <a:pt x="17971" y="23775"/>
                </a:cubicBezTo>
                <a:lnTo>
                  <a:pt x="36426" y="23775"/>
                </a:lnTo>
                <a:cubicBezTo>
                  <a:pt x="36314" y="21841"/>
                  <a:pt x="36240" y="19906"/>
                  <a:pt x="36165" y="17897"/>
                </a:cubicBezTo>
                <a:cubicBezTo>
                  <a:pt x="35793" y="8037"/>
                  <a:pt x="43830" y="-37"/>
                  <a:pt x="53690" y="-37"/>
                </a:cubicBezTo>
                <a:close/>
                <a:moveTo>
                  <a:pt x="37765" y="41672"/>
                </a:moveTo>
                <a:lnTo>
                  <a:pt x="18269" y="41672"/>
                </a:lnTo>
                <a:cubicBezTo>
                  <a:pt x="20575" y="73186"/>
                  <a:pt x="35049" y="88962"/>
                  <a:pt x="49969" y="97334"/>
                </a:cubicBezTo>
                <a:cubicBezTo>
                  <a:pt x="44611" y="83455"/>
                  <a:pt x="40184" y="65336"/>
                  <a:pt x="37765" y="41672"/>
                </a:cubicBezTo>
                <a:close/>
                <a:moveTo>
                  <a:pt x="141387" y="95548"/>
                </a:moveTo>
                <a:cubicBezTo>
                  <a:pt x="156456" y="86692"/>
                  <a:pt x="170073" y="70954"/>
                  <a:pt x="172380" y="41672"/>
                </a:cubicBezTo>
                <a:lnTo>
                  <a:pt x="152921" y="41672"/>
                </a:lnTo>
                <a:cubicBezTo>
                  <a:pt x="150614" y="64331"/>
                  <a:pt x="146447" y="81930"/>
                  <a:pt x="141387" y="95548"/>
                </a:cubicBezTo>
                <a:close/>
              </a:path>
            </a:pathLst>
          </a:custGeom>
          <a:solidFill>
            <a:srgbClr val="EDF2F4"/>
          </a:solidFill>
          <a:ln/>
        </p:spPr>
        <p:txBody>
          <a:bodyPr/>
          <a:lstStyle/>
          <a:p>
            <a:endParaRPr lang="en-GB"/>
          </a:p>
        </p:txBody>
      </p:sp>
      <p:sp>
        <p:nvSpPr>
          <p:cNvPr id="56" name="Text 54"/>
          <p:cNvSpPr/>
          <p:nvPr/>
        </p:nvSpPr>
        <p:spPr>
          <a:xfrm>
            <a:off x="8909000" y="1619250"/>
            <a:ext cx="1181100" cy="533400"/>
          </a:xfrm>
          <a:prstGeom prst="rect">
            <a:avLst/>
          </a:prstGeom>
          <a:noFill/>
          <a:ln/>
        </p:spPr>
        <p:txBody>
          <a:bodyPr wrap="square" lIns="0" tIns="0" rIns="0" bIns="0" rtlCol="0" anchor="ctr"/>
          <a:lstStyle/>
          <a:p>
            <a:pPr>
              <a:lnSpc>
                <a:spcPct val="120000"/>
              </a:lnSpc>
            </a:pPr>
            <a:r>
              <a:rPr lang="en-US" sz="1500" b="1" dirty="0">
                <a:solidFill>
                  <a:srgbClr val="EDF2F4"/>
                </a:solidFill>
                <a:latin typeface="Liter" pitchFamily="34" charset="0"/>
                <a:ea typeface="Liter" pitchFamily="34" charset="-122"/>
                <a:cs typeface="Liter" pitchFamily="34" charset="-120"/>
              </a:rPr>
              <a:t>Performance</a:t>
            </a:r>
            <a:endParaRPr lang="en-US" sz="1600" dirty="0"/>
          </a:p>
          <a:p>
            <a:pPr>
              <a:lnSpc>
                <a:spcPct val="120000"/>
              </a:lnSpc>
            </a:pPr>
            <a:r>
              <a:rPr lang="en-US" sz="1200" dirty="0">
                <a:solidFill>
                  <a:srgbClr val="8D99AE"/>
                </a:solidFill>
                <a:latin typeface="Liter" pitchFamily="34" charset="0"/>
                <a:ea typeface="Liter" pitchFamily="34" charset="-122"/>
                <a:cs typeface="Liter" pitchFamily="34" charset="-120"/>
              </a:rPr>
              <a:t>Measure</a:t>
            </a:r>
            <a:endParaRPr lang="en-US" sz="1600" dirty="0"/>
          </a:p>
        </p:txBody>
      </p:sp>
      <p:sp>
        <p:nvSpPr>
          <p:cNvPr id="57" name="Shape 55"/>
          <p:cNvSpPr/>
          <p:nvPr/>
        </p:nvSpPr>
        <p:spPr>
          <a:xfrm>
            <a:off x="8356550" y="2305050"/>
            <a:ext cx="3248025" cy="609600"/>
          </a:xfrm>
          <a:custGeom>
            <a:avLst/>
            <a:gdLst/>
            <a:ahLst/>
            <a:cxnLst/>
            <a:rect l="l" t="t" r="r" b="b"/>
            <a:pathLst>
              <a:path w="3248025" h="609600">
                <a:moveTo>
                  <a:pt x="38100" y="0"/>
                </a:moveTo>
                <a:lnTo>
                  <a:pt x="3171825" y="0"/>
                </a:lnTo>
                <a:cubicBezTo>
                  <a:pt x="3213881" y="0"/>
                  <a:pt x="3248025" y="34144"/>
                  <a:pt x="3248025" y="76200"/>
                </a:cubicBezTo>
                <a:lnTo>
                  <a:pt x="3248025" y="533400"/>
                </a:lnTo>
                <a:cubicBezTo>
                  <a:pt x="3248025" y="575456"/>
                  <a:pt x="3213881" y="609600"/>
                  <a:pt x="3171825" y="609600"/>
                </a:cubicBezTo>
                <a:lnTo>
                  <a:pt x="38100" y="609600"/>
                </a:lnTo>
                <a:cubicBezTo>
                  <a:pt x="17072" y="609600"/>
                  <a:pt x="0" y="592528"/>
                  <a:pt x="0" y="571500"/>
                </a:cubicBezTo>
                <a:lnTo>
                  <a:pt x="0" y="38100"/>
                </a:lnTo>
                <a:cubicBezTo>
                  <a:pt x="0" y="17072"/>
                  <a:pt x="17072" y="0"/>
                  <a:pt x="38100" y="0"/>
                </a:cubicBezTo>
                <a:close/>
              </a:path>
            </a:pathLst>
          </a:custGeom>
          <a:solidFill>
            <a:srgbClr val="1A1D24">
              <a:alpha val="60000"/>
            </a:srgbClr>
          </a:solidFill>
          <a:ln/>
        </p:spPr>
        <p:txBody>
          <a:bodyPr/>
          <a:lstStyle/>
          <a:p>
            <a:endParaRPr lang="en-GB"/>
          </a:p>
        </p:txBody>
      </p:sp>
      <p:sp>
        <p:nvSpPr>
          <p:cNvPr id="58" name="Shape 56"/>
          <p:cNvSpPr/>
          <p:nvPr/>
        </p:nvSpPr>
        <p:spPr>
          <a:xfrm>
            <a:off x="8356550" y="2305050"/>
            <a:ext cx="38100" cy="609600"/>
          </a:xfrm>
          <a:custGeom>
            <a:avLst/>
            <a:gdLst/>
            <a:ahLst/>
            <a:cxnLst/>
            <a:rect l="l" t="t" r="r" b="b"/>
            <a:pathLst>
              <a:path w="38100" h="609600">
                <a:moveTo>
                  <a:pt x="38100" y="0"/>
                </a:moveTo>
                <a:lnTo>
                  <a:pt x="38100" y="0"/>
                </a:lnTo>
                <a:lnTo>
                  <a:pt x="38100" y="609600"/>
                </a:lnTo>
                <a:lnTo>
                  <a:pt x="38100" y="609600"/>
                </a:lnTo>
                <a:cubicBezTo>
                  <a:pt x="17072" y="609600"/>
                  <a:pt x="0" y="592528"/>
                  <a:pt x="0" y="571500"/>
                </a:cubicBezTo>
                <a:lnTo>
                  <a:pt x="0" y="38100"/>
                </a:lnTo>
                <a:cubicBezTo>
                  <a:pt x="0" y="17072"/>
                  <a:pt x="17072" y="0"/>
                  <a:pt x="38100" y="0"/>
                </a:cubicBezTo>
                <a:close/>
              </a:path>
            </a:pathLst>
          </a:custGeom>
          <a:solidFill>
            <a:srgbClr val="C9A86A"/>
          </a:solidFill>
          <a:ln/>
        </p:spPr>
        <p:txBody>
          <a:bodyPr/>
          <a:lstStyle/>
          <a:p>
            <a:endParaRPr lang="en-GB"/>
          </a:p>
        </p:txBody>
      </p:sp>
      <p:sp>
        <p:nvSpPr>
          <p:cNvPr id="59" name="Text 57"/>
          <p:cNvSpPr/>
          <p:nvPr/>
        </p:nvSpPr>
        <p:spPr>
          <a:xfrm>
            <a:off x="8489900" y="2419350"/>
            <a:ext cx="3067050" cy="190500"/>
          </a:xfrm>
          <a:prstGeom prst="rect">
            <a:avLst/>
          </a:prstGeom>
          <a:noFill/>
          <a:ln/>
        </p:spPr>
        <p:txBody>
          <a:bodyPr wrap="square" lIns="0" tIns="0" rIns="0" bIns="0" rtlCol="0" anchor="ctr"/>
          <a:lstStyle/>
          <a:p>
            <a:pPr>
              <a:lnSpc>
                <a:spcPct val="120000"/>
              </a:lnSpc>
            </a:pPr>
            <a:r>
              <a:rPr lang="en-US" sz="1050" b="1" dirty="0">
                <a:solidFill>
                  <a:srgbClr val="EDF2F4"/>
                </a:solidFill>
                <a:latin typeface="Quattrocento Sans" pitchFamily="34" charset="0"/>
                <a:ea typeface="Quattrocento Sans" pitchFamily="34" charset="-122"/>
                <a:cs typeface="Quattrocento Sans" pitchFamily="34" charset="-120"/>
              </a:rPr>
              <a:t>Accuracy</a:t>
            </a:r>
            <a:endParaRPr lang="en-US" sz="1600" dirty="0"/>
          </a:p>
        </p:txBody>
      </p:sp>
      <p:sp>
        <p:nvSpPr>
          <p:cNvPr id="60" name="Text 58"/>
          <p:cNvSpPr/>
          <p:nvPr/>
        </p:nvSpPr>
        <p:spPr>
          <a:xfrm>
            <a:off x="8489900" y="2647950"/>
            <a:ext cx="3057525" cy="152400"/>
          </a:xfrm>
          <a:prstGeom prst="rect">
            <a:avLst/>
          </a:prstGeom>
          <a:noFill/>
          <a:ln/>
        </p:spPr>
        <p:txBody>
          <a:bodyPr wrap="square" lIns="0" tIns="0" rIns="0" bIns="0" rtlCol="0" anchor="ctr"/>
          <a:lstStyle/>
          <a:p>
            <a:pPr>
              <a:lnSpc>
                <a:spcPct val="110000"/>
              </a:lnSpc>
            </a:pPr>
            <a:r>
              <a:rPr lang="en-US" sz="900" dirty="0">
                <a:solidFill>
                  <a:srgbClr val="8D99AE"/>
                </a:solidFill>
                <a:latin typeface="Quattrocento Sans" pitchFamily="34" charset="0"/>
                <a:ea typeface="Quattrocento Sans" pitchFamily="34" charset="-122"/>
                <a:cs typeface="Quattrocento Sans" pitchFamily="34" charset="-120"/>
              </a:rPr>
              <a:t>Overall prediction correctness</a:t>
            </a:r>
            <a:endParaRPr lang="en-US" sz="1600" dirty="0"/>
          </a:p>
        </p:txBody>
      </p:sp>
      <p:sp>
        <p:nvSpPr>
          <p:cNvPr id="61" name="Shape 59"/>
          <p:cNvSpPr/>
          <p:nvPr/>
        </p:nvSpPr>
        <p:spPr>
          <a:xfrm>
            <a:off x="8356550" y="2990850"/>
            <a:ext cx="3248025" cy="609600"/>
          </a:xfrm>
          <a:custGeom>
            <a:avLst/>
            <a:gdLst/>
            <a:ahLst/>
            <a:cxnLst/>
            <a:rect l="l" t="t" r="r" b="b"/>
            <a:pathLst>
              <a:path w="3248025" h="609600">
                <a:moveTo>
                  <a:pt x="38100" y="0"/>
                </a:moveTo>
                <a:lnTo>
                  <a:pt x="3171825" y="0"/>
                </a:lnTo>
                <a:cubicBezTo>
                  <a:pt x="3213881" y="0"/>
                  <a:pt x="3248025" y="34144"/>
                  <a:pt x="3248025" y="76200"/>
                </a:cubicBezTo>
                <a:lnTo>
                  <a:pt x="3248025" y="533400"/>
                </a:lnTo>
                <a:cubicBezTo>
                  <a:pt x="3248025" y="575456"/>
                  <a:pt x="3213881" y="609600"/>
                  <a:pt x="3171825" y="609600"/>
                </a:cubicBezTo>
                <a:lnTo>
                  <a:pt x="38100" y="609600"/>
                </a:lnTo>
                <a:cubicBezTo>
                  <a:pt x="17072" y="609600"/>
                  <a:pt x="0" y="592528"/>
                  <a:pt x="0" y="571500"/>
                </a:cubicBezTo>
                <a:lnTo>
                  <a:pt x="0" y="38100"/>
                </a:lnTo>
                <a:cubicBezTo>
                  <a:pt x="0" y="17072"/>
                  <a:pt x="17072" y="0"/>
                  <a:pt x="38100" y="0"/>
                </a:cubicBezTo>
                <a:close/>
              </a:path>
            </a:pathLst>
          </a:custGeom>
          <a:solidFill>
            <a:srgbClr val="1A1D24">
              <a:alpha val="60000"/>
            </a:srgbClr>
          </a:solidFill>
          <a:ln/>
        </p:spPr>
        <p:txBody>
          <a:bodyPr/>
          <a:lstStyle/>
          <a:p>
            <a:endParaRPr lang="en-GB"/>
          </a:p>
        </p:txBody>
      </p:sp>
      <p:sp>
        <p:nvSpPr>
          <p:cNvPr id="62" name="Shape 60"/>
          <p:cNvSpPr/>
          <p:nvPr/>
        </p:nvSpPr>
        <p:spPr>
          <a:xfrm>
            <a:off x="8356550" y="2990850"/>
            <a:ext cx="38100" cy="609600"/>
          </a:xfrm>
          <a:custGeom>
            <a:avLst/>
            <a:gdLst/>
            <a:ahLst/>
            <a:cxnLst/>
            <a:rect l="l" t="t" r="r" b="b"/>
            <a:pathLst>
              <a:path w="38100" h="609600">
                <a:moveTo>
                  <a:pt x="38100" y="0"/>
                </a:moveTo>
                <a:lnTo>
                  <a:pt x="38100" y="0"/>
                </a:lnTo>
                <a:lnTo>
                  <a:pt x="38100" y="609600"/>
                </a:lnTo>
                <a:lnTo>
                  <a:pt x="38100" y="609600"/>
                </a:lnTo>
                <a:cubicBezTo>
                  <a:pt x="17072" y="609600"/>
                  <a:pt x="0" y="592528"/>
                  <a:pt x="0" y="571500"/>
                </a:cubicBezTo>
                <a:lnTo>
                  <a:pt x="0" y="38100"/>
                </a:lnTo>
                <a:cubicBezTo>
                  <a:pt x="0" y="17072"/>
                  <a:pt x="17072" y="0"/>
                  <a:pt x="38100" y="0"/>
                </a:cubicBezTo>
                <a:close/>
              </a:path>
            </a:pathLst>
          </a:custGeom>
          <a:solidFill>
            <a:srgbClr val="C9A86A"/>
          </a:solidFill>
          <a:ln/>
        </p:spPr>
        <p:txBody>
          <a:bodyPr/>
          <a:lstStyle/>
          <a:p>
            <a:endParaRPr lang="en-GB"/>
          </a:p>
        </p:txBody>
      </p:sp>
      <p:sp>
        <p:nvSpPr>
          <p:cNvPr id="63" name="Text 61"/>
          <p:cNvSpPr/>
          <p:nvPr/>
        </p:nvSpPr>
        <p:spPr>
          <a:xfrm>
            <a:off x="8489900" y="3105150"/>
            <a:ext cx="3067050" cy="190500"/>
          </a:xfrm>
          <a:prstGeom prst="rect">
            <a:avLst/>
          </a:prstGeom>
          <a:noFill/>
          <a:ln/>
        </p:spPr>
        <p:txBody>
          <a:bodyPr wrap="square" lIns="0" tIns="0" rIns="0" bIns="0" rtlCol="0" anchor="ctr"/>
          <a:lstStyle/>
          <a:p>
            <a:pPr>
              <a:lnSpc>
                <a:spcPct val="120000"/>
              </a:lnSpc>
            </a:pPr>
            <a:r>
              <a:rPr lang="en-US" sz="1050" b="1" dirty="0">
                <a:solidFill>
                  <a:srgbClr val="EDF2F4"/>
                </a:solidFill>
                <a:latin typeface="Quattrocento Sans" pitchFamily="34" charset="0"/>
                <a:ea typeface="Quattrocento Sans" pitchFamily="34" charset="-122"/>
                <a:cs typeface="Quattrocento Sans" pitchFamily="34" charset="-120"/>
              </a:rPr>
              <a:t>F1-Score</a:t>
            </a:r>
            <a:endParaRPr lang="en-US" sz="1600" dirty="0"/>
          </a:p>
        </p:txBody>
      </p:sp>
      <p:sp>
        <p:nvSpPr>
          <p:cNvPr id="64" name="Text 62"/>
          <p:cNvSpPr/>
          <p:nvPr/>
        </p:nvSpPr>
        <p:spPr>
          <a:xfrm>
            <a:off x="8489900" y="3333750"/>
            <a:ext cx="3057525" cy="152400"/>
          </a:xfrm>
          <a:prstGeom prst="rect">
            <a:avLst/>
          </a:prstGeom>
          <a:noFill/>
          <a:ln/>
        </p:spPr>
        <p:txBody>
          <a:bodyPr wrap="square" lIns="0" tIns="0" rIns="0" bIns="0" rtlCol="0" anchor="ctr"/>
          <a:lstStyle/>
          <a:p>
            <a:pPr>
              <a:lnSpc>
                <a:spcPct val="110000"/>
              </a:lnSpc>
            </a:pPr>
            <a:r>
              <a:rPr lang="en-US" sz="900" dirty="0">
                <a:solidFill>
                  <a:srgbClr val="8D99AE"/>
                </a:solidFill>
                <a:latin typeface="Quattrocento Sans" pitchFamily="34" charset="0"/>
                <a:ea typeface="Quattrocento Sans" pitchFamily="34" charset="-122"/>
                <a:cs typeface="Quattrocento Sans" pitchFamily="34" charset="-120"/>
              </a:rPr>
              <a:t>Balanced precision and recall</a:t>
            </a:r>
            <a:endParaRPr lang="en-US" sz="1600" dirty="0"/>
          </a:p>
        </p:txBody>
      </p:sp>
      <p:sp>
        <p:nvSpPr>
          <p:cNvPr id="65" name="Shape 63"/>
          <p:cNvSpPr/>
          <p:nvPr/>
        </p:nvSpPr>
        <p:spPr>
          <a:xfrm>
            <a:off x="8356550" y="3676650"/>
            <a:ext cx="3248025" cy="609600"/>
          </a:xfrm>
          <a:custGeom>
            <a:avLst/>
            <a:gdLst/>
            <a:ahLst/>
            <a:cxnLst/>
            <a:rect l="l" t="t" r="r" b="b"/>
            <a:pathLst>
              <a:path w="3248025" h="609600">
                <a:moveTo>
                  <a:pt x="38100" y="0"/>
                </a:moveTo>
                <a:lnTo>
                  <a:pt x="3171825" y="0"/>
                </a:lnTo>
                <a:cubicBezTo>
                  <a:pt x="3213881" y="0"/>
                  <a:pt x="3248025" y="34144"/>
                  <a:pt x="3248025" y="76200"/>
                </a:cubicBezTo>
                <a:lnTo>
                  <a:pt x="3248025" y="533400"/>
                </a:lnTo>
                <a:cubicBezTo>
                  <a:pt x="3248025" y="575456"/>
                  <a:pt x="3213881" y="609600"/>
                  <a:pt x="3171825" y="609600"/>
                </a:cubicBezTo>
                <a:lnTo>
                  <a:pt x="38100" y="609600"/>
                </a:lnTo>
                <a:cubicBezTo>
                  <a:pt x="17072" y="609600"/>
                  <a:pt x="0" y="592528"/>
                  <a:pt x="0" y="571500"/>
                </a:cubicBezTo>
                <a:lnTo>
                  <a:pt x="0" y="38100"/>
                </a:lnTo>
                <a:cubicBezTo>
                  <a:pt x="0" y="17072"/>
                  <a:pt x="17072" y="0"/>
                  <a:pt x="38100" y="0"/>
                </a:cubicBezTo>
                <a:close/>
              </a:path>
            </a:pathLst>
          </a:custGeom>
          <a:solidFill>
            <a:srgbClr val="1A1D24">
              <a:alpha val="60000"/>
            </a:srgbClr>
          </a:solidFill>
          <a:ln/>
        </p:spPr>
        <p:txBody>
          <a:bodyPr/>
          <a:lstStyle/>
          <a:p>
            <a:endParaRPr lang="en-GB"/>
          </a:p>
        </p:txBody>
      </p:sp>
      <p:sp>
        <p:nvSpPr>
          <p:cNvPr id="66" name="Shape 64"/>
          <p:cNvSpPr/>
          <p:nvPr/>
        </p:nvSpPr>
        <p:spPr>
          <a:xfrm>
            <a:off x="8356550" y="3676650"/>
            <a:ext cx="38100" cy="609600"/>
          </a:xfrm>
          <a:custGeom>
            <a:avLst/>
            <a:gdLst/>
            <a:ahLst/>
            <a:cxnLst/>
            <a:rect l="l" t="t" r="r" b="b"/>
            <a:pathLst>
              <a:path w="38100" h="609600">
                <a:moveTo>
                  <a:pt x="38100" y="0"/>
                </a:moveTo>
                <a:lnTo>
                  <a:pt x="38100" y="0"/>
                </a:lnTo>
                <a:lnTo>
                  <a:pt x="38100" y="609600"/>
                </a:lnTo>
                <a:lnTo>
                  <a:pt x="38100" y="609600"/>
                </a:lnTo>
                <a:cubicBezTo>
                  <a:pt x="17072" y="609600"/>
                  <a:pt x="0" y="592528"/>
                  <a:pt x="0" y="571500"/>
                </a:cubicBezTo>
                <a:lnTo>
                  <a:pt x="0" y="38100"/>
                </a:lnTo>
                <a:cubicBezTo>
                  <a:pt x="0" y="17072"/>
                  <a:pt x="17072" y="0"/>
                  <a:pt x="38100" y="0"/>
                </a:cubicBezTo>
                <a:close/>
              </a:path>
            </a:pathLst>
          </a:custGeom>
          <a:solidFill>
            <a:srgbClr val="C9A86A"/>
          </a:solidFill>
          <a:ln/>
        </p:spPr>
        <p:txBody>
          <a:bodyPr/>
          <a:lstStyle/>
          <a:p>
            <a:endParaRPr lang="en-GB"/>
          </a:p>
        </p:txBody>
      </p:sp>
      <p:sp>
        <p:nvSpPr>
          <p:cNvPr id="67" name="Text 65"/>
          <p:cNvSpPr/>
          <p:nvPr/>
        </p:nvSpPr>
        <p:spPr>
          <a:xfrm>
            <a:off x="8489900" y="3790950"/>
            <a:ext cx="3067050" cy="190500"/>
          </a:xfrm>
          <a:prstGeom prst="rect">
            <a:avLst/>
          </a:prstGeom>
          <a:noFill/>
          <a:ln/>
        </p:spPr>
        <p:txBody>
          <a:bodyPr wrap="square" lIns="0" tIns="0" rIns="0" bIns="0" rtlCol="0" anchor="ctr"/>
          <a:lstStyle/>
          <a:p>
            <a:pPr>
              <a:lnSpc>
                <a:spcPct val="120000"/>
              </a:lnSpc>
            </a:pPr>
            <a:r>
              <a:rPr lang="en-US" sz="1050" b="1" dirty="0">
                <a:solidFill>
                  <a:srgbClr val="EDF2F4"/>
                </a:solidFill>
                <a:latin typeface="Quattrocento Sans" pitchFamily="34" charset="0"/>
                <a:ea typeface="Quattrocento Sans" pitchFamily="34" charset="-122"/>
                <a:cs typeface="Quattrocento Sans" pitchFamily="34" charset="-120"/>
              </a:rPr>
              <a:t>Robustness</a:t>
            </a:r>
            <a:endParaRPr lang="en-US" sz="1600" dirty="0"/>
          </a:p>
        </p:txBody>
      </p:sp>
      <p:sp>
        <p:nvSpPr>
          <p:cNvPr id="68" name="Text 66"/>
          <p:cNvSpPr/>
          <p:nvPr/>
        </p:nvSpPr>
        <p:spPr>
          <a:xfrm>
            <a:off x="8489900" y="4019550"/>
            <a:ext cx="3057525" cy="152400"/>
          </a:xfrm>
          <a:prstGeom prst="rect">
            <a:avLst/>
          </a:prstGeom>
          <a:noFill/>
          <a:ln/>
        </p:spPr>
        <p:txBody>
          <a:bodyPr wrap="square" lIns="0" tIns="0" rIns="0" bIns="0" rtlCol="0" anchor="ctr"/>
          <a:lstStyle/>
          <a:p>
            <a:pPr>
              <a:lnSpc>
                <a:spcPct val="110000"/>
              </a:lnSpc>
            </a:pPr>
            <a:r>
              <a:rPr lang="en-US" sz="900" dirty="0">
                <a:solidFill>
                  <a:srgbClr val="8D99AE"/>
                </a:solidFill>
                <a:latin typeface="Quattrocento Sans" pitchFamily="34" charset="0"/>
                <a:ea typeface="Quattrocento Sans" pitchFamily="34" charset="-122"/>
                <a:cs typeface="Quattrocento Sans" pitchFamily="34" charset="-120"/>
              </a:rPr>
              <a:t>Consistency across data variations</a:t>
            </a:r>
            <a:endParaRPr lang="en-US" sz="1600" dirty="0"/>
          </a:p>
        </p:txBody>
      </p:sp>
      <p:sp>
        <p:nvSpPr>
          <p:cNvPr id="69" name="Shape 67"/>
          <p:cNvSpPr/>
          <p:nvPr/>
        </p:nvSpPr>
        <p:spPr>
          <a:xfrm>
            <a:off x="8356550" y="4362450"/>
            <a:ext cx="3248025" cy="609600"/>
          </a:xfrm>
          <a:custGeom>
            <a:avLst/>
            <a:gdLst/>
            <a:ahLst/>
            <a:cxnLst/>
            <a:rect l="l" t="t" r="r" b="b"/>
            <a:pathLst>
              <a:path w="3248025" h="609600">
                <a:moveTo>
                  <a:pt x="38100" y="0"/>
                </a:moveTo>
                <a:lnTo>
                  <a:pt x="3171825" y="0"/>
                </a:lnTo>
                <a:cubicBezTo>
                  <a:pt x="3213881" y="0"/>
                  <a:pt x="3248025" y="34144"/>
                  <a:pt x="3248025" y="76200"/>
                </a:cubicBezTo>
                <a:lnTo>
                  <a:pt x="3248025" y="533400"/>
                </a:lnTo>
                <a:cubicBezTo>
                  <a:pt x="3248025" y="575456"/>
                  <a:pt x="3213881" y="609600"/>
                  <a:pt x="3171825" y="609600"/>
                </a:cubicBezTo>
                <a:lnTo>
                  <a:pt x="38100" y="609600"/>
                </a:lnTo>
                <a:cubicBezTo>
                  <a:pt x="17072" y="609600"/>
                  <a:pt x="0" y="592528"/>
                  <a:pt x="0" y="571500"/>
                </a:cubicBezTo>
                <a:lnTo>
                  <a:pt x="0" y="38100"/>
                </a:lnTo>
                <a:cubicBezTo>
                  <a:pt x="0" y="17072"/>
                  <a:pt x="17072" y="0"/>
                  <a:pt x="38100" y="0"/>
                </a:cubicBezTo>
                <a:close/>
              </a:path>
            </a:pathLst>
          </a:custGeom>
          <a:solidFill>
            <a:srgbClr val="1A1D24">
              <a:alpha val="60000"/>
            </a:srgbClr>
          </a:solidFill>
          <a:ln/>
        </p:spPr>
        <p:txBody>
          <a:bodyPr/>
          <a:lstStyle/>
          <a:p>
            <a:endParaRPr lang="en-GB"/>
          </a:p>
        </p:txBody>
      </p:sp>
      <p:sp>
        <p:nvSpPr>
          <p:cNvPr id="70" name="Shape 68"/>
          <p:cNvSpPr/>
          <p:nvPr/>
        </p:nvSpPr>
        <p:spPr>
          <a:xfrm>
            <a:off x="8356550" y="4362450"/>
            <a:ext cx="38100" cy="609600"/>
          </a:xfrm>
          <a:custGeom>
            <a:avLst/>
            <a:gdLst/>
            <a:ahLst/>
            <a:cxnLst/>
            <a:rect l="l" t="t" r="r" b="b"/>
            <a:pathLst>
              <a:path w="38100" h="609600">
                <a:moveTo>
                  <a:pt x="38100" y="0"/>
                </a:moveTo>
                <a:lnTo>
                  <a:pt x="38100" y="0"/>
                </a:lnTo>
                <a:lnTo>
                  <a:pt x="38100" y="609600"/>
                </a:lnTo>
                <a:lnTo>
                  <a:pt x="38100" y="609600"/>
                </a:lnTo>
                <a:cubicBezTo>
                  <a:pt x="17072" y="609600"/>
                  <a:pt x="0" y="592528"/>
                  <a:pt x="0" y="571500"/>
                </a:cubicBezTo>
                <a:lnTo>
                  <a:pt x="0" y="38100"/>
                </a:lnTo>
                <a:cubicBezTo>
                  <a:pt x="0" y="17072"/>
                  <a:pt x="17072" y="0"/>
                  <a:pt x="38100" y="0"/>
                </a:cubicBezTo>
                <a:close/>
              </a:path>
            </a:pathLst>
          </a:custGeom>
          <a:solidFill>
            <a:srgbClr val="C9A86A"/>
          </a:solidFill>
          <a:ln/>
        </p:spPr>
        <p:txBody>
          <a:bodyPr/>
          <a:lstStyle/>
          <a:p>
            <a:endParaRPr lang="en-GB"/>
          </a:p>
        </p:txBody>
      </p:sp>
      <p:sp>
        <p:nvSpPr>
          <p:cNvPr id="71" name="Text 69"/>
          <p:cNvSpPr/>
          <p:nvPr/>
        </p:nvSpPr>
        <p:spPr>
          <a:xfrm>
            <a:off x="8489900" y="4476750"/>
            <a:ext cx="3067050" cy="190500"/>
          </a:xfrm>
          <a:prstGeom prst="rect">
            <a:avLst/>
          </a:prstGeom>
          <a:noFill/>
          <a:ln/>
        </p:spPr>
        <p:txBody>
          <a:bodyPr wrap="square" lIns="0" tIns="0" rIns="0" bIns="0" rtlCol="0" anchor="ctr"/>
          <a:lstStyle/>
          <a:p>
            <a:pPr>
              <a:lnSpc>
                <a:spcPct val="120000"/>
              </a:lnSpc>
            </a:pPr>
            <a:r>
              <a:rPr lang="en-US" sz="1050" b="1" dirty="0">
                <a:solidFill>
                  <a:srgbClr val="EDF2F4"/>
                </a:solidFill>
                <a:latin typeface="Quattrocento Sans" pitchFamily="34" charset="0"/>
                <a:ea typeface="Quattrocento Sans" pitchFamily="34" charset="-122"/>
                <a:cs typeface="Quattrocento Sans" pitchFamily="34" charset="-120"/>
              </a:rPr>
              <a:t>Processing Time</a:t>
            </a:r>
            <a:endParaRPr lang="en-US" sz="1600" dirty="0"/>
          </a:p>
        </p:txBody>
      </p:sp>
      <p:sp>
        <p:nvSpPr>
          <p:cNvPr id="72" name="Text 70"/>
          <p:cNvSpPr/>
          <p:nvPr/>
        </p:nvSpPr>
        <p:spPr>
          <a:xfrm>
            <a:off x="8489900" y="4705350"/>
            <a:ext cx="3057525" cy="152400"/>
          </a:xfrm>
          <a:prstGeom prst="rect">
            <a:avLst/>
          </a:prstGeom>
          <a:noFill/>
          <a:ln/>
        </p:spPr>
        <p:txBody>
          <a:bodyPr wrap="square" lIns="0" tIns="0" rIns="0" bIns="0" rtlCol="0" anchor="ctr"/>
          <a:lstStyle/>
          <a:p>
            <a:pPr>
              <a:lnSpc>
                <a:spcPct val="110000"/>
              </a:lnSpc>
            </a:pPr>
            <a:r>
              <a:rPr lang="en-US" sz="900" dirty="0">
                <a:solidFill>
                  <a:srgbClr val="8D99AE"/>
                </a:solidFill>
                <a:latin typeface="Quattrocento Sans" pitchFamily="34" charset="0"/>
                <a:ea typeface="Quattrocento Sans" pitchFamily="34" charset="-122"/>
                <a:cs typeface="Quattrocento Sans" pitchFamily="34" charset="-120"/>
              </a:rPr>
              <a:t>Efficiency of preprocessing pipeline</a:t>
            </a:r>
            <a:endParaRPr lang="en-US" sz="1600" dirty="0"/>
          </a:p>
        </p:txBody>
      </p:sp>
      <p:sp>
        <p:nvSpPr>
          <p:cNvPr id="73" name="Shape 71"/>
          <p:cNvSpPr/>
          <p:nvPr/>
        </p:nvSpPr>
        <p:spPr>
          <a:xfrm>
            <a:off x="8356550" y="5048250"/>
            <a:ext cx="3248025" cy="609600"/>
          </a:xfrm>
          <a:custGeom>
            <a:avLst/>
            <a:gdLst/>
            <a:ahLst/>
            <a:cxnLst/>
            <a:rect l="l" t="t" r="r" b="b"/>
            <a:pathLst>
              <a:path w="3248025" h="609600">
                <a:moveTo>
                  <a:pt x="38100" y="0"/>
                </a:moveTo>
                <a:lnTo>
                  <a:pt x="3171825" y="0"/>
                </a:lnTo>
                <a:cubicBezTo>
                  <a:pt x="3213881" y="0"/>
                  <a:pt x="3248025" y="34144"/>
                  <a:pt x="3248025" y="76200"/>
                </a:cubicBezTo>
                <a:lnTo>
                  <a:pt x="3248025" y="533400"/>
                </a:lnTo>
                <a:cubicBezTo>
                  <a:pt x="3248025" y="575456"/>
                  <a:pt x="3213881" y="609600"/>
                  <a:pt x="3171825" y="609600"/>
                </a:cubicBezTo>
                <a:lnTo>
                  <a:pt x="38100" y="609600"/>
                </a:lnTo>
                <a:cubicBezTo>
                  <a:pt x="17072" y="609600"/>
                  <a:pt x="0" y="592528"/>
                  <a:pt x="0" y="571500"/>
                </a:cubicBezTo>
                <a:lnTo>
                  <a:pt x="0" y="38100"/>
                </a:lnTo>
                <a:cubicBezTo>
                  <a:pt x="0" y="17072"/>
                  <a:pt x="17072" y="0"/>
                  <a:pt x="38100" y="0"/>
                </a:cubicBezTo>
                <a:close/>
              </a:path>
            </a:pathLst>
          </a:custGeom>
          <a:solidFill>
            <a:srgbClr val="1A1D24">
              <a:alpha val="60000"/>
            </a:srgbClr>
          </a:solidFill>
          <a:ln/>
        </p:spPr>
        <p:txBody>
          <a:bodyPr/>
          <a:lstStyle/>
          <a:p>
            <a:endParaRPr lang="en-GB"/>
          </a:p>
        </p:txBody>
      </p:sp>
      <p:sp>
        <p:nvSpPr>
          <p:cNvPr id="74" name="Shape 72"/>
          <p:cNvSpPr/>
          <p:nvPr/>
        </p:nvSpPr>
        <p:spPr>
          <a:xfrm>
            <a:off x="8356550" y="5048250"/>
            <a:ext cx="38100" cy="609600"/>
          </a:xfrm>
          <a:custGeom>
            <a:avLst/>
            <a:gdLst/>
            <a:ahLst/>
            <a:cxnLst/>
            <a:rect l="l" t="t" r="r" b="b"/>
            <a:pathLst>
              <a:path w="38100" h="609600">
                <a:moveTo>
                  <a:pt x="38100" y="0"/>
                </a:moveTo>
                <a:lnTo>
                  <a:pt x="38100" y="0"/>
                </a:lnTo>
                <a:lnTo>
                  <a:pt x="38100" y="609600"/>
                </a:lnTo>
                <a:lnTo>
                  <a:pt x="38100" y="609600"/>
                </a:lnTo>
                <a:cubicBezTo>
                  <a:pt x="17072" y="609600"/>
                  <a:pt x="0" y="592528"/>
                  <a:pt x="0" y="571500"/>
                </a:cubicBezTo>
                <a:lnTo>
                  <a:pt x="0" y="38100"/>
                </a:lnTo>
                <a:cubicBezTo>
                  <a:pt x="0" y="17072"/>
                  <a:pt x="17072" y="0"/>
                  <a:pt x="38100" y="0"/>
                </a:cubicBezTo>
                <a:close/>
              </a:path>
            </a:pathLst>
          </a:custGeom>
          <a:solidFill>
            <a:srgbClr val="C9A86A"/>
          </a:solidFill>
          <a:ln/>
        </p:spPr>
        <p:txBody>
          <a:bodyPr/>
          <a:lstStyle/>
          <a:p>
            <a:endParaRPr lang="en-GB"/>
          </a:p>
        </p:txBody>
      </p:sp>
      <p:sp>
        <p:nvSpPr>
          <p:cNvPr id="75" name="Text 73"/>
          <p:cNvSpPr/>
          <p:nvPr/>
        </p:nvSpPr>
        <p:spPr>
          <a:xfrm>
            <a:off x="8489900" y="5162550"/>
            <a:ext cx="3067050" cy="190500"/>
          </a:xfrm>
          <a:prstGeom prst="rect">
            <a:avLst/>
          </a:prstGeom>
          <a:noFill/>
          <a:ln/>
        </p:spPr>
        <p:txBody>
          <a:bodyPr wrap="square" lIns="0" tIns="0" rIns="0" bIns="0" rtlCol="0" anchor="ctr"/>
          <a:lstStyle/>
          <a:p>
            <a:pPr>
              <a:lnSpc>
                <a:spcPct val="120000"/>
              </a:lnSpc>
            </a:pPr>
            <a:r>
              <a:rPr lang="en-US" sz="1050" b="1" dirty="0">
                <a:solidFill>
                  <a:srgbClr val="EDF2F4"/>
                </a:solidFill>
                <a:latin typeface="Quattrocento Sans" pitchFamily="34" charset="0"/>
                <a:ea typeface="Quattrocento Sans" pitchFamily="34" charset="-122"/>
                <a:cs typeface="Quattrocento Sans" pitchFamily="34" charset="-120"/>
              </a:rPr>
              <a:t>Resource Usage</a:t>
            </a:r>
            <a:endParaRPr lang="en-US" sz="1600" dirty="0"/>
          </a:p>
        </p:txBody>
      </p:sp>
      <p:sp>
        <p:nvSpPr>
          <p:cNvPr id="76" name="Text 74"/>
          <p:cNvSpPr/>
          <p:nvPr/>
        </p:nvSpPr>
        <p:spPr>
          <a:xfrm>
            <a:off x="8489900" y="5391150"/>
            <a:ext cx="3057525" cy="152400"/>
          </a:xfrm>
          <a:prstGeom prst="rect">
            <a:avLst/>
          </a:prstGeom>
          <a:noFill/>
          <a:ln/>
        </p:spPr>
        <p:txBody>
          <a:bodyPr wrap="square" lIns="0" tIns="0" rIns="0" bIns="0" rtlCol="0" anchor="ctr"/>
          <a:lstStyle/>
          <a:p>
            <a:pPr>
              <a:lnSpc>
                <a:spcPct val="110000"/>
              </a:lnSpc>
            </a:pPr>
            <a:r>
              <a:rPr lang="en-US" sz="900" dirty="0">
                <a:solidFill>
                  <a:srgbClr val="8D99AE"/>
                </a:solidFill>
                <a:latin typeface="Quattrocento Sans" pitchFamily="34" charset="0"/>
                <a:ea typeface="Quattrocento Sans" pitchFamily="34" charset="-122"/>
                <a:cs typeface="Quattrocento Sans" pitchFamily="34" charset="-120"/>
              </a:rPr>
              <a:t>Memory and computational efficiency</a:t>
            </a:r>
            <a:endParaRPr lang="en-US" sz="1600" dirty="0"/>
          </a:p>
        </p:txBody>
      </p:sp>
      <p:sp>
        <p:nvSpPr>
          <p:cNvPr id="77" name="Shape 75"/>
          <p:cNvSpPr/>
          <p:nvPr/>
        </p:nvSpPr>
        <p:spPr>
          <a:xfrm>
            <a:off x="400050" y="6019800"/>
            <a:ext cx="11410950" cy="571500"/>
          </a:xfrm>
          <a:custGeom>
            <a:avLst/>
            <a:gdLst/>
            <a:ahLst/>
            <a:cxnLst/>
            <a:rect l="l" t="t" r="r" b="b"/>
            <a:pathLst>
              <a:path w="11410950" h="571500">
                <a:moveTo>
                  <a:pt x="38100" y="0"/>
                </a:moveTo>
                <a:lnTo>
                  <a:pt x="11334752" y="0"/>
                </a:lnTo>
                <a:cubicBezTo>
                  <a:pt x="11376835" y="0"/>
                  <a:pt x="11410950" y="34115"/>
                  <a:pt x="11410950" y="76198"/>
                </a:cubicBezTo>
                <a:lnTo>
                  <a:pt x="11410950" y="495302"/>
                </a:lnTo>
                <a:cubicBezTo>
                  <a:pt x="11410950" y="537385"/>
                  <a:pt x="11376835" y="571500"/>
                  <a:pt x="11334752" y="571500"/>
                </a:cubicBezTo>
                <a:lnTo>
                  <a:pt x="38100" y="571500"/>
                </a:lnTo>
                <a:cubicBezTo>
                  <a:pt x="17072" y="571500"/>
                  <a:pt x="0" y="554428"/>
                  <a:pt x="0" y="533400"/>
                </a:cubicBezTo>
                <a:lnTo>
                  <a:pt x="0" y="38100"/>
                </a:lnTo>
                <a:cubicBezTo>
                  <a:pt x="0" y="17072"/>
                  <a:pt x="17072" y="0"/>
                  <a:pt x="38100" y="0"/>
                </a:cubicBezTo>
                <a:close/>
              </a:path>
            </a:pathLst>
          </a:custGeom>
          <a:gradFill flip="none" rotWithShape="1">
            <a:gsLst>
              <a:gs pos="0">
                <a:srgbClr val="C9A86A">
                  <a:alpha val="30000"/>
                </a:srgbClr>
              </a:gs>
              <a:gs pos="100000">
                <a:srgbClr val="000000">
                  <a:alpha val="0"/>
                </a:srgbClr>
              </a:gs>
            </a:gsLst>
            <a:lin ang="0" scaled="1"/>
          </a:gradFill>
          <a:ln/>
        </p:spPr>
        <p:txBody>
          <a:bodyPr/>
          <a:lstStyle/>
          <a:p>
            <a:endParaRPr lang="en-GB"/>
          </a:p>
        </p:txBody>
      </p:sp>
      <p:sp>
        <p:nvSpPr>
          <p:cNvPr id="78" name="Shape 76"/>
          <p:cNvSpPr/>
          <p:nvPr/>
        </p:nvSpPr>
        <p:spPr>
          <a:xfrm>
            <a:off x="400050" y="6019800"/>
            <a:ext cx="38100" cy="571500"/>
          </a:xfrm>
          <a:custGeom>
            <a:avLst/>
            <a:gdLst/>
            <a:ahLst/>
            <a:cxnLst/>
            <a:rect l="l" t="t" r="r" b="b"/>
            <a:pathLst>
              <a:path w="38100" h="571500">
                <a:moveTo>
                  <a:pt x="38100" y="0"/>
                </a:moveTo>
                <a:lnTo>
                  <a:pt x="38100" y="0"/>
                </a:lnTo>
                <a:lnTo>
                  <a:pt x="38100" y="571500"/>
                </a:lnTo>
                <a:lnTo>
                  <a:pt x="38100" y="571500"/>
                </a:lnTo>
                <a:cubicBezTo>
                  <a:pt x="17072" y="571500"/>
                  <a:pt x="0" y="554428"/>
                  <a:pt x="0" y="533400"/>
                </a:cubicBezTo>
                <a:lnTo>
                  <a:pt x="0" y="38100"/>
                </a:lnTo>
                <a:cubicBezTo>
                  <a:pt x="0" y="17072"/>
                  <a:pt x="17072" y="0"/>
                  <a:pt x="38100" y="0"/>
                </a:cubicBezTo>
                <a:close/>
              </a:path>
            </a:pathLst>
          </a:custGeom>
          <a:solidFill>
            <a:srgbClr val="C9A86A"/>
          </a:solidFill>
          <a:ln/>
        </p:spPr>
        <p:txBody>
          <a:bodyPr/>
          <a:lstStyle/>
          <a:p>
            <a:endParaRPr lang="en-GB"/>
          </a:p>
        </p:txBody>
      </p:sp>
      <p:sp>
        <p:nvSpPr>
          <p:cNvPr id="79" name="Shape 77"/>
          <p:cNvSpPr/>
          <p:nvPr/>
        </p:nvSpPr>
        <p:spPr>
          <a:xfrm>
            <a:off x="595313" y="6210300"/>
            <a:ext cx="190500" cy="190500"/>
          </a:xfrm>
          <a:custGeom>
            <a:avLst/>
            <a:gdLst/>
            <a:ahLst/>
            <a:cxnLst/>
            <a:rect l="l" t="t" r="r" b="b"/>
            <a:pathLst>
              <a:path w="190500" h="190500">
                <a:moveTo>
                  <a:pt x="95250" y="190500"/>
                </a:moveTo>
                <a:cubicBezTo>
                  <a:pt x="147820" y="190500"/>
                  <a:pt x="190500" y="147820"/>
                  <a:pt x="190500" y="95250"/>
                </a:cubicBezTo>
                <a:cubicBezTo>
                  <a:pt x="190500" y="42680"/>
                  <a:pt x="147820" y="0"/>
                  <a:pt x="95250" y="0"/>
                </a:cubicBezTo>
                <a:cubicBezTo>
                  <a:pt x="42680" y="0"/>
                  <a:pt x="0" y="42680"/>
                  <a:pt x="0" y="95250"/>
                </a:cubicBezTo>
                <a:cubicBezTo>
                  <a:pt x="0" y="147820"/>
                  <a:pt x="42680" y="190500"/>
                  <a:pt x="95250" y="190500"/>
                </a:cubicBezTo>
                <a:close/>
                <a:moveTo>
                  <a:pt x="126653" y="79139"/>
                </a:moveTo>
                <a:lnTo>
                  <a:pt x="96887" y="126764"/>
                </a:lnTo>
                <a:cubicBezTo>
                  <a:pt x="95324" y="129257"/>
                  <a:pt x="92646" y="130820"/>
                  <a:pt x="89706" y="130969"/>
                </a:cubicBezTo>
                <a:cubicBezTo>
                  <a:pt x="86767" y="131118"/>
                  <a:pt x="83939" y="129778"/>
                  <a:pt x="82190" y="127397"/>
                </a:cubicBezTo>
                <a:lnTo>
                  <a:pt x="64331" y="103584"/>
                </a:lnTo>
                <a:cubicBezTo>
                  <a:pt x="61354" y="99640"/>
                  <a:pt x="62173" y="94059"/>
                  <a:pt x="66117" y="91083"/>
                </a:cubicBezTo>
                <a:cubicBezTo>
                  <a:pt x="70061" y="88106"/>
                  <a:pt x="75642" y="88925"/>
                  <a:pt x="78618" y="92869"/>
                </a:cubicBezTo>
                <a:lnTo>
                  <a:pt x="88664" y="106263"/>
                </a:lnTo>
                <a:lnTo>
                  <a:pt x="111509" y="69689"/>
                </a:lnTo>
                <a:cubicBezTo>
                  <a:pt x="114114" y="65522"/>
                  <a:pt x="119621" y="64219"/>
                  <a:pt x="123825" y="66861"/>
                </a:cubicBezTo>
                <a:cubicBezTo>
                  <a:pt x="128029" y="69503"/>
                  <a:pt x="129294" y="74972"/>
                  <a:pt x="126653" y="79177"/>
                </a:cubicBezTo>
                <a:close/>
              </a:path>
            </a:pathLst>
          </a:custGeom>
          <a:solidFill>
            <a:srgbClr val="C9A86A"/>
          </a:solidFill>
          <a:ln/>
        </p:spPr>
        <p:txBody>
          <a:bodyPr/>
          <a:lstStyle/>
          <a:p>
            <a:endParaRPr lang="en-GB"/>
          </a:p>
        </p:txBody>
      </p:sp>
      <p:sp>
        <p:nvSpPr>
          <p:cNvPr id="80" name="Text 78"/>
          <p:cNvSpPr/>
          <p:nvPr/>
        </p:nvSpPr>
        <p:spPr>
          <a:xfrm>
            <a:off x="809625" y="6172200"/>
            <a:ext cx="10934700" cy="266700"/>
          </a:xfrm>
          <a:prstGeom prst="rect">
            <a:avLst/>
          </a:prstGeom>
          <a:noFill/>
          <a:ln/>
        </p:spPr>
        <p:txBody>
          <a:bodyPr wrap="square" lIns="0" tIns="0" rIns="0" bIns="0" rtlCol="0" anchor="ctr"/>
          <a:lstStyle/>
          <a:p>
            <a:pPr>
              <a:lnSpc>
                <a:spcPct val="130000"/>
              </a:lnSpc>
            </a:pPr>
            <a:r>
              <a:rPr lang="en-US" sz="1350" b="1" dirty="0">
                <a:solidFill>
                  <a:srgbClr val="EDF2F4"/>
                </a:solidFill>
                <a:latin typeface="Quattrocento Sans" pitchFamily="34" charset="0"/>
                <a:ea typeface="Quattrocento Sans" pitchFamily="34" charset="-122"/>
                <a:cs typeface="Quattrocento Sans" pitchFamily="34" charset="-120"/>
              </a:rPr>
              <a:t>This makes it a rational learning agent — perceiving environment, taking actions, and optimizing performance</a:t>
            </a:r>
            <a:endParaRPr lang="en-US" sz="1600" dirty="0"/>
          </a:p>
        </p:txBody>
      </p:sp>
    </p:spTree>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A1D24"/>
        </a:solidFill>
        <a:effectLst/>
      </p:bgPr>
    </p:bg>
    <p:spTree>
      <p:nvGrpSpPr>
        <p:cNvPr id="1" name=""/>
        <p:cNvGrpSpPr/>
        <p:nvPr/>
      </p:nvGrpSpPr>
      <p:grpSpPr>
        <a:xfrm>
          <a:off x="0" y="0"/>
          <a:ext cx="0" cy="0"/>
          <a:chOff x="0" y="0"/>
          <a:chExt cx="0" cy="0"/>
        </a:xfrm>
      </p:grpSpPr>
      <p:sp>
        <p:nvSpPr>
          <p:cNvPr id="2" name="Text 0"/>
          <p:cNvSpPr/>
          <p:nvPr/>
        </p:nvSpPr>
        <p:spPr>
          <a:xfrm>
            <a:off x="381000" y="381000"/>
            <a:ext cx="11506200" cy="228600"/>
          </a:xfrm>
          <a:prstGeom prst="rect">
            <a:avLst/>
          </a:prstGeom>
          <a:noFill/>
          <a:ln/>
        </p:spPr>
        <p:txBody>
          <a:bodyPr wrap="square" lIns="0" tIns="0" rIns="0" bIns="0" rtlCol="0" anchor="ctr"/>
          <a:lstStyle/>
          <a:p>
            <a:pPr>
              <a:lnSpc>
                <a:spcPct val="130000"/>
              </a:lnSpc>
            </a:pPr>
            <a:r>
              <a:rPr lang="en-US" sz="1200" b="1" kern="0" spc="120" dirty="0">
                <a:solidFill>
                  <a:srgbClr val="C9A86A"/>
                </a:solidFill>
                <a:latin typeface="Quattrocento Sans" pitchFamily="34" charset="0"/>
                <a:ea typeface="Quattrocento Sans" pitchFamily="34" charset="-122"/>
                <a:cs typeface="Quattrocento Sans" pitchFamily="34" charset="-120"/>
              </a:rPr>
              <a:t>Project 1 Design</a:t>
            </a:r>
            <a:endParaRPr lang="en-US" sz="1600" dirty="0"/>
          </a:p>
        </p:txBody>
      </p:sp>
      <p:sp>
        <p:nvSpPr>
          <p:cNvPr id="3" name="Text 1"/>
          <p:cNvSpPr/>
          <p:nvPr/>
        </p:nvSpPr>
        <p:spPr>
          <a:xfrm>
            <a:off x="381000" y="685800"/>
            <a:ext cx="11601450" cy="381000"/>
          </a:xfrm>
          <a:prstGeom prst="rect">
            <a:avLst/>
          </a:prstGeom>
          <a:noFill/>
          <a:ln/>
        </p:spPr>
        <p:txBody>
          <a:bodyPr wrap="square" lIns="0" tIns="0" rIns="0" bIns="0" rtlCol="0" anchor="ctr"/>
          <a:lstStyle/>
          <a:p>
            <a:pPr>
              <a:lnSpc>
                <a:spcPct val="90000"/>
              </a:lnSpc>
            </a:pPr>
            <a:r>
              <a:rPr lang="en-US" sz="2700" b="1" dirty="0">
                <a:solidFill>
                  <a:srgbClr val="EDF2F4"/>
                </a:solidFill>
                <a:latin typeface="Liter" pitchFamily="34" charset="0"/>
                <a:ea typeface="Liter" pitchFamily="34" charset="-122"/>
                <a:cs typeface="Liter" pitchFamily="34" charset="-120"/>
              </a:rPr>
              <a:t>Proposed Architecture</a:t>
            </a:r>
            <a:endParaRPr lang="en-US" sz="1600" dirty="0"/>
          </a:p>
        </p:txBody>
      </p:sp>
      <p:sp>
        <p:nvSpPr>
          <p:cNvPr id="4" name="Shape 2"/>
          <p:cNvSpPr/>
          <p:nvPr/>
        </p:nvSpPr>
        <p:spPr>
          <a:xfrm>
            <a:off x="381000" y="1181100"/>
            <a:ext cx="914400" cy="38100"/>
          </a:xfrm>
          <a:custGeom>
            <a:avLst/>
            <a:gdLst/>
            <a:ahLst/>
            <a:cxnLst/>
            <a:rect l="l" t="t" r="r" b="b"/>
            <a:pathLst>
              <a:path w="914400" h="38100">
                <a:moveTo>
                  <a:pt x="0" y="0"/>
                </a:moveTo>
                <a:lnTo>
                  <a:pt x="914400" y="0"/>
                </a:lnTo>
                <a:lnTo>
                  <a:pt x="914400" y="38100"/>
                </a:lnTo>
                <a:lnTo>
                  <a:pt x="0" y="38100"/>
                </a:lnTo>
                <a:lnTo>
                  <a:pt x="0" y="0"/>
                </a:lnTo>
                <a:close/>
              </a:path>
            </a:pathLst>
          </a:custGeom>
          <a:solidFill>
            <a:srgbClr val="C9A86A"/>
          </a:solidFill>
          <a:ln/>
        </p:spPr>
        <p:txBody>
          <a:bodyPr/>
          <a:lstStyle/>
          <a:p>
            <a:endParaRPr lang="en-GB"/>
          </a:p>
        </p:txBody>
      </p:sp>
      <p:sp>
        <p:nvSpPr>
          <p:cNvPr id="5" name="Shape 3"/>
          <p:cNvSpPr/>
          <p:nvPr/>
        </p:nvSpPr>
        <p:spPr>
          <a:xfrm>
            <a:off x="1228725" y="1720453"/>
            <a:ext cx="2838450" cy="2524125"/>
          </a:xfrm>
          <a:custGeom>
            <a:avLst/>
            <a:gdLst/>
            <a:ahLst/>
            <a:cxnLst/>
            <a:rect l="l" t="t" r="r" b="b"/>
            <a:pathLst>
              <a:path w="2838450" h="2524125">
                <a:moveTo>
                  <a:pt x="114292" y="0"/>
                </a:moveTo>
                <a:lnTo>
                  <a:pt x="2724158" y="0"/>
                </a:lnTo>
                <a:cubicBezTo>
                  <a:pt x="2787280" y="0"/>
                  <a:pt x="2838450" y="51170"/>
                  <a:pt x="2838450" y="114292"/>
                </a:cubicBezTo>
                <a:lnTo>
                  <a:pt x="2838450" y="2409833"/>
                </a:lnTo>
                <a:cubicBezTo>
                  <a:pt x="2838450" y="2472955"/>
                  <a:pt x="2787280" y="2524125"/>
                  <a:pt x="2724158" y="2524125"/>
                </a:cubicBezTo>
                <a:lnTo>
                  <a:pt x="114292" y="2524125"/>
                </a:lnTo>
                <a:cubicBezTo>
                  <a:pt x="51170" y="2524125"/>
                  <a:pt x="0" y="2472955"/>
                  <a:pt x="0" y="2409833"/>
                </a:cubicBezTo>
                <a:lnTo>
                  <a:pt x="0" y="114292"/>
                </a:lnTo>
                <a:cubicBezTo>
                  <a:pt x="0" y="51213"/>
                  <a:pt x="51213" y="0"/>
                  <a:pt x="114292" y="0"/>
                </a:cubicBezTo>
                <a:close/>
              </a:path>
            </a:pathLst>
          </a:custGeom>
          <a:gradFill flip="none" rotWithShape="1">
            <a:gsLst>
              <a:gs pos="0">
                <a:srgbClr val="4A6C8C">
                  <a:alpha val="30000"/>
                </a:srgbClr>
              </a:gs>
              <a:gs pos="100000">
                <a:srgbClr val="4A6C8C">
                  <a:alpha val="10000"/>
                </a:srgbClr>
              </a:gs>
            </a:gsLst>
            <a:lin ang="2700000" scaled="1"/>
          </a:gradFill>
          <a:ln w="25400">
            <a:solidFill>
              <a:srgbClr val="4A6C8C"/>
            </a:solidFill>
            <a:prstDash val="solid"/>
          </a:ln>
        </p:spPr>
        <p:txBody>
          <a:bodyPr/>
          <a:lstStyle/>
          <a:p>
            <a:endParaRPr lang="en-GB"/>
          </a:p>
        </p:txBody>
      </p:sp>
      <p:sp>
        <p:nvSpPr>
          <p:cNvPr id="6" name="Shape 4"/>
          <p:cNvSpPr/>
          <p:nvPr/>
        </p:nvSpPr>
        <p:spPr>
          <a:xfrm>
            <a:off x="2299543" y="1615678"/>
            <a:ext cx="695325" cy="304800"/>
          </a:xfrm>
          <a:custGeom>
            <a:avLst/>
            <a:gdLst/>
            <a:ahLst/>
            <a:cxnLst/>
            <a:rect l="l" t="t" r="r" b="b"/>
            <a:pathLst>
              <a:path w="695325" h="304800">
                <a:moveTo>
                  <a:pt x="152400" y="0"/>
                </a:moveTo>
                <a:lnTo>
                  <a:pt x="542925" y="0"/>
                </a:lnTo>
                <a:cubicBezTo>
                  <a:pt x="627037" y="0"/>
                  <a:pt x="695325" y="68288"/>
                  <a:pt x="695325" y="152400"/>
                </a:cubicBezTo>
                <a:lnTo>
                  <a:pt x="695325" y="152400"/>
                </a:lnTo>
                <a:cubicBezTo>
                  <a:pt x="695325" y="236512"/>
                  <a:pt x="627037" y="304800"/>
                  <a:pt x="542925" y="304800"/>
                </a:cubicBezTo>
                <a:lnTo>
                  <a:pt x="152400" y="304800"/>
                </a:lnTo>
                <a:cubicBezTo>
                  <a:pt x="68288" y="304800"/>
                  <a:pt x="0" y="236512"/>
                  <a:pt x="0" y="152400"/>
                </a:cubicBezTo>
                <a:lnTo>
                  <a:pt x="0" y="152400"/>
                </a:lnTo>
                <a:cubicBezTo>
                  <a:pt x="0" y="68288"/>
                  <a:pt x="68288" y="0"/>
                  <a:pt x="152400" y="0"/>
                </a:cubicBezTo>
                <a:close/>
              </a:path>
            </a:pathLst>
          </a:custGeom>
          <a:solidFill>
            <a:srgbClr val="4A6C8C"/>
          </a:solidFill>
          <a:ln/>
        </p:spPr>
        <p:txBody>
          <a:bodyPr/>
          <a:lstStyle/>
          <a:p>
            <a:endParaRPr lang="en-GB"/>
          </a:p>
        </p:txBody>
      </p:sp>
      <p:sp>
        <p:nvSpPr>
          <p:cNvPr id="7" name="Text 5"/>
          <p:cNvSpPr/>
          <p:nvPr/>
        </p:nvSpPr>
        <p:spPr>
          <a:xfrm>
            <a:off x="2451943" y="1701403"/>
            <a:ext cx="458688" cy="152400"/>
          </a:xfrm>
          <a:prstGeom prst="rect">
            <a:avLst/>
          </a:prstGeom>
          <a:noFill/>
          <a:ln/>
        </p:spPr>
        <p:txBody>
          <a:bodyPr wrap="square" lIns="0" tIns="0" rIns="0" bIns="0" rtlCol="0" anchor="ctr"/>
          <a:lstStyle/>
          <a:p>
            <a:pPr>
              <a:lnSpc>
                <a:spcPct val="120000"/>
              </a:lnSpc>
            </a:pPr>
            <a:r>
              <a:rPr lang="en-US" sz="1050" b="1" dirty="0">
                <a:solidFill>
                  <a:srgbClr val="EDF2F4"/>
                </a:solidFill>
                <a:latin typeface="Quattrocento Sans" pitchFamily="34" charset="0"/>
                <a:ea typeface="Quattrocento Sans" pitchFamily="34" charset="-122"/>
                <a:cs typeface="Quattrocento Sans" pitchFamily="34" charset="-120"/>
              </a:rPr>
              <a:t>Layer 1</a:t>
            </a:r>
            <a:endParaRPr lang="en-US" sz="1600" dirty="0"/>
          </a:p>
        </p:txBody>
      </p:sp>
      <p:sp>
        <p:nvSpPr>
          <p:cNvPr id="8" name="Shape 6"/>
          <p:cNvSpPr/>
          <p:nvPr/>
        </p:nvSpPr>
        <p:spPr>
          <a:xfrm>
            <a:off x="2343150" y="2072878"/>
            <a:ext cx="609600" cy="609600"/>
          </a:xfrm>
          <a:custGeom>
            <a:avLst/>
            <a:gdLst/>
            <a:ahLst/>
            <a:cxnLst/>
            <a:rect l="l" t="t" r="r" b="b"/>
            <a:pathLst>
              <a:path w="609600" h="609600">
                <a:moveTo>
                  <a:pt x="304800" y="0"/>
                </a:moveTo>
                <a:lnTo>
                  <a:pt x="304800" y="0"/>
                </a:lnTo>
                <a:cubicBezTo>
                  <a:pt x="473024" y="0"/>
                  <a:pt x="609600" y="136576"/>
                  <a:pt x="609600" y="304800"/>
                </a:cubicBezTo>
                <a:lnTo>
                  <a:pt x="609600" y="304800"/>
                </a:lnTo>
                <a:cubicBezTo>
                  <a:pt x="609600" y="473024"/>
                  <a:pt x="473024" y="609600"/>
                  <a:pt x="304800" y="609600"/>
                </a:cubicBezTo>
                <a:lnTo>
                  <a:pt x="304800" y="609600"/>
                </a:lnTo>
                <a:cubicBezTo>
                  <a:pt x="136576" y="609600"/>
                  <a:pt x="0" y="473024"/>
                  <a:pt x="0" y="304800"/>
                </a:cubicBezTo>
                <a:lnTo>
                  <a:pt x="0" y="304800"/>
                </a:lnTo>
                <a:cubicBezTo>
                  <a:pt x="0" y="136576"/>
                  <a:pt x="136576" y="0"/>
                  <a:pt x="304800" y="0"/>
                </a:cubicBezTo>
                <a:close/>
              </a:path>
            </a:pathLst>
          </a:custGeom>
          <a:solidFill>
            <a:srgbClr val="4A6C8C"/>
          </a:solidFill>
          <a:ln/>
        </p:spPr>
        <p:txBody>
          <a:bodyPr/>
          <a:lstStyle/>
          <a:p>
            <a:endParaRPr lang="en-GB"/>
          </a:p>
        </p:txBody>
      </p:sp>
      <p:sp>
        <p:nvSpPr>
          <p:cNvPr id="9" name="Shape 7"/>
          <p:cNvSpPr/>
          <p:nvPr/>
        </p:nvSpPr>
        <p:spPr>
          <a:xfrm>
            <a:off x="2519363" y="2263378"/>
            <a:ext cx="257175" cy="228600"/>
          </a:xfrm>
          <a:custGeom>
            <a:avLst/>
            <a:gdLst/>
            <a:ahLst/>
            <a:cxnLst/>
            <a:rect l="l" t="t" r="r" b="b"/>
            <a:pathLst>
              <a:path w="257175" h="228600">
                <a:moveTo>
                  <a:pt x="128588" y="14288"/>
                </a:moveTo>
                <a:cubicBezTo>
                  <a:pt x="92512" y="14288"/>
                  <a:pt x="63624" y="30718"/>
                  <a:pt x="42595" y="50274"/>
                </a:cubicBezTo>
                <a:cubicBezTo>
                  <a:pt x="21699" y="69696"/>
                  <a:pt x="7724" y="92869"/>
                  <a:pt x="1072" y="108808"/>
                </a:cubicBezTo>
                <a:cubicBezTo>
                  <a:pt x="-402" y="112335"/>
                  <a:pt x="-402" y="116265"/>
                  <a:pt x="1072" y="119792"/>
                </a:cubicBezTo>
                <a:cubicBezTo>
                  <a:pt x="7724" y="135731"/>
                  <a:pt x="21699" y="158948"/>
                  <a:pt x="42595" y="178326"/>
                </a:cubicBezTo>
                <a:cubicBezTo>
                  <a:pt x="63624" y="197837"/>
                  <a:pt x="92512" y="214313"/>
                  <a:pt x="128588" y="214313"/>
                </a:cubicBezTo>
                <a:cubicBezTo>
                  <a:pt x="164663" y="214313"/>
                  <a:pt x="193551" y="197882"/>
                  <a:pt x="214580" y="178326"/>
                </a:cubicBezTo>
                <a:cubicBezTo>
                  <a:pt x="235476" y="158904"/>
                  <a:pt x="249451" y="135731"/>
                  <a:pt x="256103" y="119792"/>
                </a:cubicBezTo>
                <a:cubicBezTo>
                  <a:pt x="257577" y="116265"/>
                  <a:pt x="257577" y="112335"/>
                  <a:pt x="256103" y="108808"/>
                </a:cubicBezTo>
                <a:cubicBezTo>
                  <a:pt x="249451" y="92869"/>
                  <a:pt x="235476" y="69652"/>
                  <a:pt x="214580" y="50274"/>
                </a:cubicBezTo>
                <a:cubicBezTo>
                  <a:pt x="193551" y="30763"/>
                  <a:pt x="164663" y="14287"/>
                  <a:pt x="128588" y="14287"/>
                </a:cubicBezTo>
                <a:close/>
                <a:moveTo>
                  <a:pt x="64294" y="114300"/>
                </a:moveTo>
                <a:cubicBezTo>
                  <a:pt x="64294" y="78815"/>
                  <a:pt x="93103" y="50006"/>
                  <a:pt x="128588" y="50006"/>
                </a:cubicBezTo>
                <a:cubicBezTo>
                  <a:pt x="164072" y="50006"/>
                  <a:pt x="192881" y="78815"/>
                  <a:pt x="192881" y="114300"/>
                </a:cubicBezTo>
                <a:cubicBezTo>
                  <a:pt x="192881" y="149785"/>
                  <a:pt x="164072" y="178594"/>
                  <a:pt x="128588" y="178594"/>
                </a:cubicBezTo>
                <a:cubicBezTo>
                  <a:pt x="93103" y="178594"/>
                  <a:pt x="64294" y="149785"/>
                  <a:pt x="64294" y="114300"/>
                </a:cubicBezTo>
                <a:close/>
                <a:moveTo>
                  <a:pt x="128588" y="85725"/>
                </a:moveTo>
                <a:cubicBezTo>
                  <a:pt x="128588" y="101486"/>
                  <a:pt x="115773" y="114300"/>
                  <a:pt x="100013" y="114300"/>
                </a:cubicBezTo>
                <a:cubicBezTo>
                  <a:pt x="94878" y="114300"/>
                  <a:pt x="90056" y="112961"/>
                  <a:pt x="85859" y="110550"/>
                </a:cubicBezTo>
                <a:cubicBezTo>
                  <a:pt x="85412" y="115416"/>
                  <a:pt x="85814" y="120417"/>
                  <a:pt x="87154" y="125373"/>
                </a:cubicBezTo>
                <a:cubicBezTo>
                  <a:pt x="93271" y="148233"/>
                  <a:pt x="116800" y="161806"/>
                  <a:pt x="139660" y="155689"/>
                </a:cubicBezTo>
                <a:cubicBezTo>
                  <a:pt x="162520" y="149572"/>
                  <a:pt x="176093" y="126043"/>
                  <a:pt x="169977" y="103183"/>
                </a:cubicBezTo>
                <a:cubicBezTo>
                  <a:pt x="164529" y="82778"/>
                  <a:pt x="145197" y="69786"/>
                  <a:pt x="124837" y="71571"/>
                </a:cubicBezTo>
                <a:cubicBezTo>
                  <a:pt x="127203" y="75724"/>
                  <a:pt x="128588" y="80546"/>
                  <a:pt x="128588" y="85725"/>
                </a:cubicBezTo>
                <a:close/>
              </a:path>
            </a:pathLst>
          </a:custGeom>
          <a:solidFill>
            <a:srgbClr val="EDF2F4"/>
          </a:solidFill>
          <a:ln/>
        </p:spPr>
        <p:txBody>
          <a:bodyPr/>
          <a:lstStyle/>
          <a:p>
            <a:endParaRPr lang="en-GB"/>
          </a:p>
        </p:txBody>
      </p:sp>
      <p:sp>
        <p:nvSpPr>
          <p:cNvPr id="10" name="Text 8"/>
          <p:cNvSpPr/>
          <p:nvPr/>
        </p:nvSpPr>
        <p:spPr>
          <a:xfrm>
            <a:off x="1381125" y="2796778"/>
            <a:ext cx="2533650" cy="266700"/>
          </a:xfrm>
          <a:prstGeom prst="rect">
            <a:avLst/>
          </a:prstGeom>
          <a:noFill/>
          <a:ln/>
        </p:spPr>
        <p:txBody>
          <a:bodyPr wrap="square" lIns="0" tIns="0" rIns="0" bIns="0" rtlCol="0" anchor="ctr"/>
          <a:lstStyle/>
          <a:p>
            <a:pPr algn="ctr">
              <a:lnSpc>
                <a:spcPct val="120000"/>
              </a:lnSpc>
            </a:pPr>
            <a:r>
              <a:rPr lang="en-US" sz="1500" b="1" dirty="0">
                <a:solidFill>
                  <a:srgbClr val="EDF2F4"/>
                </a:solidFill>
                <a:latin typeface="Liter" pitchFamily="34" charset="0"/>
                <a:ea typeface="Liter" pitchFamily="34" charset="-122"/>
                <a:cs typeface="Liter" pitchFamily="34" charset="-120"/>
              </a:rPr>
              <a:t>Perception Layer</a:t>
            </a:r>
            <a:endParaRPr lang="en-US" sz="1600" dirty="0"/>
          </a:p>
        </p:txBody>
      </p:sp>
      <p:sp>
        <p:nvSpPr>
          <p:cNvPr id="11" name="Text 9"/>
          <p:cNvSpPr/>
          <p:nvPr/>
        </p:nvSpPr>
        <p:spPr>
          <a:xfrm>
            <a:off x="1395413" y="3139678"/>
            <a:ext cx="2505075" cy="219075"/>
          </a:xfrm>
          <a:prstGeom prst="rect">
            <a:avLst/>
          </a:prstGeom>
          <a:noFill/>
          <a:ln/>
        </p:spPr>
        <p:txBody>
          <a:bodyPr wrap="square" lIns="0" tIns="0" rIns="0" bIns="0" rtlCol="0" anchor="ctr"/>
          <a:lstStyle/>
          <a:p>
            <a:pPr algn="ctr">
              <a:lnSpc>
                <a:spcPct val="140000"/>
              </a:lnSpc>
            </a:pPr>
            <a:r>
              <a:rPr lang="en-US" sz="1050" dirty="0">
                <a:solidFill>
                  <a:srgbClr val="8D99AE"/>
                </a:solidFill>
                <a:latin typeface="Quattrocento Sans" pitchFamily="34" charset="0"/>
                <a:ea typeface="Quattrocento Sans" pitchFamily="34" charset="-122"/>
                <a:cs typeface="Quattrocento Sans" pitchFamily="34" charset="-120"/>
              </a:rPr>
              <a:t>Dataset profiling and feature extraction</a:t>
            </a:r>
            <a:endParaRPr lang="en-US" sz="1600" dirty="0"/>
          </a:p>
        </p:txBody>
      </p:sp>
      <p:sp>
        <p:nvSpPr>
          <p:cNvPr id="12" name="Shape 10"/>
          <p:cNvSpPr/>
          <p:nvPr/>
        </p:nvSpPr>
        <p:spPr>
          <a:xfrm>
            <a:off x="1428750" y="3508772"/>
            <a:ext cx="2438400" cy="533400"/>
          </a:xfrm>
          <a:custGeom>
            <a:avLst/>
            <a:gdLst/>
            <a:ahLst/>
            <a:cxnLst/>
            <a:rect l="l" t="t" r="r" b="b"/>
            <a:pathLst>
              <a:path w="2438400" h="533400">
                <a:moveTo>
                  <a:pt x="76202" y="0"/>
                </a:moveTo>
                <a:lnTo>
                  <a:pt x="2362198" y="0"/>
                </a:lnTo>
                <a:cubicBezTo>
                  <a:pt x="2404283" y="0"/>
                  <a:pt x="2438400" y="34117"/>
                  <a:pt x="2438400" y="76202"/>
                </a:cubicBezTo>
                <a:lnTo>
                  <a:pt x="2438400" y="457198"/>
                </a:lnTo>
                <a:cubicBezTo>
                  <a:pt x="2438400" y="499283"/>
                  <a:pt x="2404283" y="533400"/>
                  <a:pt x="2362198" y="533400"/>
                </a:cubicBezTo>
                <a:lnTo>
                  <a:pt x="76202" y="533400"/>
                </a:lnTo>
                <a:cubicBezTo>
                  <a:pt x="34117" y="533400"/>
                  <a:pt x="0" y="499283"/>
                  <a:pt x="0" y="457198"/>
                </a:cubicBezTo>
                <a:lnTo>
                  <a:pt x="0" y="76202"/>
                </a:lnTo>
                <a:cubicBezTo>
                  <a:pt x="0" y="34145"/>
                  <a:pt x="34145" y="0"/>
                  <a:pt x="76202" y="0"/>
                </a:cubicBezTo>
                <a:close/>
              </a:path>
            </a:pathLst>
          </a:custGeom>
          <a:solidFill>
            <a:srgbClr val="1A1D24">
              <a:alpha val="60000"/>
            </a:srgbClr>
          </a:solidFill>
          <a:ln/>
        </p:spPr>
        <p:txBody>
          <a:bodyPr/>
          <a:lstStyle/>
          <a:p>
            <a:endParaRPr lang="en-GB"/>
          </a:p>
        </p:txBody>
      </p:sp>
      <p:sp>
        <p:nvSpPr>
          <p:cNvPr id="13" name="Shape 11"/>
          <p:cNvSpPr/>
          <p:nvPr/>
        </p:nvSpPr>
        <p:spPr>
          <a:xfrm>
            <a:off x="1660475" y="3632597"/>
            <a:ext cx="100013" cy="114300"/>
          </a:xfrm>
          <a:custGeom>
            <a:avLst/>
            <a:gdLst/>
            <a:ahLst/>
            <a:cxnLst/>
            <a:rect l="l" t="t" r="r" b="b"/>
            <a:pathLst>
              <a:path w="100013" h="114300">
                <a:moveTo>
                  <a:pt x="100013" y="45943"/>
                </a:moveTo>
                <a:cubicBezTo>
                  <a:pt x="96709" y="48131"/>
                  <a:pt x="92913" y="49895"/>
                  <a:pt x="88962" y="51301"/>
                </a:cubicBezTo>
                <a:cubicBezTo>
                  <a:pt x="78470" y="55052"/>
                  <a:pt x="64696" y="57150"/>
                  <a:pt x="50006" y="57150"/>
                </a:cubicBezTo>
                <a:cubicBezTo>
                  <a:pt x="35317" y="57150"/>
                  <a:pt x="21521" y="55029"/>
                  <a:pt x="11050" y="51301"/>
                </a:cubicBezTo>
                <a:cubicBezTo>
                  <a:pt x="7121" y="49895"/>
                  <a:pt x="3304" y="48131"/>
                  <a:pt x="0" y="45943"/>
                </a:cubicBezTo>
                <a:lnTo>
                  <a:pt x="0" y="64294"/>
                </a:lnTo>
                <a:cubicBezTo>
                  <a:pt x="0" y="74161"/>
                  <a:pt x="22391" y="82153"/>
                  <a:pt x="50006" y="82153"/>
                </a:cubicBezTo>
                <a:cubicBezTo>
                  <a:pt x="77621" y="82153"/>
                  <a:pt x="100013" y="74161"/>
                  <a:pt x="100013" y="64294"/>
                </a:cubicBezTo>
                <a:lnTo>
                  <a:pt x="100013" y="45943"/>
                </a:lnTo>
                <a:close/>
                <a:moveTo>
                  <a:pt x="100013" y="28575"/>
                </a:moveTo>
                <a:lnTo>
                  <a:pt x="100013" y="17859"/>
                </a:lnTo>
                <a:cubicBezTo>
                  <a:pt x="100013" y="7992"/>
                  <a:pt x="77621" y="0"/>
                  <a:pt x="50006" y="0"/>
                </a:cubicBezTo>
                <a:cubicBezTo>
                  <a:pt x="22391" y="0"/>
                  <a:pt x="0" y="7992"/>
                  <a:pt x="0" y="17859"/>
                </a:cubicBezTo>
                <a:lnTo>
                  <a:pt x="0" y="28575"/>
                </a:lnTo>
                <a:cubicBezTo>
                  <a:pt x="0" y="38442"/>
                  <a:pt x="22391" y="46434"/>
                  <a:pt x="50006" y="46434"/>
                </a:cubicBezTo>
                <a:cubicBezTo>
                  <a:pt x="77621" y="46434"/>
                  <a:pt x="100013" y="38442"/>
                  <a:pt x="100013" y="28575"/>
                </a:cubicBezTo>
                <a:close/>
                <a:moveTo>
                  <a:pt x="88962" y="87020"/>
                </a:moveTo>
                <a:cubicBezTo>
                  <a:pt x="78492" y="90748"/>
                  <a:pt x="64718" y="92869"/>
                  <a:pt x="50006" y="92869"/>
                </a:cubicBezTo>
                <a:cubicBezTo>
                  <a:pt x="35295" y="92869"/>
                  <a:pt x="21521" y="90748"/>
                  <a:pt x="11050" y="87020"/>
                </a:cubicBezTo>
                <a:cubicBezTo>
                  <a:pt x="7121" y="85613"/>
                  <a:pt x="3304" y="83850"/>
                  <a:pt x="0" y="81662"/>
                </a:cubicBezTo>
                <a:lnTo>
                  <a:pt x="0" y="96441"/>
                </a:lnTo>
                <a:cubicBezTo>
                  <a:pt x="0" y="106308"/>
                  <a:pt x="22391" y="114300"/>
                  <a:pt x="50006" y="114300"/>
                </a:cubicBezTo>
                <a:cubicBezTo>
                  <a:pt x="77621" y="114300"/>
                  <a:pt x="100013" y="106308"/>
                  <a:pt x="100013" y="96441"/>
                </a:cubicBezTo>
                <a:lnTo>
                  <a:pt x="100013" y="81662"/>
                </a:lnTo>
                <a:cubicBezTo>
                  <a:pt x="96709" y="83850"/>
                  <a:pt x="92913" y="85613"/>
                  <a:pt x="88962" y="87020"/>
                </a:cubicBezTo>
                <a:close/>
              </a:path>
            </a:pathLst>
          </a:custGeom>
          <a:solidFill>
            <a:srgbClr val="C9A86A"/>
          </a:solidFill>
          <a:ln/>
        </p:spPr>
        <p:txBody>
          <a:bodyPr/>
          <a:lstStyle/>
          <a:p>
            <a:endParaRPr lang="en-GB"/>
          </a:p>
        </p:txBody>
      </p:sp>
      <p:sp>
        <p:nvSpPr>
          <p:cNvPr id="14" name="Text 12"/>
          <p:cNvSpPr/>
          <p:nvPr/>
        </p:nvSpPr>
        <p:spPr>
          <a:xfrm>
            <a:off x="1685925" y="3623072"/>
            <a:ext cx="2095500" cy="304800"/>
          </a:xfrm>
          <a:prstGeom prst="rect">
            <a:avLst/>
          </a:prstGeom>
          <a:noFill/>
          <a:ln/>
        </p:spPr>
        <p:txBody>
          <a:bodyPr wrap="square" lIns="0" tIns="0" rIns="0" bIns="0" rtlCol="0" anchor="ctr"/>
          <a:lstStyle/>
          <a:p>
            <a:pPr algn="ctr">
              <a:lnSpc>
                <a:spcPct val="110000"/>
              </a:lnSpc>
            </a:pPr>
            <a:r>
              <a:rPr lang="en-US" sz="900" dirty="0">
                <a:solidFill>
                  <a:srgbClr val="8D99AE"/>
                </a:solidFill>
                <a:latin typeface="Quattrocento Sans" pitchFamily="34" charset="0"/>
                <a:ea typeface="Quattrocento Sans" pitchFamily="34" charset="-122"/>
                <a:cs typeface="Quattrocento Sans" pitchFamily="34" charset="-120"/>
              </a:rPr>
              <a:t>Analyzes data characteristics, quality metrics, and statistical properties</a:t>
            </a:r>
            <a:endParaRPr lang="en-US" sz="1600" dirty="0"/>
          </a:p>
        </p:txBody>
      </p:sp>
      <p:sp>
        <p:nvSpPr>
          <p:cNvPr id="15" name="Shape 13"/>
          <p:cNvSpPr/>
          <p:nvPr/>
        </p:nvSpPr>
        <p:spPr>
          <a:xfrm>
            <a:off x="4257675" y="2524125"/>
            <a:ext cx="228600" cy="228600"/>
          </a:xfrm>
          <a:custGeom>
            <a:avLst/>
            <a:gdLst/>
            <a:ahLst/>
            <a:cxnLst/>
            <a:rect l="l" t="t" r="r" b="b"/>
            <a:pathLst>
              <a:path w="228600" h="228600">
                <a:moveTo>
                  <a:pt x="224403" y="124391"/>
                </a:moveTo>
                <a:cubicBezTo>
                  <a:pt x="229984" y="118809"/>
                  <a:pt x="229984" y="109746"/>
                  <a:pt x="224403" y="104165"/>
                </a:cubicBezTo>
                <a:lnTo>
                  <a:pt x="152966" y="32727"/>
                </a:lnTo>
                <a:cubicBezTo>
                  <a:pt x="147384" y="27146"/>
                  <a:pt x="138321" y="27146"/>
                  <a:pt x="132740" y="32727"/>
                </a:cubicBezTo>
                <a:cubicBezTo>
                  <a:pt x="127159" y="38308"/>
                  <a:pt x="127159" y="47372"/>
                  <a:pt x="132740" y="52953"/>
                </a:cubicBezTo>
                <a:lnTo>
                  <a:pt x="179799" y="100013"/>
                </a:lnTo>
                <a:lnTo>
                  <a:pt x="14288" y="100013"/>
                </a:lnTo>
                <a:cubicBezTo>
                  <a:pt x="6385" y="100013"/>
                  <a:pt x="0" y="106397"/>
                  <a:pt x="0" y="114300"/>
                </a:cubicBezTo>
                <a:cubicBezTo>
                  <a:pt x="0" y="122203"/>
                  <a:pt x="6385" y="128588"/>
                  <a:pt x="14288" y="128588"/>
                </a:cubicBezTo>
                <a:lnTo>
                  <a:pt x="179799" y="128588"/>
                </a:lnTo>
                <a:lnTo>
                  <a:pt x="132740" y="175647"/>
                </a:lnTo>
                <a:cubicBezTo>
                  <a:pt x="127159" y="181228"/>
                  <a:pt x="127159" y="190292"/>
                  <a:pt x="132740" y="195873"/>
                </a:cubicBezTo>
                <a:cubicBezTo>
                  <a:pt x="138321" y="201454"/>
                  <a:pt x="147384" y="201454"/>
                  <a:pt x="152966" y="195873"/>
                </a:cubicBezTo>
                <a:lnTo>
                  <a:pt x="224403" y="124435"/>
                </a:lnTo>
                <a:close/>
              </a:path>
            </a:pathLst>
          </a:custGeom>
          <a:solidFill>
            <a:srgbClr val="C9A86A"/>
          </a:solidFill>
          <a:ln/>
        </p:spPr>
        <p:txBody>
          <a:bodyPr/>
          <a:lstStyle/>
          <a:p>
            <a:endParaRPr lang="en-GB"/>
          </a:p>
        </p:txBody>
      </p:sp>
      <p:sp>
        <p:nvSpPr>
          <p:cNvPr id="16" name="Shape 14"/>
          <p:cNvSpPr/>
          <p:nvPr/>
        </p:nvSpPr>
        <p:spPr>
          <a:xfrm>
            <a:off x="4352925" y="2828925"/>
            <a:ext cx="38100" cy="304800"/>
          </a:xfrm>
          <a:custGeom>
            <a:avLst/>
            <a:gdLst/>
            <a:ahLst/>
            <a:cxnLst/>
            <a:rect l="l" t="t" r="r" b="b"/>
            <a:pathLst>
              <a:path w="38100" h="304800">
                <a:moveTo>
                  <a:pt x="0" y="0"/>
                </a:moveTo>
                <a:lnTo>
                  <a:pt x="38100" y="0"/>
                </a:lnTo>
                <a:lnTo>
                  <a:pt x="38100" y="304800"/>
                </a:lnTo>
                <a:lnTo>
                  <a:pt x="0" y="304800"/>
                </a:lnTo>
                <a:lnTo>
                  <a:pt x="0" y="0"/>
                </a:lnTo>
                <a:close/>
              </a:path>
            </a:pathLst>
          </a:custGeom>
          <a:solidFill>
            <a:srgbClr val="C9A86A">
              <a:alpha val="50196"/>
            </a:srgbClr>
          </a:solidFill>
          <a:ln/>
        </p:spPr>
        <p:txBody>
          <a:bodyPr/>
          <a:lstStyle/>
          <a:p>
            <a:endParaRPr lang="en-GB"/>
          </a:p>
        </p:txBody>
      </p:sp>
      <p:sp>
        <p:nvSpPr>
          <p:cNvPr id="17" name="Shape 15"/>
          <p:cNvSpPr/>
          <p:nvPr/>
        </p:nvSpPr>
        <p:spPr>
          <a:xfrm>
            <a:off x="4257675" y="3209925"/>
            <a:ext cx="228600" cy="228600"/>
          </a:xfrm>
          <a:custGeom>
            <a:avLst/>
            <a:gdLst/>
            <a:ahLst/>
            <a:cxnLst/>
            <a:rect l="l" t="t" r="r" b="b"/>
            <a:pathLst>
              <a:path w="228600" h="228600">
                <a:moveTo>
                  <a:pt x="224403" y="124391"/>
                </a:moveTo>
                <a:cubicBezTo>
                  <a:pt x="229984" y="118809"/>
                  <a:pt x="229984" y="109746"/>
                  <a:pt x="224403" y="104165"/>
                </a:cubicBezTo>
                <a:lnTo>
                  <a:pt x="152966" y="32727"/>
                </a:lnTo>
                <a:cubicBezTo>
                  <a:pt x="147384" y="27146"/>
                  <a:pt x="138321" y="27146"/>
                  <a:pt x="132740" y="32727"/>
                </a:cubicBezTo>
                <a:cubicBezTo>
                  <a:pt x="127159" y="38308"/>
                  <a:pt x="127159" y="47372"/>
                  <a:pt x="132740" y="52953"/>
                </a:cubicBezTo>
                <a:lnTo>
                  <a:pt x="179799" y="100013"/>
                </a:lnTo>
                <a:lnTo>
                  <a:pt x="14288" y="100013"/>
                </a:lnTo>
                <a:cubicBezTo>
                  <a:pt x="6385" y="100013"/>
                  <a:pt x="0" y="106397"/>
                  <a:pt x="0" y="114300"/>
                </a:cubicBezTo>
                <a:cubicBezTo>
                  <a:pt x="0" y="122203"/>
                  <a:pt x="6385" y="128588"/>
                  <a:pt x="14288" y="128588"/>
                </a:cubicBezTo>
                <a:lnTo>
                  <a:pt x="179799" y="128588"/>
                </a:lnTo>
                <a:lnTo>
                  <a:pt x="132740" y="175647"/>
                </a:lnTo>
                <a:cubicBezTo>
                  <a:pt x="127159" y="181228"/>
                  <a:pt x="127159" y="190292"/>
                  <a:pt x="132740" y="195873"/>
                </a:cubicBezTo>
                <a:cubicBezTo>
                  <a:pt x="138321" y="201454"/>
                  <a:pt x="147384" y="201454"/>
                  <a:pt x="152966" y="195873"/>
                </a:cubicBezTo>
                <a:lnTo>
                  <a:pt x="224403" y="124435"/>
                </a:lnTo>
                <a:close/>
              </a:path>
            </a:pathLst>
          </a:custGeom>
          <a:solidFill>
            <a:srgbClr val="C9A86A"/>
          </a:solidFill>
          <a:ln/>
        </p:spPr>
        <p:txBody>
          <a:bodyPr/>
          <a:lstStyle/>
          <a:p>
            <a:endParaRPr lang="en-GB"/>
          </a:p>
        </p:txBody>
      </p:sp>
      <p:sp>
        <p:nvSpPr>
          <p:cNvPr id="18" name="Shape 16"/>
          <p:cNvSpPr/>
          <p:nvPr/>
        </p:nvSpPr>
        <p:spPr>
          <a:xfrm>
            <a:off x="4676775" y="1720453"/>
            <a:ext cx="2838450" cy="2524125"/>
          </a:xfrm>
          <a:custGeom>
            <a:avLst/>
            <a:gdLst/>
            <a:ahLst/>
            <a:cxnLst/>
            <a:rect l="l" t="t" r="r" b="b"/>
            <a:pathLst>
              <a:path w="2838450" h="2524125">
                <a:moveTo>
                  <a:pt x="114292" y="0"/>
                </a:moveTo>
                <a:lnTo>
                  <a:pt x="2724158" y="0"/>
                </a:lnTo>
                <a:cubicBezTo>
                  <a:pt x="2787280" y="0"/>
                  <a:pt x="2838450" y="51170"/>
                  <a:pt x="2838450" y="114292"/>
                </a:cubicBezTo>
                <a:lnTo>
                  <a:pt x="2838450" y="2409833"/>
                </a:lnTo>
                <a:cubicBezTo>
                  <a:pt x="2838450" y="2472955"/>
                  <a:pt x="2787280" y="2524125"/>
                  <a:pt x="2724158" y="2524125"/>
                </a:cubicBezTo>
                <a:lnTo>
                  <a:pt x="114292" y="2524125"/>
                </a:lnTo>
                <a:cubicBezTo>
                  <a:pt x="51170" y="2524125"/>
                  <a:pt x="0" y="2472955"/>
                  <a:pt x="0" y="2409833"/>
                </a:cubicBezTo>
                <a:lnTo>
                  <a:pt x="0" y="114292"/>
                </a:lnTo>
                <a:cubicBezTo>
                  <a:pt x="0" y="51213"/>
                  <a:pt x="51213" y="0"/>
                  <a:pt x="114292" y="0"/>
                </a:cubicBezTo>
                <a:close/>
              </a:path>
            </a:pathLst>
          </a:custGeom>
          <a:gradFill flip="none" rotWithShape="1">
            <a:gsLst>
              <a:gs pos="0">
                <a:srgbClr val="C9A86A">
                  <a:alpha val="30000"/>
                </a:srgbClr>
              </a:gs>
              <a:gs pos="100000">
                <a:srgbClr val="C9A86A">
                  <a:alpha val="10000"/>
                </a:srgbClr>
              </a:gs>
            </a:gsLst>
            <a:lin ang="2700000" scaled="1"/>
          </a:gradFill>
          <a:ln w="25400">
            <a:solidFill>
              <a:srgbClr val="C9A86A"/>
            </a:solidFill>
            <a:prstDash val="solid"/>
          </a:ln>
        </p:spPr>
        <p:txBody>
          <a:bodyPr/>
          <a:lstStyle/>
          <a:p>
            <a:endParaRPr lang="en-GB"/>
          </a:p>
        </p:txBody>
      </p:sp>
      <p:sp>
        <p:nvSpPr>
          <p:cNvPr id="19" name="Shape 17"/>
          <p:cNvSpPr/>
          <p:nvPr/>
        </p:nvSpPr>
        <p:spPr>
          <a:xfrm>
            <a:off x="5734794" y="1615678"/>
            <a:ext cx="723900" cy="304800"/>
          </a:xfrm>
          <a:custGeom>
            <a:avLst/>
            <a:gdLst/>
            <a:ahLst/>
            <a:cxnLst/>
            <a:rect l="l" t="t" r="r" b="b"/>
            <a:pathLst>
              <a:path w="723900" h="304800">
                <a:moveTo>
                  <a:pt x="152400" y="0"/>
                </a:moveTo>
                <a:lnTo>
                  <a:pt x="571500" y="0"/>
                </a:lnTo>
                <a:cubicBezTo>
                  <a:pt x="655612" y="0"/>
                  <a:pt x="723900" y="68288"/>
                  <a:pt x="723900" y="152400"/>
                </a:cubicBezTo>
                <a:lnTo>
                  <a:pt x="723900" y="152400"/>
                </a:lnTo>
                <a:cubicBezTo>
                  <a:pt x="723900" y="236512"/>
                  <a:pt x="655612" y="304800"/>
                  <a:pt x="571500" y="304800"/>
                </a:cubicBezTo>
                <a:lnTo>
                  <a:pt x="152400" y="304800"/>
                </a:lnTo>
                <a:cubicBezTo>
                  <a:pt x="68288" y="304800"/>
                  <a:pt x="0" y="236512"/>
                  <a:pt x="0" y="152400"/>
                </a:cubicBezTo>
                <a:lnTo>
                  <a:pt x="0" y="152400"/>
                </a:lnTo>
                <a:cubicBezTo>
                  <a:pt x="0" y="68288"/>
                  <a:pt x="68288" y="0"/>
                  <a:pt x="152400" y="0"/>
                </a:cubicBezTo>
                <a:close/>
              </a:path>
            </a:pathLst>
          </a:custGeom>
          <a:solidFill>
            <a:srgbClr val="C9A86A"/>
          </a:solidFill>
          <a:ln/>
        </p:spPr>
        <p:txBody>
          <a:bodyPr/>
          <a:lstStyle/>
          <a:p>
            <a:endParaRPr lang="en-GB"/>
          </a:p>
        </p:txBody>
      </p:sp>
      <p:sp>
        <p:nvSpPr>
          <p:cNvPr id="20" name="Text 18"/>
          <p:cNvSpPr/>
          <p:nvPr/>
        </p:nvSpPr>
        <p:spPr>
          <a:xfrm>
            <a:off x="5887194" y="1701403"/>
            <a:ext cx="484287" cy="152400"/>
          </a:xfrm>
          <a:prstGeom prst="rect">
            <a:avLst/>
          </a:prstGeom>
          <a:noFill/>
          <a:ln/>
        </p:spPr>
        <p:txBody>
          <a:bodyPr wrap="square" lIns="0" tIns="0" rIns="0" bIns="0" rtlCol="0" anchor="ctr"/>
          <a:lstStyle/>
          <a:p>
            <a:pPr>
              <a:lnSpc>
                <a:spcPct val="120000"/>
              </a:lnSpc>
            </a:pPr>
            <a:r>
              <a:rPr lang="en-US" sz="1050" b="1" dirty="0">
                <a:solidFill>
                  <a:srgbClr val="1A1D24"/>
                </a:solidFill>
                <a:latin typeface="Quattrocento Sans" pitchFamily="34" charset="0"/>
                <a:ea typeface="Quattrocento Sans" pitchFamily="34" charset="-122"/>
                <a:cs typeface="Quattrocento Sans" pitchFamily="34" charset="-120"/>
              </a:rPr>
              <a:t>Layer 2</a:t>
            </a:r>
            <a:endParaRPr lang="en-US" sz="1600" dirty="0"/>
          </a:p>
        </p:txBody>
      </p:sp>
      <p:sp>
        <p:nvSpPr>
          <p:cNvPr id="21" name="Shape 19"/>
          <p:cNvSpPr/>
          <p:nvPr/>
        </p:nvSpPr>
        <p:spPr>
          <a:xfrm>
            <a:off x="5791200" y="2072878"/>
            <a:ext cx="609600" cy="609600"/>
          </a:xfrm>
          <a:custGeom>
            <a:avLst/>
            <a:gdLst/>
            <a:ahLst/>
            <a:cxnLst/>
            <a:rect l="l" t="t" r="r" b="b"/>
            <a:pathLst>
              <a:path w="609600" h="609600">
                <a:moveTo>
                  <a:pt x="304800" y="0"/>
                </a:moveTo>
                <a:lnTo>
                  <a:pt x="304800" y="0"/>
                </a:lnTo>
                <a:cubicBezTo>
                  <a:pt x="473024" y="0"/>
                  <a:pt x="609600" y="136576"/>
                  <a:pt x="609600" y="304800"/>
                </a:cubicBezTo>
                <a:lnTo>
                  <a:pt x="609600" y="304800"/>
                </a:lnTo>
                <a:cubicBezTo>
                  <a:pt x="609600" y="473024"/>
                  <a:pt x="473024" y="609600"/>
                  <a:pt x="304800" y="609600"/>
                </a:cubicBezTo>
                <a:lnTo>
                  <a:pt x="304800" y="609600"/>
                </a:lnTo>
                <a:cubicBezTo>
                  <a:pt x="136576" y="609600"/>
                  <a:pt x="0" y="473024"/>
                  <a:pt x="0" y="304800"/>
                </a:cubicBezTo>
                <a:lnTo>
                  <a:pt x="0" y="304800"/>
                </a:lnTo>
                <a:cubicBezTo>
                  <a:pt x="0" y="136576"/>
                  <a:pt x="136576" y="0"/>
                  <a:pt x="304800" y="0"/>
                </a:cubicBezTo>
                <a:close/>
              </a:path>
            </a:pathLst>
          </a:custGeom>
          <a:solidFill>
            <a:srgbClr val="C9A86A"/>
          </a:solidFill>
          <a:ln/>
        </p:spPr>
        <p:txBody>
          <a:bodyPr/>
          <a:lstStyle/>
          <a:p>
            <a:endParaRPr lang="en-GB"/>
          </a:p>
        </p:txBody>
      </p:sp>
      <p:sp>
        <p:nvSpPr>
          <p:cNvPr id="22" name="Shape 20"/>
          <p:cNvSpPr/>
          <p:nvPr/>
        </p:nvSpPr>
        <p:spPr>
          <a:xfrm>
            <a:off x="5981700" y="2263378"/>
            <a:ext cx="228600" cy="228600"/>
          </a:xfrm>
          <a:custGeom>
            <a:avLst/>
            <a:gdLst/>
            <a:ahLst/>
            <a:cxnLst/>
            <a:rect l="l" t="t" r="r" b="b"/>
            <a:pathLst>
              <a:path w="228600" h="228600">
                <a:moveTo>
                  <a:pt x="53578" y="25003"/>
                </a:moveTo>
                <a:cubicBezTo>
                  <a:pt x="53578" y="11207"/>
                  <a:pt x="64785" y="0"/>
                  <a:pt x="78581" y="0"/>
                </a:cubicBezTo>
                <a:lnTo>
                  <a:pt x="89297" y="0"/>
                </a:lnTo>
                <a:cubicBezTo>
                  <a:pt x="97200" y="0"/>
                  <a:pt x="103584" y="6385"/>
                  <a:pt x="103584" y="14288"/>
                </a:cubicBezTo>
                <a:lnTo>
                  <a:pt x="103584" y="214313"/>
                </a:lnTo>
                <a:cubicBezTo>
                  <a:pt x="103584" y="222215"/>
                  <a:pt x="97200" y="228600"/>
                  <a:pt x="89297" y="228600"/>
                </a:cubicBezTo>
                <a:lnTo>
                  <a:pt x="75009" y="228600"/>
                </a:lnTo>
                <a:cubicBezTo>
                  <a:pt x="61704" y="228600"/>
                  <a:pt x="50497" y="219492"/>
                  <a:pt x="47327" y="207169"/>
                </a:cubicBezTo>
                <a:cubicBezTo>
                  <a:pt x="47015" y="207169"/>
                  <a:pt x="46747" y="207169"/>
                  <a:pt x="46434" y="207169"/>
                </a:cubicBezTo>
                <a:cubicBezTo>
                  <a:pt x="26700" y="207169"/>
                  <a:pt x="10716" y="191185"/>
                  <a:pt x="10716" y="171450"/>
                </a:cubicBezTo>
                <a:cubicBezTo>
                  <a:pt x="10716" y="163413"/>
                  <a:pt x="13395" y="156002"/>
                  <a:pt x="17859" y="150019"/>
                </a:cubicBezTo>
                <a:cubicBezTo>
                  <a:pt x="9198" y="143500"/>
                  <a:pt x="3572" y="133142"/>
                  <a:pt x="3572" y="121444"/>
                </a:cubicBezTo>
                <a:cubicBezTo>
                  <a:pt x="3572" y="107647"/>
                  <a:pt x="11430" y="95637"/>
                  <a:pt x="22860" y="89699"/>
                </a:cubicBezTo>
                <a:cubicBezTo>
                  <a:pt x="19690" y="84341"/>
                  <a:pt x="17859" y="78090"/>
                  <a:pt x="17859" y="71438"/>
                </a:cubicBezTo>
                <a:cubicBezTo>
                  <a:pt x="17859" y="51703"/>
                  <a:pt x="33844" y="35719"/>
                  <a:pt x="53578" y="35719"/>
                </a:cubicBezTo>
                <a:lnTo>
                  <a:pt x="53578" y="25003"/>
                </a:lnTo>
                <a:close/>
                <a:moveTo>
                  <a:pt x="175022" y="25003"/>
                </a:moveTo>
                <a:lnTo>
                  <a:pt x="175022" y="35719"/>
                </a:lnTo>
                <a:cubicBezTo>
                  <a:pt x="194756" y="35719"/>
                  <a:pt x="210741" y="51703"/>
                  <a:pt x="210741" y="71438"/>
                </a:cubicBezTo>
                <a:cubicBezTo>
                  <a:pt x="210741" y="78135"/>
                  <a:pt x="208910" y="84386"/>
                  <a:pt x="205740" y="89699"/>
                </a:cubicBezTo>
                <a:cubicBezTo>
                  <a:pt x="217215" y="95637"/>
                  <a:pt x="225028" y="107603"/>
                  <a:pt x="225028" y="121444"/>
                </a:cubicBezTo>
                <a:cubicBezTo>
                  <a:pt x="225028" y="133142"/>
                  <a:pt x="219402" y="143500"/>
                  <a:pt x="210741" y="150019"/>
                </a:cubicBezTo>
                <a:cubicBezTo>
                  <a:pt x="215205" y="156002"/>
                  <a:pt x="217884" y="163413"/>
                  <a:pt x="217884" y="171450"/>
                </a:cubicBezTo>
                <a:cubicBezTo>
                  <a:pt x="217884" y="191185"/>
                  <a:pt x="201900" y="207169"/>
                  <a:pt x="182166" y="207169"/>
                </a:cubicBezTo>
                <a:cubicBezTo>
                  <a:pt x="181853" y="207169"/>
                  <a:pt x="181585" y="207169"/>
                  <a:pt x="181273" y="207169"/>
                </a:cubicBezTo>
                <a:cubicBezTo>
                  <a:pt x="178103" y="219492"/>
                  <a:pt x="166896" y="228600"/>
                  <a:pt x="153591" y="228600"/>
                </a:cubicBezTo>
                <a:lnTo>
                  <a:pt x="139303" y="228600"/>
                </a:lnTo>
                <a:cubicBezTo>
                  <a:pt x="131400" y="228600"/>
                  <a:pt x="125016" y="222215"/>
                  <a:pt x="125016" y="214313"/>
                </a:cubicBezTo>
                <a:lnTo>
                  <a:pt x="125016" y="14288"/>
                </a:lnTo>
                <a:cubicBezTo>
                  <a:pt x="125016" y="6385"/>
                  <a:pt x="131400" y="0"/>
                  <a:pt x="139303" y="0"/>
                </a:cubicBezTo>
                <a:lnTo>
                  <a:pt x="150019" y="0"/>
                </a:lnTo>
                <a:cubicBezTo>
                  <a:pt x="163815" y="0"/>
                  <a:pt x="175022" y="11207"/>
                  <a:pt x="175022" y="25003"/>
                </a:cubicBezTo>
                <a:close/>
              </a:path>
            </a:pathLst>
          </a:custGeom>
          <a:solidFill>
            <a:srgbClr val="1A1D24"/>
          </a:solidFill>
          <a:ln/>
        </p:spPr>
        <p:txBody>
          <a:bodyPr/>
          <a:lstStyle/>
          <a:p>
            <a:endParaRPr lang="en-GB"/>
          </a:p>
        </p:txBody>
      </p:sp>
      <p:sp>
        <p:nvSpPr>
          <p:cNvPr id="23" name="Text 21"/>
          <p:cNvSpPr/>
          <p:nvPr/>
        </p:nvSpPr>
        <p:spPr>
          <a:xfrm>
            <a:off x="4829175" y="2796778"/>
            <a:ext cx="2533650" cy="266700"/>
          </a:xfrm>
          <a:prstGeom prst="rect">
            <a:avLst/>
          </a:prstGeom>
          <a:noFill/>
          <a:ln/>
        </p:spPr>
        <p:txBody>
          <a:bodyPr wrap="square" lIns="0" tIns="0" rIns="0" bIns="0" rtlCol="0" anchor="ctr"/>
          <a:lstStyle/>
          <a:p>
            <a:pPr algn="ctr">
              <a:lnSpc>
                <a:spcPct val="120000"/>
              </a:lnSpc>
            </a:pPr>
            <a:r>
              <a:rPr lang="en-US" sz="1500" b="1" dirty="0">
                <a:solidFill>
                  <a:srgbClr val="EDF2F4"/>
                </a:solidFill>
                <a:latin typeface="Liter" pitchFamily="34" charset="0"/>
                <a:ea typeface="Liter" pitchFamily="34" charset="-122"/>
                <a:cs typeface="Liter" pitchFamily="34" charset="-120"/>
              </a:rPr>
              <a:t>Strategy Evaluation</a:t>
            </a:r>
            <a:endParaRPr lang="en-US" sz="1600" dirty="0"/>
          </a:p>
        </p:txBody>
      </p:sp>
      <p:sp>
        <p:nvSpPr>
          <p:cNvPr id="24" name="Text 22"/>
          <p:cNvSpPr/>
          <p:nvPr/>
        </p:nvSpPr>
        <p:spPr>
          <a:xfrm>
            <a:off x="4843463" y="3139678"/>
            <a:ext cx="2505075" cy="219075"/>
          </a:xfrm>
          <a:prstGeom prst="rect">
            <a:avLst/>
          </a:prstGeom>
          <a:noFill/>
          <a:ln/>
        </p:spPr>
        <p:txBody>
          <a:bodyPr wrap="square" lIns="0" tIns="0" rIns="0" bIns="0" rtlCol="0" anchor="ctr"/>
          <a:lstStyle/>
          <a:p>
            <a:pPr algn="ctr">
              <a:lnSpc>
                <a:spcPct val="140000"/>
              </a:lnSpc>
            </a:pPr>
            <a:r>
              <a:rPr lang="en-US" sz="1050" dirty="0">
                <a:solidFill>
                  <a:srgbClr val="8D99AE"/>
                </a:solidFill>
                <a:latin typeface="Quattrocento Sans" pitchFamily="34" charset="0"/>
                <a:ea typeface="Quattrocento Sans" pitchFamily="34" charset="-122"/>
                <a:cs typeface="Quattrocento Sans" pitchFamily="34" charset="-120"/>
              </a:rPr>
              <a:t>Pipeline testing and comparison</a:t>
            </a:r>
            <a:endParaRPr lang="en-US" sz="1600" dirty="0"/>
          </a:p>
        </p:txBody>
      </p:sp>
      <p:sp>
        <p:nvSpPr>
          <p:cNvPr id="25" name="Shape 23"/>
          <p:cNvSpPr/>
          <p:nvPr/>
        </p:nvSpPr>
        <p:spPr>
          <a:xfrm>
            <a:off x="4876800" y="3508772"/>
            <a:ext cx="2438400" cy="533400"/>
          </a:xfrm>
          <a:custGeom>
            <a:avLst/>
            <a:gdLst/>
            <a:ahLst/>
            <a:cxnLst/>
            <a:rect l="l" t="t" r="r" b="b"/>
            <a:pathLst>
              <a:path w="2438400" h="533400">
                <a:moveTo>
                  <a:pt x="76202" y="0"/>
                </a:moveTo>
                <a:lnTo>
                  <a:pt x="2362198" y="0"/>
                </a:lnTo>
                <a:cubicBezTo>
                  <a:pt x="2404283" y="0"/>
                  <a:pt x="2438400" y="34117"/>
                  <a:pt x="2438400" y="76202"/>
                </a:cubicBezTo>
                <a:lnTo>
                  <a:pt x="2438400" y="457198"/>
                </a:lnTo>
                <a:cubicBezTo>
                  <a:pt x="2438400" y="499283"/>
                  <a:pt x="2404283" y="533400"/>
                  <a:pt x="2362198" y="533400"/>
                </a:cubicBezTo>
                <a:lnTo>
                  <a:pt x="76202" y="533400"/>
                </a:lnTo>
                <a:cubicBezTo>
                  <a:pt x="34117" y="533400"/>
                  <a:pt x="0" y="499283"/>
                  <a:pt x="0" y="457198"/>
                </a:cubicBezTo>
                <a:lnTo>
                  <a:pt x="0" y="76202"/>
                </a:lnTo>
                <a:cubicBezTo>
                  <a:pt x="0" y="34145"/>
                  <a:pt x="34145" y="0"/>
                  <a:pt x="76202" y="0"/>
                </a:cubicBezTo>
                <a:close/>
              </a:path>
            </a:pathLst>
          </a:custGeom>
          <a:solidFill>
            <a:srgbClr val="1A1D24">
              <a:alpha val="60000"/>
            </a:srgbClr>
          </a:solidFill>
          <a:ln/>
        </p:spPr>
        <p:txBody>
          <a:bodyPr/>
          <a:lstStyle/>
          <a:p>
            <a:endParaRPr lang="en-GB"/>
          </a:p>
        </p:txBody>
      </p:sp>
      <p:sp>
        <p:nvSpPr>
          <p:cNvPr id="26" name="Shape 24"/>
          <p:cNvSpPr/>
          <p:nvPr/>
        </p:nvSpPr>
        <p:spPr>
          <a:xfrm>
            <a:off x="5056138" y="3632597"/>
            <a:ext cx="100013" cy="114300"/>
          </a:xfrm>
          <a:custGeom>
            <a:avLst/>
            <a:gdLst/>
            <a:ahLst/>
            <a:cxnLst/>
            <a:rect l="l" t="t" r="r" b="b"/>
            <a:pathLst>
              <a:path w="100013" h="114300">
                <a:moveTo>
                  <a:pt x="64294" y="0"/>
                </a:moveTo>
                <a:lnTo>
                  <a:pt x="28575" y="0"/>
                </a:lnTo>
                <a:cubicBezTo>
                  <a:pt x="24624" y="0"/>
                  <a:pt x="21431" y="3192"/>
                  <a:pt x="21431" y="7144"/>
                </a:cubicBezTo>
                <a:cubicBezTo>
                  <a:pt x="21431" y="11095"/>
                  <a:pt x="24624" y="14288"/>
                  <a:pt x="28575" y="14288"/>
                </a:cubicBezTo>
                <a:lnTo>
                  <a:pt x="28575" y="48109"/>
                </a:lnTo>
                <a:lnTo>
                  <a:pt x="1674" y="95168"/>
                </a:lnTo>
                <a:cubicBezTo>
                  <a:pt x="580" y="97110"/>
                  <a:pt x="0" y="99276"/>
                  <a:pt x="0" y="101508"/>
                </a:cubicBezTo>
                <a:cubicBezTo>
                  <a:pt x="0" y="108585"/>
                  <a:pt x="5715" y="114300"/>
                  <a:pt x="12792" y="114300"/>
                </a:cubicBezTo>
                <a:lnTo>
                  <a:pt x="87221" y="114300"/>
                </a:lnTo>
                <a:cubicBezTo>
                  <a:pt x="94275" y="114300"/>
                  <a:pt x="100013" y="108585"/>
                  <a:pt x="100013" y="101508"/>
                </a:cubicBezTo>
                <a:cubicBezTo>
                  <a:pt x="100013" y="99276"/>
                  <a:pt x="99432" y="97088"/>
                  <a:pt x="98338" y="95168"/>
                </a:cubicBezTo>
                <a:lnTo>
                  <a:pt x="71438" y="48109"/>
                </a:lnTo>
                <a:lnTo>
                  <a:pt x="71438" y="14288"/>
                </a:lnTo>
                <a:cubicBezTo>
                  <a:pt x="75389" y="14288"/>
                  <a:pt x="78581" y="11095"/>
                  <a:pt x="78581" y="7144"/>
                </a:cubicBezTo>
                <a:cubicBezTo>
                  <a:pt x="78581" y="3192"/>
                  <a:pt x="75389" y="0"/>
                  <a:pt x="71438" y="0"/>
                </a:cubicBezTo>
                <a:lnTo>
                  <a:pt x="64294" y="0"/>
                </a:lnTo>
                <a:close/>
                <a:moveTo>
                  <a:pt x="42863" y="48109"/>
                </a:moveTo>
                <a:lnTo>
                  <a:pt x="42863" y="14288"/>
                </a:lnTo>
                <a:lnTo>
                  <a:pt x="57150" y="14288"/>
                </a:lnTo>
                <a:lnTo>
                  <a:pt x="57150" y="48109"/>
                </a:lnTo>
                <a:cubicBezTo>
                  <a:pt x="57150" y="50587"/>
                  <a:pt x="57797" y="53042"/>
                  <a:pt x="59025" y="55208"/>
                </a:cubicBezTo>
                <a:lnTo>
                  <a:pt x="68312" y="71438"/>
                </a:lnTo>
                <a:lnTo>
                  <a:pt x="31700" y="71438"/>
                </a:lnTo>
                <a:lnTo>
                  <a:pt x="40987" y="55208"/>
                </a:lnTo>
                <a:cubicBezTo>
                  <a:pt x="42215" y="53042"/>
                  <a:pt x="42863" y="50609"/>
                  <a:pt x="42863" y="48109"/>
                </a:cubicBezTo>
                <a:close/>
              </a:path>
            </a:pathLst>
          </a:custGeom>
          <a:solidFill>
            <a:srgbClr val="C9A86A"/>
          </a:solidFill>
          <a:ln/>
        </p:spPr>
        <p:txBody>
          <a:bodyPr/>
          <a:lstStyle/>
          <a:p>
            <a:endParaRPr lang="en-GB"/>
          </a:p>
        </p:txBody>
      </p:sp>
      <p:sp>
        <p:nvSpPr>
          <p:cNvPr id="27" name="Text 25"/>
          <p:cNvSpPr/>
          <p:nvPr/>
        </p:nvSpPr>
        <p:spPr>
          <a:xfrm>
            <a:off x="5133975" y="3623072"/>
            <a:ext cx="2095500" cy="304800"/>
          </a:xfrm>
          <a:prstGeom prst="rect">
            <a:avLst/>
          </a:prstGeom>
          <a:noFill/>
          <a:ln/>
        </p:spPr>
        <p:txBody>
          <a:bodyPr wrap="square" lIns="0" tIns="0" rIns="0" bIns="0" rtlCol="0" anchor="ctr"/>
          <a:lstStyle/>
          <a:p>
            <a:pPr algn="ctr">
              <a:lnSpc>
                <a:spcPct val="110000"/>
              </a:lnSpc>
            </a:pPr>
            <a:r>
              <a:rPr lang="en-US" sz="900" dirty="0">
                <a:solidFill>
                  <a:srgbClr val="8D99AE"/>
                </a:solidFill>
                <a:latin typeface="Quattrocento Sans" pitchFamily="34" charset="0"/>
                <a:ea typeface="Quattrocento Sans" pitchFamily="34" charset="-122"/>
                <a:cs typeface="Quattrocento Sans" pitchFamily="34" charset="-120"/>
              </a:rPr>
              <a:t>Tests multiple preprocessing strategies and benchmarks performance</a:t>
            </a:r>
            <a:endParaRPr lang="en-US" sz="1600" dirty="0"/>
          </a:p>
        </p:txBody>
      </p:sp>
      <p:sp>
        <p:nvSpPr>
          <p:cNvPr id="28" name="Shape 26"/>
          <p:cNvSpPr/>
          <p:nvPr/>
        </p:nvSpPr>
        <p:spPr>
          <a:xfrm>
            <a:off x="7705725" y="2524125"/>
            <a:ext cx="228600" cy="228600"/>
          </a:xfrm>
          <a:custGeom>
            <a:avLst/>
            <a:gdLst/>
            <a:ahLst/>
            <a:cxnLst/>
            <a:rect l="l" t="t" r="r" b="b"/>
            <a:pathLst>
              <a:path w="228600" h="228600">
                <a:moveTo>
                  <a:pt x="224403" y="124391"/>
                </a:moveTo>
                <a:cubicBezTo>
                  <a:pt x="229984" y="118809"/>
                  <a:pt x="229984" y="109746"/>
                  <a:pt x="224403" y="104165"/>
                </a:cubicBezTo>
                <a:lnTo>
                  <a:pt x="152966" y="32727"/>
                </a:lnTo>
                <a:cubicBezTo>
                  <a:pt x="147384" y="27146"/>
                  <a:pt x="138321" y="27146"/>
                  <a:pt x="132740" y="32727"/>
                </a:cubicBezTo>
                <a:cubicBezTo>
                  <a:pt x="127159" y="38308"/>
                  <a:pt x="127159" y="47372"/>
                  <a:pt x="132740" y="52953"/>
                </a:cubicBezTo>
                <a:lnTo>
                  <a:pt x="179799" y="100013"/>
                </a:lnTo>
                <a:lnTo>
                  <a:pt x="14288" y="100013"/>
                </a:lnTo>
                <a:cubicBezTo>
                  <a:pt x="6385" y="100013"/>
                  <a:pt x="0" y="106397"/>
                  <a:pt x="0" y="114300"/>
                </a:cubicBezTo>
                <a:cubicBezTo>
                  <a:pt x="0" y="122203"/>
                  <a:pt x="6385" y="128588"/>
                  <a:pt x="14288" y="128588"/>
                </a:cubicBezTo>
                <a:lnTo>
                  <a:pt x="179799" y="128588"/>
                </a:lnTo>
                <a:lnTo>
                  <a:pt x="132740" y="175647"/>
                </a:lnTo>
                <a:cubicBezTo>
                  <a:pt x="127159" y="181228"/>
                  <a:pt x="127159" y="190292"/>
                  <a:pt x="132740" y="195873"/>
                </a:cubicBezTo>
                <a:cubicBezTo>
                  <a:pt x="138321" y="201454"/>
                  <a:pt x="147384" y="201454"/>
                  <a:pt x="152966" y="195873"/>
                </a:cubicBezTo>
                <a:lnTo>
                  <a:pt x="224403" y="124435"/>
                </a:lnTo>
                <a:close/>
              </a:path>
            </a:pathLst>
          </a:custGeom>
          <a:solidFill>
            <a:srgbClr val="C9A86A"/>
          </a:solidFill>
          <a:ln/>
        </p:spPr>
        <p:txBody>
          <a:bodyPr/>
          <a:lstStyle/>
          <a:p>
            <a:endParaRPr lang="en-GB"/>
          </a:p>
        </p:txBody>
      </p:sp>
      <p:sp>
        <p:nvSpPr>
          <p:cNvPr id="29" name="Shape 27"/>
          <p:cNvSpPr/>
          <p:nvPr/>
        </p:nvSpPr>
        <p:spPr>
          <a:xfrm>
            <a:off x="7800975" y="2828925"/>
            <a:ext cx="38100" cy="304800"/>
          </a:xfrm>
          <a:custGeom>
            <a:avLst/>
            <a:gdLst/>
            <a:ahLst/>
            <a:cxnLst/>
            <a:rect l="l" t="t" r="r" b="b"/>
            <a:pathLst>
              <a:path w="38100" h="304800">
                <a:moveTo>
                  <a:pt x="0" y="0"/>
                </a:moveTo>
                <a:lnTo>
                  <a:pt x="38100" y="0"/>
                </a:lnTo>
                <a:lnTo>
                  <a:pt x="38100" y="304800"/>
                </a:lnTo>
                <a:lnTo>
                  <a:pt x="0" y="304800"/>
                </a:lnTo>
                <a:lnTo>
                  <a:pt x="0" y="0"/>
                </a:lnTo>
                <a:close/>
              </a:path>
            </a:pathLst>
          </a:custGeom>
          <a:solidFill>
            <a:srgbClr val="C9A86A">
              <a:alpha val="50196"/>
            </a:srgbClr>
          </a:solidFill>
          <a:ln/>
        </p:spPr>
        <p:txBody>
          <a:bodyPr/>
          <a:lstStyle/>
          <a:p>
            <a:endParaRPr lang="en-GB"/>
          </a:p>
        </p:txBody>
      </p:sp>
      <p:sp>
        <p:nvSpPr>
          <p:cNvPr id="30" name="Shape 28"/>
          <p:cNvSpPr/>
          <p:nvPr/>
        </p:nvSpPr>
        <p:spPr>
          <a:xfrm>
            <a:off x="7705725" y="3209925"/>
            <a:ext cx="228600" cy="228600"/>
          </a:xfrm>
          <a:custGeom>
            <a:avLst/>
            <a:gdLst/>
            <a:ahLst/>
            <a:cxnLst/>
            <a:rect l="l" t="t" r="r" b="b"/>
            <a:pathLst>
              <a:path w="228600" h="228600">
                <a:moveTo>
                  <a:pt x="224403" y="124391"/>
                </a:moveTo>
                <a:cubicBezTo>
                  <a:pt x="229984" y="118809"/>
                  <a:pt x="229984" y="109746"/>
                  <a:pt x="224403" y="104165"/>
                </a:cubicBezTo>
                <a:lnTo>
                  <a:pt x="152966" y="32727"/>
                </a:lnTo>
                <a:cubicBezTo>
                  <a:pt x="147384" y="27146"/>
                  <a:pt x="138321" y="27146"/>
                  <a:pt x="132740" y="32727"/>
                </a:cubicBezTo>
                <a:cubicBezTo>
                  <a:pt x="127159" y="38308"/>
                  <a:pt x="127159" y="47372"/>
                  <a:pt x="132740" y="52953"/>
                </a:cubicBezTo>
                <a:lnTo>
                  <a:pt x="179799" y="100013"/>
                </a:lnTo>
                <a:lnTo>
                  <a:pt x="14288" y="100013"/>
                </a:lnTo>
                <a:cubicBezTo>
                  <a:pt x="6385" y="100013"/>
                  <a:pt x="0" y="106397"/>
                  <a:pt x="0" y="114300"/>
                </a:cubicBezTo>
                <a:cubicBezTo>
                  <a:pt x="0" y="122203"/>
                  <a:pt x="6385" y="128588"/>
                  <a:pt x="14288" y="128588"/>
                </a:cubicBezTo>
                <a:lnTo>
                  <a:pt x="179799" y="128588"/>
                </a:lnTo>
                <a:lnTo>
                  <a:pt x="132740" y="175647"/>
                </a:lnTo>
                <a:cubicBezTo>
                  <a:pt x="127159" y="181228"/>
                  <a:pt x="127159" y="190292"/>
                  <a:pt x="132740" y="195873"/>
                </a:cubicBezTo>
                <a:cubicBezTo>
                  <a:pt x="138321" y="201454"/>
                  <a:pt x="147384" y="201454"/>
                  <a:pt x="152966" y="195873"/>
                </a:cubicBezTo>
                <a:lnTo>
                  <a:pt x="224403" y="124435"/>
                </a:lnTo>
                <a:close/>
              </a:path>
            </a:pathLst>
          </a:custGeom>
          <a:solidFill>
            <a:srgbClr val="C9A86A"/>
          </a:solidFill>
          <a:ln/>
        </p:spPr>
        <p:txBody>
          <a:bodyPr/>
          <a:lstStyle/>
          <a:p>
            <a:endParaRPr lang="en-GB"/>
          </a:p>
        </p:txBody>
      </p:sp>
      <p:sp>
        <p:nvSpPr>
          <p:cNvPr id="31" name="Shape 29"/>
          <p:cNvSpPr/>
          <p:nvPr/>
        </p:nvSpPr>
        <p:spPr>
          <a:xfrm>
            <a:off x="8124825" y="1720453"/>
            <a:ext cx="2838450" cy="2524125"/>
          </a:xfrm>
          <a:custGeom>
            <a:avLst/>
            <a:gdLst/>
            <a:ahLst/>
            <a:cxnLst/>
            <a:rect l="l" t="t" r="r" b="b"/>
            <a:pathLst>
              <a:path w="2838450" h="2524125">
                <a:moveTo>
                  <a:pt x="114292" y="0"/>
                </a:moveTo>
                <a:lnTo>
                  <a:pt x="2724158" y="0"/>
                </a:lnTo>
                <a:cubicBezTo>
                  <a:pt x="2787280" y="0"/>
                  <a:pt x="2838450" y="51170"/>
                  <a:pt x="2838450" y="114292"/>
                </a:cubicBezTo>
                <a:lnTo>
                  <a:pt x="2838450" y="2409833"/>
                </a:lnTo>
                <a:cubicBezTo>
                  <a:pt x="2838450" y="2472955"/>
                  <a:pt x="2787280" y="2524125"/>
                  <a:pt x="2724158" y="2524125"/>
                </a:cubicBezTo>
                <a:lnTo>
                  <a:pt x="114292" y="2524125"/>
                </a:lnTo>
                <a:cubicBezTo>
                  <a:pt x="51170" y="2524125"/>
                  <a:pt x="0" y="2472955"/>
                  <a:pt x="0" y="2409833"/>
                </a:cubicBezTo>
                <a:lnTo>
                  <a:pt x="0" y="114292"/>
                </a:lnTo>
                <a:cubicBezTo>
                  <a:pt x="0" y="51213"/>
                  <a:pt x="51213" y="0"/>
                  <a:pt x="114292" y="0"/>
                </a:cubicBezTo>
                <a:close/>
              </a:path>
            </a:pathLst>
          </a:custGeom>
          <a:gradFill flip="none" rotWithShape="1">
            <a:gsLst>
              <a:gs pos="0">
                <a:srgbClr val="4A6C8C">
                  <a:alpha val="30000"/>
                </a:srgbClr>
              </a:gs>
              <a:gs pos="100000">
                <a:srgbClr val="4A6C8C">
                  <a:alpha val="10000"/>
                </a:srgbClr>
              </a:gs>
            </a:gsLst>
            <a:lin ang="2700000" scaled="1"/>
          </a:gradFill>
          <a:ln w="25400">
            <a:solidFill>
              <a:srgbClr val="4A6C8C"/>
            </a:solidFill>
            <a:prstDash val="solid"/>
          </a:ln>
        </p:spPr>
        <p:txBody>
          <a:bodyPr/>
          <a:lstStyle/>
          <a:p>
            <a:endParaRPr lang="en-GB"/>
          </a:p>
        </p:txBody>
      </p:sp>
      <p:sp>
        <p:nvSpPr>
          <p:cNvPr id="32" name="Shape 30"/>
          <p:cNvSpPr/>
          <p:nvPr/>
        </p:nvSpPr>
        <p:spPr>
          <a:xfrm>
            <a:off x="9181133" y="1615678"/>
            <a:ext cx="723900" cy="304800"/>
          </a:xfrm>
          <a:custGeom>
            <a:avLst/>
            <a:gdLst/>
            <a:ahLst/>
            <a:cxnLst/>
            <a:rect l="l" t="t" r="r" b="b"/>
            <a:pathLst>
              <a:path w="723900" h="304800">
                <a:moveTo>
                  <a:pt x="152400" y="0"/>
                </a:moveTo>
                <a:lnTo>
                  <a:pt x="571500" y="0"/>
                </a:lnTo>
                <a:cubicBezTo>
                  <a:pt x="655612" y="0"/>
                  <a:pt x="723900" y="68288"/>
                  <a:pt x="723900" y="152400"/>
                </a:cubicBezTo>
                <a:lnTo>
                  <a:pt x="723900" y="152400"/>
                </a:lnTo>
                <a:cubicBezTo>
                  <a:pt x="723900" y="236512"/>
                  <a:pt x="655612" y="304800"/>
                  <a:pt x="571500" y="304800"/>
                </a:cubicBezTo>
                <a:lnTo>
                  <a:pt x="152400" y="304800"/>
                </a:lnTo>
                <a:cubicBezTo>
                  <a:pt x="68288" y="304800"/>
                  <a:pt x="0" y="236512"/>
                  <a:pt x="0" y="152400"/>
                </a:cubicBezTo>
                <a:lnTo>
                  <a:pt x="0" y="152400"/>
                </a:lnTo>
                <a:cubicBezTo>
                  <a:pt x="0" y="68288"/>
                  <a:pt x="68288" y="0"/>
                  <a:pt x="152400" y="0"/>
                </a:cubicBezTo>
                <a:close/>
              </a:path>
            </a:pathLst>
          </a:custGeom>
          <a:solidFill>
            <a:srgbClr val="4A6C8C"/>
          </a:solidFill>
          <a:ln/>
        </p:spPr>
        <p:txBody>
          <a:bodyPr/>
          <a:lstStyle/>
          <a:p>
            <a:endParaRPr lang="en-GB"/>
          </a:p>
        </p:txBody>
      </p:sp>
      <p:sp>
        <p:nvSpPr>
          <p:cNvPr id="33" name="Text 31"/>
          <p:cNvSpPr/>
          <p:nvPr/>
        </p:nvSpPr>
        <p:spPr>
          <a:xfrm>
            <a:off x="9333533" y="1701403"/>
            <a:ext cx="487710" cy="152400"/>
          </a:xfrm>
          <a:prstGeom prst="rect">
            <a:avLst/>
          </a:prstGeom>
          <a:noFill/>
          <a:ln/>
        </p:spPr>
        <p:txBody>
          <a:bodyPr wrap="square" lIns="0" tIns="0" rIns="0" bIns="0" rtlCol="0" anchor="ctr"/>
          <a:lstStyle/>
          <a:p>
            <a:pPr>
              <a:lnSpc>
                <a:spcPct val="120000"/>
              </a:lnSpc>
            </a:pPr>
            <a:r>
              <a:rPr lang="en-US" sz="1050" b="1" dirty="0">
                <a:solidFill>
                  <a:srgbClr val="EDF2F4"/>
                </a:solidFill>
                <a:latin typeface="Quattrocento Sans" pitchFamily="34" charset="0"/>
                <a:ea typeface="Quattrocento Sans" pitchFamily="34" charset="-122"/>
                <a:cs typeface="Quattrocento Sans" pitchFamily="34" charset="-120"/>
              </a:rPr>
              <a:t>Layer 3</a:t>
            </a:r>
            <a:endParaRPr lang="en-US" sz="1600" dirty="0"/>
          </a:p>
        </p:txBody>
      </p:sp>
      <p:sp>
        <p:nvSpPr>
          <p:cNvPr id="34" name="Shape 32"/>
          <p:cNvSpPr/>
          <p:nvPr/>
        </p:nvSpPr>
        <p:spPr>
          <a:xfrm>
            <a:off x="9239250" y="2072878"/>
            <a:ext cx="609600" cy="609600"/>
          </a:xfrm>
          <a:custGeom>
            <a:avLst/>
            <a:gdLst/>
            <a:ahLst/>
            <a:cxnLst/>
            <a:rect l="l" t="t" r="r" b="b"/>
            <a:pathLst>
              <a:path w="609600" h="609600">
                <a:moveTo>
                  <a:pt x="304800" y="0"/>
                </a:moveTo>
                <a:lnTo>
                  <a:pt x="304800" y="0"/>
                </a:lnTo>
                <a:cubicBezTo>
                  <a:pt x="473024" y="0"/>
                  <a:pt x="609600" y="136576"/>
                  <a:pt x="609600" y="304800"/>
                </a:cubicBezTo>
                <a:lnTo>
                  <a:pt x="609600" y="304800"/>
                </a:lnTo>
                <a:cubicBezTo>
                  <a:pt x="609600" y="473024"/>
                  <a:pt x="473024" y="609600"/>
                  <a:pt x="304800" y="609600"/>
                </a:cubicBezTo>
                <a:lnTo>
                  <a:pt x="304800" y="609600"/>
                </a:lnTo>
                <a:cubicBezTo>
                  <a:pt x="136576" y="609600"/>
                  <a:pt x="0" y="473024"/>
                  <a:pt x="0" y="304800"/>
                </a:cubicBezTo>
                <a:lnTo>
                  <a:pt x="0" y="304800"/>
                </a:lnTo>
                <a:cubicBezTo>
                  <a:pt x="0" y="136576"/>
                  <a:pt x="136576" y="0"/>
                  <a:pt x="304800" y="0"/>
                </a:cubicBezTo>
                <a:close/>
              </a:path>
            </a:pathLst>
          </a:custGeom>
          <a:solidFill>
            <a:srgbClr val="4A6C8C"/>
          </a:solidFill>
          <a:ln/>
        </p:spPr>
        <p:txBody>
          <a:bodyPr/>
          <a:lstStyle/>
          <a:p>
            <a:endParaRPr lang="en-GB"/>
          </a:p>
        </p:txBody>
      </p:sp>
      <p:sp>
        <p:nvSpPr>
          <p:cNvPr id="35" name="Shape 33"/>
          <p:cNvSpPr/>
          <p:nvPr/>
        </p:nvSpPr>
        <p:spPr>
          <a:xfrm>
            <a:off x="9415463" y="2263378"/>
            <a:ext cx="257175" cy="228600"/>
          </a:xfrm>
          <a:custGeom>
            <a:avLst/>
            <a:gdLst/>
            <a:ahLst/>
            <a:cxnLst/>
            <a:rect l="l" t="t" r="r" b="b"/>
            <a:pathLst>
              <a:path w="257175" h="228600">
                <a:moveTo>
                  <a:pt x="21431" y="87422"/>
                </a:moveTo>
                <a:lnTo>
                  <a:pt x="114836" y="125864"/>
                </a:lnTo>
                <a:cubicBezTo>
                  <a:pt x="119211" y="127650"/>
                  <a:pt x="123855" y="128588"/>
                  <a:pt x="128588" y="128588"/>
                </a:cubicBezTo>
                <a:cubicBezTo>
                  <a:pt x="133320" y="128588"/>
                  <a:pt x="137964" y="127650"/>
                  <a:pt x="142339" y="125864"/>
                </a:cubicBezTo>
                <a:lnTo>
                  <a:pt x="250567" y="81305"/>
                </a:lnTo>
                <a:cubicBezTo>
                  <a:pt x="254585" y="79653"/>
                  <a:pt x="257175" y="75768"/>
                  <a:pt x="257175" y="71437"/>
                </a:cubicBezTo>
                <a:cubicBezTo>
                  <a:pt x="257175" y="67107"/>
                  <a:pt x="254585" y="63222"/>
                  <a:pt x="250567" y="61570"/>
                </a:cubicBezTo>
                <a:lnTo>
                  <a:pt x="142339" y="17011"/>
                </a:lnTo>
                <a:cubicBezTo>
                  <a:pt x="137964" y="15225"/>
                  <a:pt x="133320" y="14288"/>
                  <a:pt x="128588" y="14288"/>
                </a:cubicBezTo>
                <a:cubicBezTo>
                  <a:pt x="123855" y="14288"/>
                  <a:pt x="119211" y="15225"/>
                  <a:pt x="114836" y="17011"/>
                </a:cubicBezTo>
                <a:lnTo>
                  <a:pt x="6608" y="61570"/>
                </a:lnTo>
                <a:cubicBezTo>
                  <a:pt x="2590" y="63222"/>
                  <a:pt x="0" y="67107"/>
                  <a:pt x="0" y="71438"/>
                </a:cubicBezTo>
                <a:lnTo>
                  <a:pt x="0" y="203597"/>
                </a:lnTo>
                <a:cubicBezTo>
                  <a:pt x="0" y="209535"/>
                  <a:pt x="4777" y="214313"/>
                  <a:pt x="10716" y="214313"/>
                </a:cubicBezTo>
                <a:cubicBezTo>
                  <a:pt x="16654" y="214313"/>
                  <a:pt x="21431" y="209535"/>
                  <a:pt x="21431" y="203597"/>
                </a:cubicBezTo>
                <a:lnTo>
                  <a:pt x="21431" y="87422"/>
                </a:lnTo>
                <a:close/>
                <a:moveTo>
                  <a:pt x="42863" y="119435"/>
                </a:moveTo>
                <a:lnTo>
                  <a:pt x="42863" y="171450"/>
                </a:lnTo>
                <a:cubicBezTo>
                  <a:pt x="42863" y="195114"/>
                  <a:pt x="81260" y="214313"/>
                  <a:pt x="128588" y="214313"/>
                </a:cubicBezTo>
                <a:cubicBezTo>
                  <a:pt x="175915" y="214313"/>
                  <a:pt x="214313" y="195114"/>
                  <a:pt x="214313" y="171450"/>
                </a:cubicBezTo>
                <a:lnTo>
                  <a:pt x="214313" y="119390"/>
                </a:lnTo>
                <a:lnTo>
                  <a:pt x="150510" y="145688"/>
                </a:lnTo>
                <a:cubicBezTo>
                  <a:pt x="143545" y="148545"/>
                  <a:pt x="136133" y="150019"/>
                  <a:pt x="128588" y="150019"/>
                </a:cubicBezTo>
                <a:cubicBezTo>
                  <a:pt x="121042" y="150019"/>
                  <a:pt x="113630" y="148545"/>
                  <a:pt x="106665" y="145688"/>
                </a:cubicBezTo>
                <a:lnTo>
                  <a:pt x="42863" y="119390"/>
                </a:lnTo>
                <a:close/>
              </a:path>
            </a:pathLst>
          </a:custGeom>
          <a:solidFill>
            <a:srgbClr val="EDF2F4"/>
          </a:solidFill>
          <a:ln/>
        </p:spPr>
        <p:txBody>
          <a:bodyPr/>
          <a:lstStyle/>
          <a:p>
            <a:endParaRPr lang="en-GB"/>
          </a:p>
        </p:txBody>
      </p:sp>
      <p:sp>
        <p:nvSpPr>
          <p:cNvPr id="36" name="Text 34"/>
          <p:cNvSpPr/>
          <p:nvPr/>
        </p:nvSpPr>
        <p:spPr>
          <a:xfrm>
            <a:off x="8277225" y="2796778"/>
            <a:ext cx="2533650" cy="266700"/>
          </a:xfrm>
          <a:prstGeom prst="rect">
            <a:avLst/>
          </a:prstGeom>
          <a:noFill/>
          <a:ln/>
        </p:spPr>
        <p:txBody>
          <a:bodyPr wrap="square" lIns="0" tIns="0" rIns="0" bIns="0" rtlCol="0" anchor="ctr"/>
          <a:lstStyle/>
          <a:p>
            <a:pPr algn="ctr">
              <a:lnSpc>
                <a:spcPct val="120000"/>
              </a:lnSpc>
            </a:pPr>
            <a:r>
              <a:rPr lang="en-US" sz="1500" b="1" dirty="0">
                <a:solidFill>
                  <a:srgbClr val="EDF2F4"/>
                </a:solidFill>
                <a:latin typeface="Liter" pitchFamily="34" charset="0"/>
                <a:ea typeface="Liter" pitchFamily="34" charset="-122"/>
                <a:cs typeface="Liter" pitchFamily="34" charset="-120"/>
              </a:rPr>
              <a:t>Learning Layer</a:t>
            </a:r>
            <a:endParaRPr lang="en-US" sz="1600" dirty="0"/>
          </a:p>
        </p:txBody>
      </p:sp>
      <p:sp>
        <p:nvSpPr>
          <p:cNvPr id="37" name="Text 35"/>
          <p:cNvSpPr/>
          <p:nvPr/>
        </p:nvSpPr>
        <p:spPr>
          <a:xfrm>
            <a:off x="8291513" y="3139678"/>
            <a:ext cx="2505075" cy="219075"/>
          </a:xfrm>
          <a:prstGeom prst="rect">
            <a:avLst/>
          </a:prstGeom>
          <a:noFill/>
          <a:ln/>
        </p:spPr>
        <p:txBody>
          <a:bodyPr wrap="square" lIns="0" tIns="0" rIns="0" bIns="0" rtlCol="0" anchor="ctr"/>
          <a:lstStyle/>
          <a:p>
            <a:pPr algn="ctr">
              <a:lnSpc>
                <a:spcPct val="140000"/>
              </a:lnSpc>
            </a:pPr>
            <a:r>
              <a:rPr lang="en-US" sz="1050" dirty="0">
                <a:solidFill>
                  <a:srgbClr val="8D99AE"/>
                </a:solidFill>
                <a:latin typeface="Quattrocento Sans" pitchFamily="34" charset="0"/>
                <a:ea typeface="Quattrocento Sans" pitchFamily="34" charset="-122"/>
                <a:cs typeface="Quattrocento Sans" pitchFamily="34" charset="-120"/>
              </a:rPr>
              <a:t>Knowledge storage and meta-learning</a:t>
            </a:r>
            <a:endParaRPr lang="en-US" sz="1600" dirty="0"/>
          </a:p>
        </p:txBody>
      </p:sp>
      <p:sp>
        <p:nvSpPr>
          <p:cNvPr id="38" name="Shape 36"/>
          <p:cNvSpPr/>
          <p:nvPr/>
        </p:nvSpPr>
        <p:spPr>
          <a:xfrm>
            <a:off x="8324850" y="3508772"/>
            <a:ext cx="2438400" cy="533400"/>
          </a:xfrm>
          <a:custGeom>
            <a:avLst/>
            <a:gdLst/>
            <a:ahLst/>
            <a:cxnLst/>
            <a:rect l="l" t="t" r="r" b="b"/>
            <a:pathLst>
              <a:path w="2438400" h="533400">
                <a:moveTo>
                  <a:pt x="76202" y="0"/>
                </a:moveTo>
                <a:lnTo>
                  <a:pt x="2362198" y="0"/>
                </a:lnTo>
                <a:cubicBezTo>
                  <a:pt x="2404283" y="0"/>
                  <a:pt x="2438400" y="34117"/>
                  <a:pt x="2438400" y="76202"/>
                </a:cubicBezTo>
                <a:lnTo>
                  <a:pt x="2438400" y="457198"/>
                </a:lnTo>
                <a:cubicBezTo>
                  <a:pt x="2438400" y="499283"/>
                  <a:pt x="2404283" y="533400"/>
                  <a:pt x="2362198" y="533400"/>
                </a:cubicBezTo>
                <a:lnTo>
                  <a:pt x="76202" y="533400"/>
                </a:lnTo>
                <a:cubicBezTo>
                  <a:pt x="34117" y="533400"/>
                  <a:pt x="0" y="499283"/>
                  <a:pt x="0" y="457198"/>
                </a:cubicBezTo>
                <a:lnTo>
                  <a:pt x="0" y="76202"/>
                </a:lnTo>
                <a:cubicBezTo>
                  <a:pt x="0" y="34145"/>
                  <a:pt x="34145" y="0"/>
                  <a:pt x="76202" y="0"/>
                </a:cubicBezTo>
                <a:close/>
              </a:path>
            </a:pathLst>
          </a:custGeom>
          <a:solidFill>
            <a:srgbClr val="1A1D24">
              <a:alpha val="60000"/>
            </a:srgbClr>
          </a:solidFill>
          <a:ln/>
        </p:spPr>
        <p:txBody>
          <a:bodyPr/>
          <a:lstStyle/>
          <a:p>
            <a:endParaRPr lang="en-GB"/>
          </a:p>
        </p:txBody>
      </p:sp>
      <p:sp>
        <p:nvSpPr>
          <p:cNvPr id="39" name="Shape 37"/>
          <p:cNvSpPr/>
          <p:nvPr/>
        </p:nvSpPr>
        <p:spPr>
          <a:xfrm>
            <a:off x="8516243" y="3632597"/>
            <a:ext cx="100013" cy="114300"/>
          </a:xfrm>
          <a:custGeom>
            <a:avLst/>
            <a:gdLst/>
            <a:ahLst/>
            <a:cxnLst/>
            <a:rect l="l" t="t" r="r" b="b"/>
            <a:pathLst>
              <a:path w="100013" h="114300">
                <a:moveTo>
                  <a:pt x="100013" y="45943"/>
                </a:moveTo>
                <a:cubicBezTo>
                  <a:pt x="96709" y="48131"/>
                  <a:pt x="92913" y="49895"/>
                  <a:pt x="88962" y="51301"/>
                </a:cubicBezTo>
                <a:cubicBezTo>
                  <a:pt x="78470" y="55052"/>
                  <a:pt x="64696" y="57150"/>
                  <a:pt x="50006" y="57150"/>
                </a:cubicBezTo>
                <a:cubicBezTo>
                  <a:pt x="35317" y="57150"/>
                  <a:pt x="21521" y="55029"/>
                  <a:pt x="11050" y="51301"/>
                </a:cubicBezTo>
                <a:cubicBezTo>
                  <a:pt x="7121" y="49895"/>
                  <a:pt x="3304" y="48131"/>
                  <a:pt x="0" y="45943"/>
                </a:cubicBezTo>
                <a:lnTo>
                  <a:pt x="0" y="64294"/>
                </a:lnTo>
                <a:cubicBezTo>
                  <a:pt x="0" y="74161"/>
                  <a:pt x="22391" y="82153"/>
                  <a:pt x="50006" y="82153"/>
                </a:cubicBezTo>
                <a:cubicBezTo>
                  <a:pt x="77621" y="82153"/>
                  <a:pt x="100013" y="74161"/>
                  <a:pt x="100013" y="64294"/>
                </a:cubicBezTo>
                <a:lnTo>
                  <a:pt x="100013" y="45943"/>
                </a:lnTo>
                <a:close/>
                <a:moveTo>
                  <a:pt x="100013" y="28575"/>
                </a:moveTo>
                <a:lnTo>
                  <a:pt x="100013" y="17859"/>
                </a:lnTo>
                <a:cubicBezTo>
                  <a:pt x="100013" y="7992"/>
                  <a:pt x="77621" y="0"/>
                  <a:pt x="50006" y="0"/>
                </a:cubicBezTo>
                <a:cubicBezTo>
                  <a:pt x="22391" y="0"/>
                  <a:pt x="0" y="7992"/>
                  <a:pt x="0" y="17859"/>
                </a:cubicBezTo>
                <a:lnTo>
                  <a:pt x="0" y="28575"/>
                </a:lnTo>
                <a:cubicBezTo>
                  <a:pt x="0" y="38442"/>
                  <a:pt x="22391" y="46434"/>
                  <a:pt x="50006" y="46434"/>
                </a:cubicBezTo>
                <a:cubicBezTo>
                  <a:pt x="77621" y="46434"/>
                  <a:pt x="100013" y="38442"/>
                  <a:pt x="100013" y="28575"/>
                </a:cubicBezTo>
                <a:close/>
                <a:moveTo>
                  <a:pt x="88962" y="87020"/>
                </a:moveTo>
                <a:cubicBezTo>
                  <a:pt x="78492" y="90748"/>
                  <a:pt x="64718" y="92869"/>
                  <a:pt x="50006" y="92869"/>
                </a:cubicBezTo>
                <a:cubicBezTo>
                  <a:pt x="35295" y="92869"/>
                  <a:pt x="21521" y="90748"/>
                  <a:pt x="11050" y="87020"/>
                </a:cubicBezTo>
                <a:cubicBezTo>
                  <a:pt x="7121" y="85613"/>
                  <a:pt x="3304" y="83850"/>
                  <a:pt x="0" y="81662"/>
                </a:cubicBezTo>
                <a:lnTo>
                  <a:pt x="0" y="96441"/>
                </a:lnTo>
                <a:cubicBezTo>
                  <a:pt x="0" y="106308"/>
                  <a:pt x="22391" y="114300"/>
                  <a:pt x="50006" y="114300"/>
                </a:cubicBezTo>
                <a:cubicBezTo>
                  <a:pt x="77621" y="114300"/>
                  <a:pt x="100013" y="106308"/>
                  <a:pt x="100013" y="96441"/>
                </a:cubicBezTo>
                <a:lnTo>
                  <a:pt x="100013" y="81662"/>
                </a:lnTo>
                <a:cubicBezTo>
                  <a:pt x="96709" y="83850"/>
                  <a:pt x="92913" y="85613"/>
                  <a:pt x="88962" y="87020"/>
                </a:cubicBezTo>
                <a:close/>
              </a:path>
            </a:pathLst>
          </a:custGeom>
          <a:solidFill>
            <a:srgbClr val="C9A86A"/>
          </a:solidFill>
          <a:ln/>
        </p:spPr>
        <p:txBody>
          <a:bodyPr/>
          <a:lstStyle/>
          <a:p>
            <a:endParaRPr lang="en-GB"/>
          </a:p>
        </p:txBody>
      </p:sp>
      <p:sp>
        <p:nvSpPr>
          <p:cNvPr id="40" name="Text 38"/>
          <p:cNvSpPr/>
          <p:nvPr/>
        </p:nvSpPr>
        <p:spPr>
          <a:xfrm>
            <a:off x="8582025" y="3623072"/>
            <a:ext cx="2095500" cy="304800"/>
          </a:xfrm>
          <a:prstGeom prst="rect">
            <a:avLst/>
          </a:prstGeom>
          <a:noFill/>
          <a:ln/>
        </p:spPr>
        <p:txBody>
          <a:bodyPr wrap="square" lIns="0" tIns="0" rIns="0" bIns="0" rtlCol="0" anchor="ctr"/>
          <a:lstStyle/>
          <a:p>
            <a:pPr algn="ctr">
              <a:lnSpc>
                <a:spcPct val="110000"/>
              </a:lnSpc>
            </a:pPr>
            <a:r>
              <a:rPr lang="en-US" sz="900" dirty="0">
                <a:solidFill>
                  <a:srgbClr val="8D99AE"/>
                </a:solidFill>
                <a:latin typeface="Quattrocento Sans" pitchFamily="34" charset="0"/>
                <a:ea typeface="Quattrocento Sans" pitchFamily="34" charset="-122"/>
                <a:cs typeface="Quattrocento Sans" pitchFamily="34" charset="-120"/>
              </a:rPr>
              <a:t>Stores successful strategies and learns patterns for future datasets</a:t>
            </a:r>
            <a:endParaRPr lang="en-US" sz="1600" dirty="0"/>
          </a:p>
        </p:txBody>
      </p:sp>
      <p:sp>
        <p:nvSpPr>
          <p:cNvPr id="41" name="Shape 39"/>
          <p:cNvSpPr/>
          <p:nvPr/>
        </p:nvSpPr>
        <p:spPr>
          <a:xfrm>
            <a:off x="385763" y="4748213"/>
            <a:ext cx="3695700" cy="1000125"/>
          </a:xfrm>
          <a:custGeom>
            <a:avLst/>
            <a:gdLst/>
            <a:ahLst/>
            <a:cxnLst/>
            <a:rect l="l" t="t" r="r" b="b"/>
            <a:pathLst>
              <a:path w="3695700" h="1000125">
                <a:moveTo>
                  <a:pt x="76200" y="0"/>
                </a:moveTo>
                <a:lnTo>
                  <a:pt x="3619500" y="0"/>
                </a:lnTo>
                <a:cubicBezTo>
                  <a:pt x="3661584" y="0"/>
                  <a:pt x="3695700" y="34116"/>
                  <a:pt x="3695700" y="76200"/>
                </a:cubicBezTo>
                <a:lnTo>
                  <a:pt x="3695700" y="923925"/>
                </a:lnTo>
                <a:cubicBezTo>
                  <a:pt x="3695700" y="966009"/>
                  <a:pt x="3661584" y="1000125"/>
                  <a:pt x="3619500" y="1000125"/>
                </a:cubicBezTo>
                <a:lnTo>
                  <a:pt x="76200" y="1000125"/>
                </a:lnTo>
                <a:cubicBezTo>
                  <a:pt x="34116" y="1000125"/>
                  <a:pt x="0" y="966009"/>
                  <a:pt x="0" y="923925"/>
                </a:cubicBezTo>
                <a:lnTo>
                  <a:pt x="0" y="76200"/>
                </a:lnTo>
                <a:cubicBezTo>
                  <a:pt x="0" y="34144"/>
                  <a:pt x="34144" y="0"/>
                  <a:pt x="76200" y="0"/>
                </a:cubicBezTo>
                <a:close/>
              </a:path>
            </a:pathLst>
          </a:custGeom>
          <a:solidFill>
            <a:srgbClr val="4A6C8C">
              <a:alpha val="10196"/>
            </a:srgbClr>
          </a:solidFill>
          <a:ln w="12700">
            <a:solidFill>
              <a:srgbClr val="4A6C8C">
                <a:alpha val="30196"/>
              </a:srgbClr>
            </a:solidFill>
            <a:prstDash val="solid"/>
          </a:ln>
        </p:spPr>
        <p:txBody>
          <a:bodyPr/>
          <a:lstStyle/>
          <a:p>
            <a:endParaRPr lang="en-GB"/>
          </a:p>
        </p:txBody>
      </p:sp>
      <p:sp>
        <p:nvSpPr>
          <p:cNvPr id="42" name="Shape 40"/>
          <p:cNvSpPr/>
          <p:nvPr/>
        </p:nvSpPr>
        <p:spPr>
          <a:xfrm>
            <a:off x="561975" y="4943475"/>
            <a:ext cx="152400" cy="152400"/>
          </a:xfrm>
          <a:custGeom>
            <a:avLst/>
            <a:gdLst/>
            <a:ahLst/>
            <a:cxnLst/>
            <a:rect l="l" t="t" r="r" b="b"/>
            <a:pathLst>
              <a:path w="152400" h="152400">
                <a:moveTo>
                  <a:pt x="123825" y="61912"/>
                </a:moveTo>
                <a:cubicBezTo>
                  <a:pt x="123825" y="75575"/>
                  <a:pt x="119390" y="88196"/>
                  <a:pt x="111919" y="98435"/>
                </a:cubicBezTo>
                <a:lnTo>
                  <a:pt x="149602" y="136148"/>
                </a:lnTo>
                <a:cubicBezTo>
                  <a:pt x="153323" y="139869"/>
                  <a:pt x="153323" y="145911"/>
                  <a:pt x="149602" y="149632"/>
                </a:cubicBezTo>
                <a:cubicBezTo>
                  <a:pt x="145881" y="153353"/>
                  <a:pt x="139839" y="153353"/>
                  <a:pt x="136118" y="149632"/>
                </a:cubicBezTo>
                <a:lnTo>
                  <a:pt x="98435" y="111919"/>
                </a:lnTo>
                <a:cubicBezTo>
                  <a:pt x="88196" y="119390"/>
                  <a:pt x="75575" y="123825"/>
                  <a:pt x="61912" y="123825"/>
                </a:cubicBezTo>
                <a:cubicBezTo>
                  <a:pt x="27712" y="123825"/>
                  <a:pt x="0" y="96113"/>
                  <a:pt x="0" y="61912"/>
                </a:cubicBezTo>
                <a:cubicBezTo>
                  <a:pt x="0" y="27712"/>
                  <a:pt x="27712" y="0"/>
                  <a:pt x="61912" y="0"/>
                </a:cubicBezTo>
                <a:cubicBezTo>
                  <a:pt x="96113" y="0"/>
                  <a:pt x="123825" y="27712"/>
                  <a:pt x="123825" y="61912"/>
                </a:cubicBezTo>
                <a:close/>
                <a:moveTo>
                  <a:pt x="61912" y="104775"/>
                </a:moveTo>
                <a:cubicBezTo>
                  <a:pt x="85569" y="104775"/>
                  <a:pt x="104775" y="85569"/>
                  <a:pt x="104775" y="61912"/>
                </a:cubicBezTo>
                <a:cubicBezTo>
                  <a:pt x="104775" y="38256"/>
                  <a:pt x="85569" y="19050"/>
                  <a:pt x="61912" y="19050"/>
                </a:cubicBezTo>
                <a:cubicBezTo>
                  <a:pt x="38256" y="19050"/>
                  <a:pt x="19050" y="38256"/>
                  <a:pt x="19050" y="61912"/>
                </a:cubicBezTo>
                <a:cubicBezTo>
                  <a:pt x="19050" y="85569"/>
                  <a:pt x="38256" y="104775"/>
                  <a:pt x="61912" y="104775"/>
                </a:cubicBezTo>
                <a:close/>
              </a:path>
            </a:pathLst>
          </a:custGeom>
          <a:solidFill>
            <a:srgbClr val="C9A86A"/>
          </a:solidFill>
          <a:ln/>
        </p:spPr>
        <p:txBody>
          <a:bodyPr/>
          <a:lstStyle/>
          <a:p>
            <a:endParaRPr lang="en-GB"/>
          </a:p>
        </p:txBody>
      </p:sp>
      <p:sp>
        <p:nvSpPr>
          <p:cNvPr id="43" name="Text 41"/>
          <p:cNvSpPr/>
          <p:nvPr/>
        </p:nvSpPr>
        <p:spPr>
          <a:xfrm>
            <a:off x="809625" y="4905375"/>
            <a:ext cx="809625" cy="228600"/>
          </a:xfrm>
          <a:prstGeom prst="rect">
            <a:avLst/>
          </a:prstGeom>
          <a:noFill/>
          <a:ln/>
        </p:spPr>
        <p:txBody>
          <a:bodyPr wrap="square" lIns="0" tIns="0" rIns="0" bIns="0" rtlCol="0" anchor="ctr"/>
          <a:lstStyle/>
          <a:p>
            <a:pPr>
              <a:lnSpc>
                <a:spcPct val="130000"/>
              </a:lnSpc>
            </a:pPr>
            <a:r>
              <a:rPr lang="en-US" sz="1200" b="1" dirty="0">
                <a:solidFill>
                  <a:srgbClr val="EDF2F4"/>
                </a:solidFill>
                <a:latin typeface="Liter" pitchFamily="34" charset="0"/>
                <a:ea typeface="Liter" pitchFamily="34" charset="-122"/>
                <a:cs typeface="Liter" pitchFamily="34" charset="-120"/>
              </a:rPr>
              <a:t>Perception</a:t>
            </a:r>
            <a:endParaRPr lang="en-US" sz="1600" dirty="0"/>
          </a:p>
        </p:txBody>
      </p:sp>
      <p:sp>
        <p:nvSpPr>
          <p:cNvPr id="44" name="Text 42"/>
          <p:cNvSpPr/>
          <p:nvPr/>
        </p:nvSpPr>
        <p:spPr>
          <a:xfrm>
            <a:off x="542925" y="5210175"/>
            <a:ext cx="3448050" cy="381000"/>
          </a:xfrm>
          <a:prstGeom prst="rect">
            <a:avLst/>
          </a:prstGeom>
          <a:noFill/>
          <a:ln/>
        </p:spPr>
        <p:txBody>
          <a:bodyPr wrap="square" lIns="0" tIns="0" rIns="0" bIns="0" rtlCol="0" anchor="ctr"/>
          <a:lstStyle/>
          <a:p>
            <a:pPr>
              <a:lnSpc>
                <a:spcPct val="120000"/>
              </a:lnSpc>
            </a:pPr>
            <a:r>
              <a:rPr lang="en-US" sz="1050" dirty="0">
                <a:solidFill>
                  <a:srgbClr val="8D99AE"/>
                </a:solidFill>
                <a:latin typeface="Quattrocento Sans" pitchFamily="34" charset="0"/>
                <a:ea typeface="Quattrocento Sans" pitchFamily="34" charset="-122"/>
                <a:cs typeface="Quattrocento Sans" pitchFamily="34" charset="-120"/>
              </a:rPr>
              <a:t>Comprehensive dataset profiling including statistical analysis, quality assessment, and feature characterization</a:t>
            </a:r>
            <a:endParaRPr lang="en-US" sz="1600" dirty="0"/>
          </a:p>
        </p:txBody>
      </p:sp>
      <p:sp>
        <p:nvSpPr>
          <p:cNvPr id="45" name="Shape 43"/>
          <p:cNvSpPr/>
          <p:nvPr/>
        </p:nvSpPr>
        <p:spPr>
          <a:xfrm>
            <a:off x="4246513" y="4748213"/>
            <a:ext cx="3695700" cy="1000125"/>
          </a:xfrm>
          <a:custGeom>
            <a:avLst/>
            <a:gdLst/>
            <a:ahLst/>
            <a:cxnLst/>
            <a:rect l="l" t="t" r="r" b="b"/>
            <a:pathLst>
              <a:path w="3695700" h="1000125">
                <a:moveTo>
                  <a:pt x="76200" y="0"/>
                </a:moveTo>
                <a:lnTo>
                  <a:pt x="3619500" y="0"/>
                </a:lnTo>
                <a:cubicBezTo>
                  <a:pt x="3661584" y="0"/>
                  <a:pt x="3695700" y="34116"/>
                  <a:pt x="3695700" y="76200"/>
                </a:cubicBezTo>
                <a:lnTo>
                  <a:pt x="3695700" y="923925"/>
                </a:lnTo>
                <a:cubicBezTo>
                  <a:pt x="3695700" y="966009"/>
                  <a:pt x="3661584" y="1000125"/>
                  <a:pt x="3619500" y="1000125"/>
                </a:cubicBezTo>
                <a:lnTo>
                  <a:pt x="76200" y="1000125"/>
                </a:lnTo>
                <a:cubicBezTo>
                  <a:pt x="34116" y="1000125"/>
                  <a:pt x="0" y="966009"/>
                  <a:pt x="0" y="923925"/>
                </a:cubicBezTo>
                <a:lnTo>
                  <a:pt x="0" y="76200"/>
                </a:lnTo>
                <a:cubicBezTo>
                  <a:pt x="0" y="34144"/>
                  <a:pt x="34144" y="0"/>
                  <a:pt x="76200" y="0"/>
                </a:cubicBezTo>
                <a:close/>
              </a:path>
            </a:pathLst>
          </a:custGeom>
          <a:solidFill>
            <a:srgbClr val="C9A86A">
              <a:alpha val="10196"/>
            </a:srgbClr>
          </a:solidFill>
          <a:ln w="12700">
            <a:solidFill>
              <a:srgbClr val="C9A86A">
                <a:alpha val="30196"/>
              </a:srgbClr>
            </a:solidFill>
            <a:prstDash val="solid"/>
          </a:ln>
        </p:spPr>
        <p:txBody>
          <a:bodyPr/>
          <a:lstStyle/>
          <a:p>
            <a:endParaRPr lang="en-GB"/>
          </a:p>
        </p:txBody>
      </p:sp>
      <p:sp>
        <p:nvSpPr>
          <p:cNvPr id="46" name="Shape 44"/>
          <p:cNvSpPr/>
          <p:nvPr/>
        </p:nvSpPr>
        <p:spPr>
          <a:xfrm>
            <a:off x="4403675" y="4943475"/>
            <a:ext cx="190500" cy="152400"/>
          </a:xfrm>
          <a:custGeom>
            <a:avLst/>
            <a:gdLst/>
            <a:ahLst/>
            <a:cxnLst/>
            <a:rect l="l" t="t" r="r" b="b"/>
            <a:pathLst>
              <a:path w="190500" h="152400">
                <a:moveTo>
                  <a:pt x="114300" y="9525"/>
                </a:moveTo>
                <a:lnTo>
                  <a:pt x="152400" y="9525"/>
                </a:lnTo>
                <a:cubicBezTo>
                  <a:pt x="157669" y="9525"/>
                  <a:pt x="161925" y="13781"/>
                  <a:pt x="161925" y="19050"/>
                </a:cubicBezTo>
                <a:cubicBezTo>
                  <a:pt x="161925" y="24319"/>
                  <a:pt x="157669" y="28575"/>
                  <a:pt x="152400" y="28575"/>
                </a:cubicBezTo>
                <a:lnTo>
                  <a:pt x="118586" y="28575"/>
                </a:lnTo>
                <a:cubicBezTo>
                  <a:pt x="117038" y="36255"/>
                  <a:pt x="111770" y="42595"/>
                  <a:pt x="104775" y="45631"/>
                </a:cubicBezTo>
                <a:lnTo>
                  <a:pt x="104775" y="133350"/>
                </a:lnTo>
                <a:lnTo>
                  <a:pt x="152400" y="133350"/>
                </a:lnTo>
                <a:cubicBezTo>
                  <a:pt x="157669" y="133350"/>
                  <a:pt x="161925" y="137606"/>
                  <a:pt x="161925" y="142875"/>
                </a:cubicBezTo>
                <a:cubicBezTo>
                  <a:pt x="161925" y="148144"/>
                  <a:pt x="157669" y="152400"/>
                  <a:pt x="152400" y="152400"/>
                </a:cubicBezTo>
                <a:lnTo>
                  <a:pt x="38100" y="152400"/>
                </a:lnTo>
                <a:cubicBezTo>
                  <a:pt x="32831" y="152400"/>
                  <a:pt x="28575" y="148144"/>
                  <a:pt x="28575" y="142875"/>
                </a:cubicBezTo>
                <a:cubicBezTo>
                  <a:pt x="28575" y="137606"/>
                  <a:pt x="32831" y="133350"/>
                  <a:pt x="38100" y="133350"/>
                </a:cubicBezTo>
                <a:lnTo>
                  <a:pt x="85725" y="133350"/>
                </a:lnTo>
                <a:lnTo>
                  <a:pt x="85725" y="45631"/>
                </a:lnTo>
                <a:cubicBezTo>
                  <a:pt x="78730" y="42565"/>
                  <a:pt x="73462" y="36225"/>
                  <a:pt x="71914" y="28575"/>
                </a:cubicBezTo>
                <a:lnTo>
                  <a:pt x="38100" y="28575"/>
                </a:lnTo>
                <a:cubicBezTo>
                  <a:pt x="32831" y="28575"/>
                  <a:pt x="28575" y="24319"/>
                  <a:pt x="28575" y="19050"/>
                </a:cubicBezTo>
                <a:cubicBezTo>
                  <a:pt x="28575" y="13781"/>
                  <a:pt x="32831" y="9525"/>
                  <a:pt x="38100" y="9525"/>
                </a:cubicBezTo>
                <a:lnTo>
                  <a:pt x="76200" y="9525"/>
                </a:lnTo>
                <a:cubicBezTo>
                  <a:pt x="80546" y="3750"/>
                  <a:pt x="87451" y="0"/>
                  <a:pt x="95250" y="0"/>
                </a:cubicBezTo>
                <a:cubicBezTo>
                  <a:pt x="103049" y="0"/>
                  <a:pt x="109954" y="3750"/>
                  <a:pt x="114300" y="9525"/>
                </a:cubicBezTo>
                <a:close/>
                <a:moveTo>
                  <a:pt x="130850" y="95250"/>
                </a:moveTo>
                <a:lnTo>
                  <a:pt x="173950" y="95250"/>
                </a:lnTo>
                <a:lnTo>
                  <a:pt x="152400" y="58281"/>
                </a:lnTo>
                <a:lnTo>
                  <a:pt x="130850" y="95250"/>
                </a:lnTo>
                <a:close/>
                <a:moveTo>
                  <a:pt x="152400" y="123825"/>
                </a:moveTo>
                <a:cubicBezTo>
                  <a:pt x="133677" y="123825"/>
                  <a:pt x="118110" y="113705"/>
                  <a:pt x="114895" y="100340"/>
                </a:cubicBezTo>
                <a:cubicBezTo>
                  <a:pt x="114121" y="97066"/>
                  <a:pt x="115193" y="93702"/>
                  <a:pt x="116890" y="90785"/>
                </a:cubicBezTo>
                <a:lnTo>
                  <a:pt x="145226" y="42208"/>
                </a:lnTo>
                <a:cubicBezTo>
                  <a:pt x="146715" y="39648"/>
                  <a:pt x="149453" y="38100"/>
                  <a:pt x="152400" y="38100"/>
                </a:cubicBezTo>
                <a:cubicBezTo>
                  <a:pt x="155347" y="38100"/>
                  <a:pt x="158085" y="39678"/>
                  <a:pt x="159574" y="42208"/>
                </a:cubicBezTo>
                <a:lnTo>
                  <a:pt x="187910" y="90785"/>
                </a:lnTo>
                <a:cubicBezTo>
                  <a:pt x="189607" y="93702"/>
                  <a:pt x="190679" y="97066"/>
                  <a:pt x="189905" y="100340"/>
                </a:cubicBezTo>
                <a:cubicBezTo>
                  <a:pt x="186690" y="113675"/>
                  <a:pt x="171123" y="123825"/>
                  <a:pt x="152400" y="123825"/>
                </a:cubicBezTo>
                <a:close/>
                <a:moveTo>
                  <a:pt x="37743" y="58281"/>
                </a:moveTo>
                <a:lnTo>
                  <a:pt x="16193" y="95250"/>
                </a:lnTo>
                <a:lnTo>
                  <a:pt x="59323" y="95250"/>
                </a:lnTo>
                <a:lnTo>
                  <a:pt x="37743" y="58281"/>
                </a:lnTo>
                <a:close/>
                <a:moveTo>
                  <a:pt x="268" y="100340"/>
                </a:moveTo>
                <a:cubicBezTo>
                  <a:pt x="-506" y="97066"/>
                  <a:pt x="566" y="93702"/>
                  <a:pt x="2262" y="90785"/>
                </a:cubicBezTo>
                <a:lnTo>
                  <a:pt x="30599" y="42208"/>
                </a:lnTo>
                <a:cubicBezTo>
                  <a:pt x="32087" y="39648"/>
                  <a:pt x="34826" y="38100"/>
                  <a:pt x="37773" y="38100"/>
                </a:cubicBezTo>
                <a:cubicBezTo>
                  <a:pt x="40719" y="38100"/>
                  <a:pt x="43458" y="39678"/>
                  <a:pt x="44946" y="42208"/>
                </a:cubicBezTo>
                <a:lnTo>
                  <a:pt x="73283" y="90785"/>
                </a:lnTo>
                <a:cubicBezTo>
                  <a:pt x="74980" y="93702"/>
                  <a:pt x="76051" y="97066"/>
                  <a:pt x="75277" y="100340"/>
                </a:cubicBezTo>
                <a:cubicBezTo>
                  <a:pt x="72063" y="113675"/>
                  <a:pt x="56495" y="123825"/>
                  <a:pt x="37773" y="123825"/>
                </a:cubicBezTo>
                <a:cubicBezTo>
                  <a:pt x="19050" y="123825"/>
                  <a:pt x="3483" y="113705"/>
                  <a:pt x="268" y="100340"/>
                </a:cubicBezTo>
                <a:close/>
              </a:path>
            </a:pathLst>
          </a:custGeom>
          <a:solidFill>
            <a:srgbClr val="C9A86A"/>
          </a:solidFill>
          <a:ln/>
        </p:spPr>
        <p:txBody>
          <a:bodyPr/>
          <a:lstStyle/>
          <a:p>
            <a:endParaRPr lang="en-GB"/>
          </a:p>
        </p:txBody>
      </p:sp>
      <p:sp>
        <p:nvSpPr>
          <p:cNvPr id="47" name="Text 45"/>
          <p:cNvSpPr/>
          <p:nvPr/>
        </p:nvSpPr>
        <p:spPr>
          <a:xfrm>
            <a:off x="4670375" y="4905375"/>
            <a:ext cx="895350" cy="228600"/>
          </a:xfrm>
          <a:prstGeom prst="rect">
            <a:avLst/>
          </a:prstGeom>
          <a:noFill/>
          <a:ln/>
        </p:spPr>
        <p:txBody>
          <a:bodyPr wrap="square" lIns="0" tIns="0" rIns="0" bIns="0" rtlCol="0" anchor="ctr"/>
          <a:lstStyle/>
          <a:p>
            <a:pPr>
              <a:lnSpc>
                <a:spcPct val="130000"/>
              </a:lnSpc>
            </a:pPr>
            <a:r>
              <a:rPr lang="en-US" sz="1200" b="1" dirty="0">
                <a:solidFill>
                  <a:srgbClr val="EDF2F4"/>
                </a:solidFill>
                <a:latin typeface="Liter" pitchFamily="34" charset="0"/>
                <a:ea typeface="Liter" pitchFamily="34" charset="-122"/>
                <a:cs typeface="Liter" pitchFamily="34" charset="-120"/>
              </a:rPr>
              <a:t>Deliberation</a:t>
            </a:r>
            <a:endParaRPr lang="en-US" sz="1600" dirty="0"/>
          </a:p>
        </p:txBody>
      </p:sp>
      <p:sp>
        <p:nvSpPr>
          <p:cNvPr id="48" name="Text 46"/>
          <p:cNvSpPr/>
          <p:nvPr/>
        </p:nvSpPr>
        <p:spPr>
          <a:xfrm>
            <a:off x="4403675" y="5210175"/>
            <a:ext cx="3448050" cy="381000"/>
          </a:xfrm>
          <a:prstGeom prst="rect">
            <a:avLst/>
          </a:prstGeom>
          <a:noFill/>
          <a:ln/>
        </p:spPr>
        <p:txBody>
          <a:bodyPr wrap="square" lIns="0" tIns="0" rIns="0" bIns="0" rtlCol="0" anchor="ctr"/>
          <a:lstStyle/>
          <a:p>
            <a:pPr>
              <a:lnSpc>
                <a:spcPct val="120000"/>
              </a:lnSpc>
            </a:pPr>
            <a:r>
              <a:rPr lang="en-US" sz="1050" dirty="0">
                <a:solidFill>
                  <a:srgbClr val="8D99AE"/>
                </a:solidFill>
                <a:latin typeface="Quattrocento Sans" pitchFamily="34" charset="0"/>
                <a:ea typeface="Quattrocento Sans" pitchFamily="34" charset="-122"/>
                <a:cs typeface="Quattrocento Sans" pitchFamily="34" charset="-120"/>
              </a:rPr>
              <a:t>Systematic testing and comparison of multiple preprocessing pipelines with performance benchmarking</a:t>
            </a:r>
            <a:endParaRPr lang="en-US" sz="1600" dirty="0"/>
          </a:p>
        </p:txBody>
      </p:sp>
      <p:sp>
        <p:nvSpPr>
          <p:cNvPr id="49" name="Shape 47"/>
          <p:cNvSpPr/>
          <p:nvPr/>
        </p:nvSpPr>
        <p:spPr>
          <a:xfrm>
            <a:off x="8107263" y="4748213"/>
            <a:ext cx="3695700" cy="1000125"/>
          </a:xfrm>
          <a:custGeom>
            <a:avLst/>
            <a:gdLst/>
            <a:ahLst/>
            <a:cxnLst/>
            <a:rect l="l" t="t" r="r" b="b"/>
            <a:pathLst>
              <a:path w="3695700" h="1000125">
                <a:moveTo>
                  <a:pt x="76200" y="0"/>
                </a:moveTo>
                <a:lnTo>
                  <a:pt x="3619500" y="0"/>
                </a:lnTo>
                <a:cubicBezTo>
                  <a:pt x="3661584" y="0"/>
                  <a:pt x="3695700" y="34116"/>
                  <a:pt x="3695700" y="76200"/>
                </a:cubicBezTo>
                <a:lnTo>
                  <a:pt x="3695700" y="923925"/>
                </a:lnTo>
                <a:cubicBezTo>
                  <a:pt x="3695700" y="966009"/>
                  <a:pt x="3661584" y="1000125"/>
                  <a:pt x="3619500" y="1000125"/>
                </a:cubicBezTo>
                <a:lnTo>
                  <a:pt x="76200" y="1000125"/>
                </a:lnTo>
                <a:cubicBezTo>
                  <a:pt x="34116" y="1000125"/>
                  <a:pt x="0" y="966009"/>
                  <a:pt x="0" y="923925"/>
                </a:cubicBezTo>
                <a:lnTo>
                  <a:pt x="0" y="76200"/>
                </a:lnTo>
                <a:cubicBezTo>
                  <a:pt x="0" y="34144"/>
                  <a:pt x="34144" y="0"/>
                  <a:pt x="76200" y="0"/>
                </a:cubicBezTo>
                <a:close/>
              </a:path>
            </a:pathLst>
          </a:custGeom>
          <a:solidFill>
            <a:srgbClr val="4A6C8C">
              <a:alpha val="10196"/>
            </a:srgbClr>
          </a:solidFill>
          <a:ln w="12700">
            <a:solidFill>
              <a:srgbClr val="4A6C8C">
                <a:alpha val="30196"/>
              </a:srgbClr>
            </a:solidFill>
            <a:prstDash val="solid"/>
          </a:ln>
        </p:spPr>
        <p:txBody>
          <a:bodyPr/>
          <a:lstStyle/>
          <a:p>
            <a:endParaRPr lang="en-GB"/>
          </a:p>
        </p:txBody>
      </p:sp>
      <p:sp>
        <p:nvSpPr>
          <p:cNvPr id="50" name="Shape 48"/>
          <p:cNvSpPr/>
          <p:nvPr/>
        </p:nvSpPr>
        <p:spPr>
          <a:xfrm>
            <a:off x="8293001" y="4943475"/>
            <a:ext cx="133350" cy="152400"/>
          </a:xfrm>
          <a:custGeom>
            <a:avLst/>
            <a:gdLst/>
            <a:ahLst/>
            <a:cxnLst/>
            <a:rect l="l" t="t" r="r" b="b"/>
            <a:pathLst>
              <a:path w="133350" h="152400">
                <a:moveTo>
                  <a:pt x="114300" y="152400"/>
                </a:moveTo>
                <a:lnTo>
                  <a:pt x="28575" y="152400"/>
                </a:lnTo>
                <a:cubicBezTo>
                  <a:pt x="12799" y="152400"/>
                  <a:pt x="0" y="139601"/>
                  <a:pt x="0" y="123825"/>
                </a:cubicBezTo>
                <a:lnTo>
                  <a:pt x="0" y="28575"/>
                </a:lnTo>
                <a:cubicBezTo>
                  <a:pt x="0" y="12799"/>
                  <a:pt x="12799" y="0"/>
                  <a:pt x="28575" y="0"/>
                </a:cubicBezTo>
                <a:lnTo>
                  <a:pt x="119062" y="0"/>
                </a:lnTo>
                <a:cubicBezTo>
                  <a:pt x="126950" y="0"/>
                  <a:pt x="133350" y="6400"/>
                  <a:pt x="133350" y="14288"/>
                </a:cubicBezTo>
                <a:lnTo>
                  <a:pt x="133350" y="100013"/>
                </a:lnTo>
                <a:cubicBezTo>
                  <a:pt x="133350" y="106234"/>
                  <a:pt x="129361" y="111532"/>
                  <a:pt x="123825" y="113496"/>
                </a:cubicBezTo>
                <a:lnTo>
                  <a:pt x="123825" y="133350"/>
                </a:lnTo>
                <a:cubicBezTo>
                  <a:pt x="129094" y="133350"/>
                  <a:pt x="133350" y="137606"/>
                  <a:pt x="133350" y="142875"/>
                </a:cubicBezTo>
                <a:cubicBezTo>
                  <a:pt x="133350" y="148144"/>
                  <a:pt x="129094" y="152400"/>
                  <a:pt x="123825" y="152400"/>
                </a:cubicBezTo>
                <a:lnTo>
                  <a:pt x="114300" y="152400"/>
                </a:lnTo>
                <a:close/>
                <a:moveTo>
                  <a:pt x="28575" y="114300"/>
                </a:moveTo>
                <a:cubicBezTo>
                  <a:pt x="23306" y="114300"/>
                  <a:pt x="19050" y="118556"/>
                  <a:pt x="19050" y="123825"/>
                </a:cubicBezTo>
                <a:cubicBezTo>
                  <a:pt x="19050" y="129094"/>
                  <a:pt x="23306" y="133350"/>
                  <a:pt x="28575" y="133350"/>
                </a:cubicBezTo>
                <a:lnTo>
                  <a:pt x="104775" y="133350"/>
                </a:lnTo>
                <a:lnTo>
                  <a:pt x="104775" y="114300"/>
                </a:lnTo>
                <a:lnTo>
                  <a:pt x="28575" y="114300"/>
                </a:lnTo>
                <a:close/>
                <a:moveTo>
                  <a:pt x="38100" y="45244"/>
                </a:moveTo>
                <a:cubicBezTo>
                  <a:pt x="38100" y="49203"/>
                  <a:pt x="41285" y="52388"/>
                  <a:pt x="45244" y="52388"/>
                </a:cubicBezTo>
                <a:lnTo>
                  <a:pt x="97631" y="52388"/>
                </a:lnTo>
                <a:cubicBezTo>
                  <a:pt x="101590" y="52388"/>
                  <a:pt x="104775" y="49203"/>
                  <a:pt x="104775" y="45244"/>
                </a:cubicBezTo>
                <a:cubicBezTo>
                  <a:pt x="104775" y="41285"/>
                  <a:pt x="101590" y="38100"/>
                  <a:pt x="97631" y="38100"/>
                </a:cubicBezTo>
                <a:lnTo>
                  <a:pt x="45244" y="38100"/>
                </a:lnTo>
                <a:cubicBezTo>
                  <a:pt x="41285" y="38100"/>
                  <a:pt x="38100" y="41285"/>
                  <a:pt x="38100" y="45244"/>
                </a:cubicBezTo>
                <a:close/>
                <a:moveTo>
                  <a:pt x="45244" y="66675"/>
                </a:moveTo>
                <a:cubicBezTo>
                  <a:pt x="41285" y="66675"/>
                  <a:pt x="38100" y="69860"/>
                  <a:pt x="38100" y="73819"/>
                </a:cubicBezTo>
                <a:cubicBezTo>
                  <a:pt x="38100" y="77778"/>
                  <a:pt x="41285" y="80962"/>
                  <a:pt x="45244" y="80962"/>
                </a:cubicBezTo>
                <a:lnTo>
                  <a:pt x="97631" y="80962"/>
                </a:lnTo>
                <a:cubicBezTo>
                  <a:pt x="101590" y="80962"/>
                  <a:pt x="104775" y="77778"/>
                  <a:pt x="104775" y="73819"/>
                </a:cubicBezTo>
                <a:cubicBezTo>
                  <a:pt x="104775" y="69860"/>
                  <a:pt x="101590" y="66675"/>
                  <a:pt x="97631" y="66675"/>
                </a:cubicBezTo>
                <a:lnTo>
                  <a:pt x="45244" y="66675"/>
                </a:lnTo>
                <a:close/>
              </a:path>
            </a:pathLst>
          </a:custGeom>
          <a:solidFill>
            <a:srgbClr val="C9A86A"/>
          </a:solidFill>
          <a:ln/>
        </p:spPr>
        <p:txBody>
          <a:bodyPr/>
          <a:lstStyle/>
          <a:p>
            <a:endParaRPr lang="en-GB"/>
          </a:p>
        </p:txBody>
      </p:sp>
      <p:sp>
        <p:nvSpPr>
          <p:cNvPr id="51" name="Text 49"/>
          <p:cNvSpPr/>
          <p:nvPr/>
        </p:nvSpPr>
        <p:spPr>
          <a:xfrm>
            <a:off x="8531126" y="4905375"/>
            <a:ext cx="666750" cy="228600"/>
          </a:xfrm>
          <a:prstGeom prst="rect">
            <a:avLst/>
          </a:prstGeom>
          <a:noFill/>
          <a:ln/>
        </p:spPr>
        <p:txBody>
          <a:bodyPr wrap="square" lIns="0" tIns="0" rIns="0" bIns="0" rtlCol="0" anchor="ctr"/>
          <a:lstStyle/>
          <a:p>
            <a:pPr>
              <a:lnSpc>
                <a:spcPct val="130000"/>
              </a:lnSpc>
            </a:pPr>
            <a:r>
              <a:rPr lang="en-US" sz="1200" b="1" dirty="0">
                <a:solidFill>
                  <a:srgbClr val="EDF2F4"/>
                </a:solidFill>
                <a:latin typeface="Liter" pitchFamily="34" charset="0"/>
                <a:ea typeface="Liter" pitchFamily="34" charset="-122"/>
                <a:cs typeface="Liter" pitchFamily="34" charset="-120"/>
              </a:rPr>
              <a:t>Learning</a:t>
            </a:r>
            <a:endParaRPr lang="en-US" sz="1600" dirty="0"/>
          </a:p>
        </p:txBody>
      </p:sp>
      <p:sp>
        <p:nvSpPr>
          <p:cNvPr id="52" name="Text 50"/>
          <p:cNvSpPr/>
          <p:nvPr/>
        </p:nvSpPr>
        <p:spPr>
          <a:xfrm>
            <a:off x="8264426" y="5210175"/>
            <a:ext cx="3448050" cy="381000"/>
          </a:xfrm>
          <a:prstGeom prst="rect">
            <a:avLst/>
          </a:prstGeom>
          <a:noFill/>
          <a:ln/>
        </p:spPr>
        <p:txBody>
          <a:bodyPr wrap="square" lIns="0" tIns="0" rIns="0" bIns="0" rtlCol="0" anchor="ctr"/>
          <a:lstStyle/>
          <a:p>
            <a:pPr>
              <a:lnSpc>
                <a:spcPct val="120000"/>
              </a:lnSpc>
            </a:pPr>
            <a:r>
              <a:rPr lang="en-US" sz="1050" dirty="0">
                <a:solidFill>
                  <a:srgbClr val="8D99AE"/>
                </a:solidFill>
                <a:latin typeface="Quattrocento Sans" pitchFamily="34" charset="0"/>
                <a:ea typeface="Quattrocento Sans" pitchFamily="34" charset="-122"/>
                <a:cs typeface="Quattrocento Sans" pitchFamily="34" charset="-120"/>
              </a:rPr>
              <a:t>Accumulates knowledge from past experiences and applies meta-learning for continuous improvement</a:t>
            </a:r>
            <a:endParaRPr lang="en-US" sz="1600" dirty="0"/>
          </a:p>
        </p:txBody>
      </p:sp>
      <p:sp>
        <p:nvSpPr>
          <p:cNvPr id="53" name="Shape 51"/>
          <p:cNvSpPr/>
          <p:nvPr/>
        </p:nvSpPr>
        <p:spPr>
          <a:xfrm>
            <a:off x="400050" y="5905500"/>
            <a:ext cx="11410950" cy="571500"/>
          </a:xfrm>
          <a:custGeom>
            <a:avLst/>
            <a:gdLst/>
            <a:ahLst/>
            <a:cxnLst/>
            <a:rect l="l" t="t" r="r" b="b"/>
            <a:pathLst>
              <a:path w="11410950" h="571500">
                <a:moveTo>
                  <a:pt x="38100" y="0"/>
                </a:moveTo>
                <a:lnTo>
                  <a:pt x="11334752" y="0"/>
                </a:lnTo>
                <a:cubicBezTo>
                  <a:pt x="11376835" y="0"/>
                  <a:pt x="11410950" y="34115"/>
                  <a:pt x="11410950" y="76198"/>
                </a:cubicBezTo>
                <a:lnTo>
                  <a:pt x="11410950" y="495302"/>
                </a:lnTo>
                <a:cubicBezTo>
                  <a:pt x="11410950" y="537385"/>
                  <a:pt x="11376835" y="571500"/>
                  <a:pt x="11334752" y="571500"/>
                </a:cubicBezTo>
                <a:lnTo>
                  <a:pt x="38100" y="571500"/>
                </a:lnTo>
                <a:cubicBezTo>
                  <a:pt x="17072" y="571500"/>
                  <a:pt x="0" y="554428"/>
                  <a:pt x="0" y="533400"/>
                </a:cubicBezTo>
                <a:lnTo>
                  <a:pt x="0" y="38100"/>
                </a:lnTo>
                <a:cubicBezTo>
                  <a:pt x="0" y="17072"/>
                  <a:pt x="17072" y="0"/>
                  <a:pt x="38100" y="0"/>
                </a:cubicBezTo>
                <a:close/>
              </a:path>
            </a:pathLst>
          </a:custGeom>
          <a:gradFill flip="none" rotWithShape="1">
            <a:gsLst>
              <a:gs pos="0">
                <a:srgbClr val="C9A86A">
                  <a:alpha val="30000"/>
                </a:srgbClr>
              </a:gs>
              <a:gs pos="100000">
                <a:srgbClr val="000000">
                  <a:alpha val="0"/>
                </a:srgbClr>
              </a:gs>
            </a:gsLst>
            <a:lin ang="0" scaled="1"/>
          </a:gradFill>
          <a:ln/>
        </p:spPr>
        <p:txBody>
          <a:bodyPr/>
          <a:lstStyle/>
          <a:p>
            <a:endParaRPr lang="en-GB"/>
          </a:p>
        </p:txBody>
      </p:sp>
      <p:sp>
        <p:nvSpPr>
          <p:cNvPr id="54" name="Shape 52"/>
          <p:cNvSpPr/>
          <p:nvPr/>
        </p:nvSpPr>
        <p:spPr>
          <a:xfrm>
            <a:off x="400050" y="5905500"/>
            <a:ext cx="38100" cy="571500"/>
          </a:xfrm>
          <a:custGeom>
            <a:avLst/>
            <a:gdLst/>
            <a:ahLst/>
            <a:cxnLst/>
            <a:rect l="l" t="t" r="r" b="b"/>
            <a:pathLst>
              <a:path w="38100" h="571500">
                <a:moveTo>
                  <a:pt x="38100" y="0"/>
                </a:moveTo>
                <a:lnTo>
                  <a:pt x="38100" y="0"/>
                </a:lnTo>
                <a:lnTo>
                  <a:pt x="38100" y="571500"/>
                </a:lnTo>
                <a:lnTo>
                  <a:pt x="38100" y="571500"/>
                </a:lnTo>
                <a:cubicBezTo>
                  <a:pt x="17072" y="571500"/>
                  <a:pt x="0" y="554428"/>
                  <a:pt x="0" y="533400"/>
                </a:cubicBezTo>
                <a:lnTo>
                  <a:pt x="0" y="38100"/>
                </a:lnTo>
                <a:cubicBezTo>
                  <a:pt x="0" y="17072"/>
                  <a:pt x="17072" y="0"/>
                  <a:pt x="38100" y="0"/>
                </a:cubicBezTo>
                <a:close/>
              </a:path>
            </a:pathLst>
          </a:custGeom>
          <a:solidFill>
            <a:srgbClr val="C9A86A"/>
          </a:solidFill>
          <a:ln/>
        </p:spPr>
        <p:txBody>
          <a:bodyPr/>
          <a:lstStyle/>
          <a:p>
            <a:endParaRPr lang="en-GB"/>
          </a:p>
        </p:txBody>
      </p:sp>
      <p:sp>
        <p:nvSpPr>
          <p:cNvPr id="55" name="Shape 53"/>
          <p:cNvSpPr/>
          <p:nvPr/>
        </p:nvSpPr>
        <p:spPr>
          <a:xfrm>
            <a:off x="595313" y="6096000"/>
            <a:ext cx="190500" cy="190500"/>
          </a:xfrm>
          <a:custGeom>
            <a:avLst/>
            <a:gdLst/>
            <a:ahLst/>
            <a:cxnLst/>
            <a:rect l="l" t="t" r="r" b="b"/>
            <a:pathLst>
              <a:path w="190500" h="190500">
                <a:moveTo>
                  <a:pt x="86506" y="1935"/>
                </a:moveTo>
                <a:cubicBezTo>
                  <a:pt x="92050" y="-633"/>
                  <a:pt x="98450" y="-633"/>
                  <a:pt x="103994" y="1935"/>
                </a:cubicBezTo>
                <a:lnTo>
                  <a:pt x="185328" y="39514"/>
                </a:lnTo>
                <a:cubicBezTo>
                  <a:pt x="188491" y="40965"/>
                  <a:pt x="190500" y="44128"/>
                  <a:pt x="190500" y="47625"/>
                </a:cubicBezTo>
                <a:cubicBezTo>
                  <a:pt x="190500" y="51122"/>
                  <a:pt x="188491" y="54285"/>
                  <a:pt x="185328" y="55736"/>
                </a:cubicBezTo>
                <a:lnTo>
                  <a:pt x="103994" y="93315"/>
                </a:lnTo>
                <a:cubicBezTo>
                  <a:pt x="98450" y="95883"/>
                  <a:pt x="92050" y="95883"/>
                  <a:pt x="86506" y="93315"/>
                </a:cubicBezTo>
                <a:lnTo>
                  <a:pt x="5172" y="55736"/>
                </a:lnTo>
                <a:cubicBezTo>
                  <a:pt x="2009" y="54248"/>
                  <a:pt x="0" y="51085"/>
                  <a:pt x="0" y="47625"/>
                </a:cubicBezTo>
                <a:cubicBezTo>
                  <a:pt x="0" y="44165"/>
                  <a:pt x="2009" y="40965"/>
                  <a:pt x="5172" y="39514"/>
                </a:cubicBezTo>
                <a:lnTo>
                  <a:pt x="86506" y="1935"/>
                </a:lnTo>
                <a:close/>
                <a:moveTo>
                  <a:pt x="17897" y="81260"/>
                </a:moveTo>
                <a:lnTo>
                  <a:pt x="79028" y="109500"/>
                </a:lnTo>
                <a:cubicBezTo>
                  <a:pt x="89334" y="114263"/>
                  <a:pt x="101203" y="114263"/>
                  <a:pt x="111509" y="109500"/>
                </a:cubicBezTo>
                <a:lnTo>
                  <a:pt x="172641" y="81260"/>
                </a:lnTo>
                <a:lnTo>
                  <a:pt x="185328" y="87139"/>
                </a:lnTo>
                <a:cubicBezTo>
                  <a:pt x="188491" y="88590"/>
                  <a:pt x="190500" y="91753"/>
                  <a:pt x="190500" y="95250"/>
                </a:cubicBezTo>
                <a:cubicBezTo>
                  <a:pt x="190500" y="98747"/>
                  <a:pt x="188491" y="101910"/>
                  <a:pt x="185328" y="103361"/>
                </a:cubicBezTo>
                <a:lnTo>
                  <a:pt x="103994" y="140940"/>
                </a:lnTo>
                <a:cubicBezTo>
                  <a:pt x="98450" y="143508"/>
                  <a:pt x="92050" y="143508"/>
                  <a:pt x="86506" y="140940"/>
                </a:cubicBezTo>
                <a:lnTo>
                  <a:pt x="5172" y="103361"/>
                </a:lnTo>
                <a:cubicBezTo>
                  <a:pt x="2009" y="101873"/>
                  <a:pt x="0" y="98710"/>
                  <a:pt x="0" y="95250"/>
                </a:cubicBezTo>
                <a:cubicBezTo>
                  <a:pt x="0" y="91790"/>
                  <a:pt x="2009" y="88590"/>
                  <a:pt x="5172" y="87139"/>
                </a:cubicBezTo>
                <a:lnTo>
                  <a:pt x="17859" y="81260"/>
                </a:lnTo>
                <a:close/>
                <a:moveTo>
                  <a:pt x="5172" y="134764"/>
                </a:moveTo>
                <a:lnTo>
                  <a:pt x="17859" y="128885"/>
                </a:lnTo>
                <a:lnTo>
                  <a:pt x="78991" y="157125"/>
                </a:lnTo>
                <a:cubicBezTo>
                  <a:pt x="89297" y="161888"/>
                  <a:pt x="101166" y="161888"/>
                  <a:pt x="111472" y="157125"/>
                </a:cubicBezTo>
                <a:lnTo>
                  <a:pt x="172603" y="128885"/>
                </a:lnTo>
                <a:lnTo>
                  <a:pt x="185291" y="134764"/>
                </a:lnTo>
                <a:cubicBezTo>
                  <a:pt x="188454" y="136215"/>
                  <a:pt x="190463" y="139378"/>
                  <a:pt x="190463" y="142875"/>
                </a:cubicBezTo>
                <a:cubicBezTo>
                  <a:pt x="190463" y="146372"/>
                  <a:pt x="188454" y="149535"/>
                  <a:pt x="185291" y="150986"/>
                </a:cubicBezTo>
                <a:lnTo>
                  <a:pt x="103956" y="188565"/>
                </a:lnTo>
                <a:cubicBezTo>
                  <a:pt x="98413" y="191133"/>
                  <a:pt x="92013" y="191133"/>
                  <a:pt x="86469" y="188565"/>
                </a:cubicBezTo>
                <a:lnTo>
                  <a:pt x="5172" y="150986"/>
                </a:lnTo>
                <a:cubicBezTo>
                  <a:pt x="2009" y="149498"/>
                  <a:pt x="0" y="146335"/>
                  <a:pt x="0" y="142875"/>
                </a:cubicBezTo>
                <a:cubicBezTo>
                  <a:pt x="0" y="139415"/>
                  <a:pt x="2009" y="136215"/>
                  <a:pt x="5172" y="134764"/>
                </a:cubicBezTo>
                <a:close/>
              </a:path>
            </a:pathLst>
          </a:custGeom>
          <a:solidFill>
            <a:srgbClr val="C9A86A"/>
          </a:solidFill>
          <a:ln/>
        </p:spPr>
        <p:txBody>
          <a:bodyPr/>
          <a:lstStyle/>
          <a:p>
            <a:endParaRPr lang="en-GB"/>
          </a:p>
        </p:txBody>
      </p:sp>
      <p:sp>
        <p:nvSpPr>
          <p:cNvPr id="56" name="Text 54"/>
          <p:cNvSpPr/>
          <p:nvPr/>
        </p:nvSpPr>
        <p:spPr>
          <a:xfrm>
            <a:off x="809625" y="6057900"/>
            <a:ext cx="10934700" cy="266700"/>
          </a:xfrm>
          <a:prstGeom prst="rect">
            <a:avLst/>
          </a:prstGeom>
          <a:noFill/>
          <a:ln/>
        </p:spPr>
        <p:txBody>
          <a:bodyPr wrap="square" lIns="0" tIns="0" rIns="0" bIns="0" rtlCol="0" anchor="ctr"/>
          <a:lstStyle/>
          <a:p>
            <a:pPr>
              <a:lnSpc>
                <a:spcPct val="130000"/>
              </a:lnSpc>
            </a:pPr>
            <a:r>
              <a:rPr lang="en-US" sz="1350" b="1" dirty="0">
                <a:solidFill>
                  <a:srgbClr val="EDF2F4"/>
                </a:solidFill>
                <a:latin typeface="Quattrocento Sans" pitchFamily="34" charset="0"/>
                <a:ea typeface="Quattrocento Sans" pitchFamily="34" charset="-122"/>
                <a:cs typeface="Quattrocento Sans" pitchFamily="34" charset="-120"/>
              </a:rPr>
              <a:t>Hybrid layered architecture combining deliberation and learning for intelligent decision-making</a:t>
            </a:r>
            <a:endParaRPr lang="en-US" sz="1600" dirty="0"/>
          </a:p>
        </p:txBody>
      </p:sp>
    </p:spTree>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A1D24"/>
        </a:solidFill>
        <a:effectLst/>
      </p:bgPr>
    </p:bg>
    <p:spTree>
      <p:nvGrpSpPr>
        <p:cNvPr id="1" name=""/>
        <p:cNvGrpSpPr/>
        <p:nvPr/>
      </p:nvGrpSpPr>
      <p:grpSpPr>
        <a:xfrm>
          <a:off x="0" y="0"/>
          <a:ext cx="0" cy="0"/>
          <a:chOff x="0" y="0"/>
          <a:chExt cx="0" cy="0"/>
        </a:xfrm>
      </p:grpSpPr>
      <p:sp>
        <p:nvSpPr>
          <p:cNvPr id="2" name="Text 0"/>
          <p:cNvSpPr/>
          <p:nvPr/>
        </p:nvSpPr>
        <p:spPr>
          <a:xfrm>
            <a:off x="351354" y="171010"/>
            <a:ext cx="11559562" cy="210813"/>
          </a:xfrm>
          <a:prstGeom prst="rect">
            <a:avLst/>
          </a:prstGeom>
          <a:noFill/>
          <a:ln/>
        </p:spPr>
        <p:txBody>
          <a:bodyPr wrap="square" lIns="0" tIns="0" rIns="0" bIns="0" rtlCol="0" anchor="ctr"/>
          <a:lstStyle/>
          <a:p>
            <a:pPr>
              <a:lnSpc>
                <a:spcPct val="130000"/>
              </a:lnSpc>
            </a:pPr>
            <a:r>
              <a:rPr lang="en-US" sz="1107" b="1" kern="0" spc="111" dirty="0">
                <a:solidFill>
                  <a:srgbClr val="C9A86A"/>
                </a:solidFill>
                <a:latin typeface="Quattrocento Sans" pitchFamily="34" charset="0"/>
                <a:ea typeface="Quattrocento Sans" pitchFamily="34" charset="-122"/>
                <a:cs typeface="Quattrocento Sans" pitchFamily="34" charset="-120"/>
              </a:rPr>
              <a:t>Project 2 Foundation</a:t>
            </a:r>
            <a:endParaRPr lang="en-US" sz="1600" dirty="0"/>
          </a:p>
        </p:txBody>
      </p:sp>
      <p:sp>
        <p:nvSpPr>
          <p:cNvPr id="3" name="Text 1"/>
          <p:cNvSpPr/>
          <p:nvPr/>
        </p:nvSpPr>
        <p:spPr>
          <a:xfrm>
            <a:off x="351354" y="426154"/>
            <a:ext cx="11647401" cy="351354"/>
          </a:xfrm>
          <a:prstGeom prst="rect">
            <a:avLst/>
          </a:prstGeom>
          <a:noFill/>
          <a:ln/>
        </p:spPr>
        <p:txBody>
          <a:bodyPr wrap="square" lIns="0" tIns="0" rIns="0" bIns="0" rtlCol="0" anchor="ctr"/>
          <a:lstStyle/>
          <a:p>
            <a:pPr>
              <a:lnSpc>
                <a:spcPct val="90000"/>
              </a:lnSpc>
            </a:pPr>
            <a:r>
              <a:rPr lang="en-US" sz="2490" b="1" dirty="0">
                <a:solidFill>
                  <a:srgbClr val="EDF2F4"/>
                </a:solidFill>
                <a:latin typeface="Liter" pitchFamily="34" charset="0"/>
                <a:ea typeface="Liter" pitchFamily="34" charset="-122"/>
                <a:cs typeface="Liter" pitchFamily="34" charset="-120"/>
              </a:rPr>
              <a:t>Motivation — Smart Autonomous Waste Collection</a:t>
            </a:r>
            <a:endParaRPr lang="en-US" sz="1600" dirty="0"/>
          </a:p>
        </p:txBody>
      </p:sp>
      <p:sp>
        <p:nvSpPr>
          <p:cNvPr id="4" name="Shape 2"/>
          <p:cNvSpPr/>
          <p:nvPr/>
        </p:nvSpPr>
        <p:spPr>
          <a:xfrm>
            <a:off x="351354" y="760510"/>
            <a:ext cx="843251" cy="35135"/>
          </a:xfrm>
          <a:custGeom>
            <a:avLst/>
            <a:gdLst/>
            <a:ahLst/>
            <a:cxnLst/>
            <a:rect l="l" t="t" r="r" b="b"/>
            <a:pathLst>
              <a:path w="843251" h="35135">
                <a:moveTo>
                  <a:pt x="0" y="0"/>
                </a:moveTo>
                <a:lnTo>
                  <a:pt x="843251" y="0"/>
                </a:lnTo>
                <a:lnTo>
                  <a:pt x="843251" y="35135"/>
                </a:lnTo>
                <a:lnTo>
                  <a:pt x="0" y="35135"/>
                </a:lnTo>
                <a:lnTo>
                  <a:pt x="0" y="0"/>
                </a:lnTo>
                <a:close/>
              </a:path>
            </a:pathLst>
          </a:custGeom>
          <a:solidFill>
            <a:srgbClr val="C9A86A"/>
          </a:solidFill>
          <a:ln/>
        </p:spPr>
        <p:txBody>
          <a:bodyPr/>
          <a:lstStyle/>
          <a:p>
            <a:endParaRPr lang="en-GB"/>
          </a:p>
        </p:txBody>
      </p:sp>
      <p:sp>
        <p:nvSpPr>
          <p:cNvPr id="5" name="Shape 3"/>
          <p:cNvSpPr/>
          <p:nvPr/>
        </p:nvSpPr>
        <p:spPr>
          <a:xfrm>
            <a:off x="346961" y="883875"/>
            <a:ext cx="6816277" cy="1326363"/>
          </a:xfrm>
          <a:custGeom>
            <a:avLst/>
            <a:gdLst/>
            <a:ahLst/>
            <a:cxnLst/>
            <a:rect l="l" t="t" r="r" b="b"/>
            <a:pathLst>
              <a:path w="6816277" h="1326363">
                <a:moveTo>
                  <a:pt x="70271" y="0"/>
                </a:moveTo>
                <a:lnTo>
                  <a:pt x="6746006" y="0"/>
                </a:lnTo>
                <a:cubicBezTo>
                  <a:pt x="6784815" y="0"/>
                  <a:pt x="6816277" y="31461"/>
                  <a:pt x="6816277" y="70271"/>
                </a:cubicBezTo>
                <a:lnTo>
                  <a:pt x="6816277" y="1256092"/>
                </a:lnTo>
                <a:cubicBezTo>
                  <a:pt x="6816277" y="1294902"/>
                  <a:pt x="6784815" y="1326363"/>
                  <a:pt x="6746006" y="1326363"/>
                </a:cubicBezTo>
                <a:lnTo>
                  <a:pt x="70271" y="1326363"/>
                </a:lnTo>
                <a:cubicBezTo>
                  <a:pt x="31461" y="1326363"/>
                  <a:pt x="0" y="1294902"/>
                  <a:pt x="0" y="1256092"/>
                </a:cubicBezTo>
                <a:lnTo>
                  <a:pt x="0" y="70271"/>
                </a:lnTo>
                <a:cubicBezTo>
                  <a:pt x="0" y="31487"/>
                  <a:pt x="31487" y="0"/>
                  <a:pt x="70271" y="0"/>
                </a:cubicBezTo>
                <a:close/>
              </a:path>
            </a:pathLst>
          </a:custGeom>
          <a:gradFill flip="none" rotWithShape="1">
            <a:gsLst>
              <a:gs pos="0">
                <a:srgbClr val="4A6C8C">
                  <a:alpha val="20000"/>
                </a:srgbClr>
              </a:gs>
              <a:gs pos="100000">
                <a:srgbClr val="000000">
                  <a:alpha val="0"/>
                </a:srgbClr>
              </a:gs>
            </a:gsLst>
            <a:lin ang="2700000" scaled="1"/>
          </a:gradFill>
          <a:ln w="12700">
            <a:solidFill>
              <a:srgbClr val="4A6C8C">
                <a:alpha val="40000"/>
              </a:srgbClr>
            </a:solidFill>
            <a:prstDash val="solid"/>
          </a:ln>
        </p:spPr>
        <p:txBody>
          <a:bodyPr/>
          <a:lstStyle/>
          <a:p>
            <a:endParaRPr lang="en-GB"/>
          </a:p>
        </p:txBody>
      </p:sp>
      <p:sp>
        <p:nvSpPr>
          <p:cNvPr id="6" name="Shape 4"/>
          <p:cNvSpPr/>
          <p:nvPr/>
        </p:nvSpPr>
        <p:spPr>
          <a:xfrm>
            <a:off x="527032" y="1189940"/>
            <a:ext cx="491896" cy="491896"/>
          </a:xfrm>
          <a:custGeom>
            <a:avLst/>
            <a:gdLst/>
            <a:ahLst/>
            <a:cxnLst/>
            <a:rect l="l" t="t" r="r" b="b"/>
            <a:pathLst>
              <a:path w="491896" h="491896">
                <a:moveTo>
                  <a:pt x="70272" y="0"/>
                </a:moveTo>
                <a:lnTo>
                  <a:pt x="421624" y="0"/>
                </a:lnTo>
                <a:cubicBezTo>
                  <a:pt x="460434" y="0"/>
                  <a:pt x="491896" y="31462"/>
                  <a:pt x="491896" y="70272"/>
                </a:cubicBezTo>
                <a:lnTo>
                  <a:pt x="491896" y="421624"/>
                </a:lnTo>
                <a:cubicBezTo>
                  <a:pt x="491896" y="460434"/>
                  <a:pt x="460434" y="491896"/>
                  <a:pt x="421624" y="491896"/>
                </a:cubicBezTo>
                <a:lnTo>
                  <a:pt x="70272" y="491896"/>
                </a:lnTo>
                <a:cubicBezTo>
                  <a:pt x="31462" y="491896"/>
                  <a:pt x="0" y="460434"/>
                  <a:pt x="0" y="421624"/>
                </a:cubicBezTo>
                <a:lnTo>
                  <a:pt x="0" y="70272"/>
                </a:lnTo>
                <a:cubicBezTo>
                  <a:pt x="0" y="31488"/>
                  <a:pt x="31488" y="0"/>
                  <a:pt x="70272" y="0"/>
                </a:cubicBezTo>
                <a:close/>
              </a:path>
            </a:pathLst>
          </a:custGeom>
          <a:solidFill>
            <a:srgbClr val="C9A86A"/>
          </a:solidFill>
          <a:ln/>
        </p:spPr>
        <p:txBody>
          <a:bodyPr/>
          <a:lstStyle/>
          <a:p>
            <a:endParaRPr lang="en-GB"/>
          </a:p>
        </p:txBody>
      </p:sp>
      <p:sp>
        <p:nvSpPr>
          <p:cNvPr id="7" name="Shape 5"/>
          <p:cNvSpPr/>
          <p:nvPr/>
        </p:nvSpPr>
        <p:spPr>
          <a:xfrm>
            <a:off x="667573" y="1330481"/>
            <a:ext cx="210813" cy="210813"/>
          </a:xfrm>
          <a:custGeom>
            <a:avLst/>
            <a:gdLst/>
            <a:ahLst/>
            <a:cxnLst/>
            <a:rect l="l" t="t" r="r" b="b"/>
            <a:pathLst>
              <a:path w="210813" h="210813">
                <a:moveTo>
                  <a:pt x="105406" y="0"/>
                </a:moveTo>
                <a:cubicBezTo>
                  <a:pt x="163582" y="0"/>
                  <a:pt x="210813" y="47231"/>
                  <a:pt x="210813" y="105406"/>
                </a:cubicBezTo>
                <a:cubicBezTo>
                  <a:pt x="210813" y="163582"/>
                  <a:pt x="163582" y="210813"/>
                  <a:pt x="105406" y="210813"/>
                </a:cubicBezTo>
                <a:cubicBezTo>
                  <a:pt x="47231" y="210813"/>
                  <a:pt x="0" y="163582"/>
                  <a:pt x="0" y="105406"/>
                </a:cubicBezTo>
                <a:cubicBezTo>
                  <a:pt x="0" y="47231"/>
                  <a:pt x="47231" y="0"/>
                  <a:pt x="105406" y="0"/>
                </a:cubicBezTo>
                <a:close/>
                <a:moveTo>
                  <a:pt x="95524" y="49409"/>
                </a:moveTo>
                <a:lnTo>
                  <a:pt x="95524" y="105406"/>
                </a:lnTo>
                <a:cubicBezTo>
                  <a:pt x="95524" y="108700"/>
                  <a:pt x="97171" y="111788"/>
                  <a:pt x="99930" y="113641"/>
                </a:cubicBezTo>
                <a:lnTo>
                  <a:pt x="139458" y="139993"/>
                </a:lnTo>
                <a:cubicBezTo>
                  <a:pt x="143987" y="143040"/>
                  <a:pt x="150122" y="141804"/>
                  <a:pt x="153169" y="137234"/>
                </a:cubicBezTo>
                <a:cubicBezTo>
                  <a:pt x="156215" y="132664"/>
                  <a:pt x="154980" y="126570"/>
                  <a:pt x="150410" y="123523"/>
                </a:cubicBezTo>
                <a:lnTo>
                  <a:pt x="115288" y="100136"/>
                </a:lnTo>
                <a:lnTo>
                  <a:pt x="115288" y="49409"/>
                </a:lnTo>
                <a:cubicBezTo>
                  <a:pt x="115288" y="43933"/>
                  <a:pt x="110883" y="39527"/>
                  <a:pt x="105406" y="39527"/>
                </a:cubicBezTo>
                <a:cubicBezTo>
                  <a:pt x="99930" y="39527"/>
                  <a:pt x="95524" y="43933"/>
                  <a:pt x="95524" y="49409"/>
                </a:cubicBezTo>
                <a:close/>
              </a:path>
            </a:pathLst>
          </a:custGeom>
          <a:solidFill>
            <a:srgbClr val="1A1D24"/>
          </a:solidFill>
          <a:ln/>
        </p:spPr>
        <p:txBody>
          <a:bodyPr/>
          <a:lstStyle/>
          <a:p>
            <a:endParaRPr lang="en-GB"/>
          </a:p>
        </p:txBody>
      </p:sp>
      <p:sp>
        <p:nvSpPr>
          <p:cNvPr id="8" name="Text 6"/>
          <p:cNvSpPr/>
          <p:nvPr/>
        </p:nvSpPr>
        <p:spPr>
          <a:xfrm>
            <a:off x="1159470" y="1189940"/>
            <a:ext cx="5911539" cy="245948"/>
          </a:xfrm>
          <a:prstGeom prst="rect">
            <a:avLst/>
          </a:prstGeom>
          <a:noFill/>
          <a:ln/>
        </p:spPr>
        <p:txBody>
          <a:bodyPr wrap="square" lIns="0" tIns="0" rIns="0" bIns="0" rtlCol="0" anchor="ctr"/>
          <a:lstStyle/>
          <a:p>
            <a:pPr>
              <a:lnSpc>
                <a:spcPct val="120000"/>
              </a:lnSpc>
            </a:pPr>
            <a:r>
              <a:rPr lang="en-US" sz="1383" b="1" dirty="0">
                <a:solidFill>
                  <a:srgbClr val="EDF2F4"/>
                </a:solidFill>
                <a:latin typeface="Liter" pitchFamily="34" charset="0"/>
                <a:ea typeface="Liter" pitchFamily="34" charset="-122"/>
                <a:cs typeface="Liter" pitchFamily="34" charset="-120"/>
              </a:rPr>
              <a:t>Inefficiency of Manual Collection</a:t>
            </a:r>
            <a:endParaRPr lang="en-US" sz="1600" dirty="0"/>
          </a:p>
        </p:txBody>
      </p:sp>
      <p:sp>
        <p:nvSpPr>
          <p:cNvPr id="9" name="Text 7"/>
          <p:cNvSpPr/>
          <p:nvPr/>
        </p:nvSpPr>
        <p:spPr>
          <a:xfrm>
            <a:off x="1159470" y="1506159"/>
            <a:ext cx="5893971" cy="456761"/>
          </a:xfrm>
          <a:prstGeom prst="rect">
            <a:avLst/>
          </a:prstGeom>
          <a:noFill/>
          <a:ln/>
        </p:spPr>
        <p:txBody>
          <a:bodyPr wrap="square" lIns="0" tIns="0" rIns="0" bIns="0" rtlCol="0" anchor="ctr"/>
          <a:lstStyle/>
          <a:p>
            <a:pPr>
              <a:lnSpc>
                <a:spcPct val="140000"/>
              </a:lnSpc>
            </a:pPr>
            <a:r>
              <a:rPr lang="en-US" sz="1107" dirty="0">
                <a:solidFill>
                  <a:srgbClr val="8D99AE"/>
                </a:solidFill>
                <a:latin typeface="Quattrocento Sans" pitchFamily="34" charset="0"/>
                <a:ea typeface="Quattrocento Sans" pitchFamily="34" charset="-122"/>
                <a:cs typeface="Quattrocento Sans" pitchFamily="34" charset="-120"/>
              </a:rPr>
              <a:t>Manual waste collection is </a:t>
            </a:r>
            <a:r>
              <a:rPr lang="en-US" sz="1107" b="1" dirty="0">
                <a:solidFill>
                  <a:srgbClr val="C9A86A"/>
                </a:solidFill>
                <a:latin typeface="Quattrocento Sans" pitchFamily="34" charset="0"/>
                <a:ea typeface="Quattrocento Sans" pitchFamily="34" charset="-122"/>
                <a:cs typeface="Quattrocento Sans" pitchFamily="34" charset="-120"/>
              </a:rPr>
              <a:t>labor-intensive, time-consuming, and costly</a:t>
            </a:r>
            <a:r>
              <a:rPr lang="en-US" sz="1107" dirty="0">
                <a:solidFill>
                  <a:srgbClr val="8D99AE"/>
                </a:solidFill>
                <a:latin typeface="Quattrocento Sans" pitchFamily="34" charset="0"/>
                <a:ea typeface="Quattrocento Sans" pitchFamily="34" charset="-122"/>
                <a:cs typeface="Quattrocento Sans" pitchFamily="34" charset="-120"/>
              </a:rPr>
              <a:t>. Traditional methods cannot scale efficiently with growing urban populations and waste generation rates.</a:t>
            </a:r>
            <a:endParaRPr lang="en-US" sz="1600" dirty="0"/>
          </a:p>
        </p:txBody>
      </p:sp>
      <p:sp>
        <p:nvSpPr>
          <p:cNvPr id="10" name="Shape 8"/>
          <p:cNvSpPr/>
          <p:nvPr/>
        </p:nvSpPr>
        <p:spPr>
          <a:xfrm>
            <a:off x="346962" y="2389897"/>
            <a:ext cx="6816277" cy="1326363"/>
          </a:xfrm>
          <a:custGeom>
            <a:avLst/>
            <a:gdLst/>
            <a:ahLst/>
            <a:cxnLst/>
            <a:rect l="l" t="t" r="r" b="b"/>
            <a:pathLst>
              <a:path w="6816277" h="1326363">
                <a:moveTo>
                  <a:pt x="70271" y="0"/>
                </a:moveTo>
                <a:lnTo>
                  <a:pt x="6746006" y="0"/>
                </a:lnTo>
                <a:cubicBezTo>
                  <a:pt x="6784815" y="0"/>
                  <a:pt x="6816277" y="31461"/>
                  <a:pt x="6816277" y="70271"/>
                </a:cubicBezTo>
                <a:lnTo>
                  <a:pt x="6816277" y="1256092"/>
                </a:lnTo>
                <a:cubicBezTo>
                  <a:pt x="6816277" y="1294902"/>
                  <a:pt x="6784815" y="1326363"/>
                  <a:pt x="6746006" y="1326363"/>
                </a:cubicBezTo>
                <a:lnTo>
                  <a:pt x="70271" y="1326363"/>
                </a:lnTo>
                <a:cubicBezTo>
                  <a:pt x="31461" y="1326363"/>
                  <a:pt x="0" y="1294902"/>
                  <a:pt x="0" y="1256092"/>
                </a:cubicBezTo>
                <a:lnTo>
                  <a:pt x="0" y="70271"/>
                </a:lnTo>
                <a:cubicBezTo>
                  <a:pt x="0" y="31487"/>
                  <a:pt x="31487" y="0"/>
                  <a:pt x="70271" y="0"/>
                </a:cubicBezTo>
                <a:close/>
              </a:path>
            </a:pathLst>
          </a:custGeom>
          <a:gradFill flip="none" rotWithShape="1">
            <a:gsLst>
              <a:gs pos="0">
                <a:srgbClr val="4A6C8C">
                  <a:alpha val="20000"/>
                </a:srgbClr>
              </a:gs>
              <a:gs pos="100000">
                <a:srgbClr val="000000">
                  <a:alpha val="0"/>
                </a:srgbClr>
              </a:gs>
            </a:gsLst>
            <a:lin ang="2700000" scaled="1"/>
          </a:gradFill>
          <a:ln w="12700">
            <a:solidFill>
              <a:srgbClr val="4A6C8C">
                <a:alpha val="40000"/>
              </a:srgbClr>
            </a:solidFill>
            <a:prstDash val="solid"/>
          </a:ln>
        </p:spPr>
        <p:txBody>
          <a:bodyPr/>
          <a:lstStyle/>
          <a:p>
            <a:endParaRPr lang="en-GB"/>
          </a:p>
        </p:txBody>
      </p:sp>
      <p:sp>
        <p:nvSpPr>
          <p:cNvPr id="11" name="Shape 9"/>
          <p:cNvSpPr/>
          <p:nvPr/>
        </p:nvSpPr>
        <p:spPr>
          <a:xfrm>
            <a:off x="527032" y="2667550"/>
            <a:ext cx="491896" cy="491896"/>
          </a:xfrm>
          <a:custGeom>
            <a:avLst/>
            <a:gdLst/>
            <a:ahLst/>
            <a:cxnLst/>
            <a:rect l="l" t="t" r="r" b="b"/>
            <a:pathLst>
              <a:path w="491896" h="491896">
                <a:moveTo>
                  <a:pt x="70272" y="0"/>
                </a:moveTo>
                <a:lnTo>
                  <a:pt x="421624" y="0"/>
                </a:lnTo>
                <a:cubicBezTo>
                  <a:pt x="460434" y="0"/>
                  <a:pt x="491896" y="31462"/>
                  <a:pt x="491896" y="70272"/>
                </a:cubicBezTo>
                <a:lnTo>
                  <a:pt x="491896" y="421624"/>
                </a:lnTo>
                <a:cubicBezTo>
                  <a:pt x="491896" y="460434"/>
                  <a:pt x="460434" y="491896"/>
                  <a:pt x="421624" y="491896"/>
                </a:cubicBezTo>
                <a:lnTo>
                  <a:pt x="70272" y="491896"/>
                </a:lnTo>
                <a:cubicBezTo>
                  <a:pt x="31462" y="491896"/>
                  <a:pt x="0" y="460434"/>
                  <a:pt x="0" y="421624"/>
                </a:cubicBezTo>
                <a:lnTo>
                  <a:pt x="0" y="70272"/>
                </a:lnTo>
                <a:cubicBezTo>
                  <a:pt x="0" y="31488"/>
                  <a:pt x="31488" y="0"/>
                  <a:pt x="70272" y="0"/>
                </a:cubicBezTo>
                <a:close/>
              </a:path>
            </a:pathLst>
          </a:custGeom>
          <a:solidFill>
            <a:srgbClr val="4A6C8C"/>
          </a:solidFill>
          <a:ln/>
        </p:spPr>
        <p:txBody>
          <a:bodyPr/>
          <a:lstStyle/>
          <a:p>
            <a:endParaRPr lang="en-GB"/>
          </a:p>
        </p:txBody>
      </p:sp>
      <p:sp>
        <p:nvSpPr>
          <p:cNvPr id="12" name="Shape 10"/>
          <p:cNvSpPr/>
          <p:nvPr/>
        </p:nvSpPr>
        <p:spPr>
          <a:xfrm>
            <a:off x="654398" y="2808092"/>
            <a:ext cx="237164" cy="210813"/>
          </a:xfrm>
          <a:custGeom>
            <a:avLst/>
            <a:gdLst/>
            <a:ahLst/>
            <a:cxnLst/>
            <a:rect l="l" t="t" r="r" b="b"/>
            <a:pathLst>
              <a:path w="237164" h="210813">
                <a:moveTo>
                  <a:pt x="131758" y="0"/>
                </a:moveTo>
                <a:cubicBezTo>
                  <a:pt x="117223" y="0"/>
                  <a:pt x="105406" y="11817"/>
                  <a:pt x="105406" y="26352"/>
                </a:cubicBezTo>
                <a:lnTo>
                  <a:pt x="105406" y="39527"/>
                </a:lnTo>
                <a:lnTo>
                  <a:pt x="85643" y="39527"/>
                </a:lnTo>
                <a:lnTo>
                  <a:pt x="85643" y="9882"/>
                </a:lnTo>
                <a:cubicBezTo>
                  <a:pt x="85643" y="4406"/>
                  <a:pt x="81237" y="0"/>
                  <a:pt x="75761" y="0"/>
                </a:cubicBezTo>
                <a:cubicBezTo>
                  <a:pt x="70285" y="0"/>
                  <a:pt x="65879" y="4406"/>
                  <a:pt x="65879" y="9882"/>
                </a:cubicBezTo>
                <a:lnTo>
                  <a:pt x="65879" y="39527"/>
                </a:lnTo>
                <a:lnTo>
                  <a:pt x="39527" y="39527"/>
                </a:lnTo>
                <a:lnTo>
                  <a:pt x="39527" y="9882"/>
                </a:lnTo>
                <a:cubicBezTo>
                  <a:pt x="39527" y="4406"/>
                  <a:pt x="35122" y="0"/>
                  <a:pt x="29646" y="0"/>
                </a:cubicBezTo>
                <a:cubicBezTo>
                  <a:pt x="24169" y="0"/>
                  <a:pt x="19764" y="4406"/>
                  <a:pt x="19764" y="9882"/>
                </a:cubicBezTo>
                <a:lnTo>
                  <a:pt x="19764" y="40351"/>
                </a:lnTo>
                <a:cubicBezTo>
                  <a:pt x="8400" y="43274"/>
                  <a:pt x="0" y="53609"/>
                  <a:pt x="0" y="65879"/>
                </a:cubicBezTo>
                <a:lnTo>
                  <a:pt x="0" y="184461"/>
                </a:lnTo>
                <a:cubicBezTo>
                  <a:pt x="0" y="198996"/>
                  <a:pt x="11817" y="210813"/>
                  <a:pt x="26352" y="210813"/>
                </a:cubicBezTo>
                <a:lnTo>
                  <a:pt x="210813" y="210813"/>
                </a:lnTo>
                <a:cubicBezTo>
                  <a:pt x="225347" y="210813"/>
                  <a:pt x="237164" y="198996"/>
                  <a:pt x="237164" y="184461"/>
                </a:cubicBezTo>
                <a:lnTo>
                  <a:pt x="237164" y="105406"/>
                </a:lnTo>
                <a:cubicBezTo>
                  <a:pt x="237164" y="90872"/>
                  <a:pt x="225347" y="79055"/>
                  <a:pt x="210813" y="79055"/>
                </a:cubicBezTo>
                <a:lnTo>
                  <a:pt x="184461" y="79055"/>
                </a:lnTo>
                <a:lnTo>
                  <a:pt x="184461" y="26352"/>
                </a:lnTo>
                <a:cubicBezTo>
                  <a:pt x="184461" y="11817"/>
                  <a:pt x="172644" y="0"/>
                  <a:pt x="158110" y="0"/>
                </a:cubicBezTo>
                <a:lnTo>
                  <a:pt x="131758" y="0"/>
                </a:lnTo>
                <a:close/>
                <a:moveTo>
                  <a:pt x="158110" y="46115"/>
                </a:moveTo>
                <a:lnTo>
                  <a:pt x="158110" y="59291"/>
                </a:lnTo>
                <a:cubicBezTo>
                  <a:pt x="158110" y="62914"/>
                  <a:pt x="155145" y="65879"/>
                  <a:pt x="151522" y="65879"/>
                </a:cubicBezTo>
                <a:lnTo>
                  <a:pt x="138346" y="65879"/>
                </a:lnTo>
                <a:cubicBezTo>
                  <a:pt x="134722" y="65879"/>
                  <a:pt x="131758" y="62914"/>
                  <a:pt x="131758" y="59291"/>
                </a:cubicBezTo>
                <a:lnTo>
                  <a:pt x="131758" y="46115"/>
                </a:lnTo>
                <a:cubicBezTo>
                  <a:pt x="131758" y="42492"/>
                  <a:pt x="134722" y="39527"/>
                  <a:pt x="138346" y="39527"/>
                </a:cubicBezTo>
                <a:lnTo>
                  <a:pt x="151522" y="39527"/>
                </a:lnTo>
                <a:cubicBezTo>
                  <a:pt x="155145" y="39527"/>
                  <a:pt x="158110" y="42492"/>
                  <a:pt x="158110" y="46115"/>
                </a:cubicBezTo>
                <a:close/>
                <a:moveTo>
                  <a:pt x="151522" y="79055"/>
                </a:moveTo>
                <a:cubicBezTo>
                  <a:pt x="155145" y="79055"/>
                  <a:pt x="158110" y="82019"/>
                  <a:pt x="158110" y="85643"/>
                </a:cubicBezTo>
                <a:lnTo>
                  <a:pt x="158110" y="98818"/>
                </a:lnTo>
                <a:cubicBezTo>
                  <a:pt x="158110" y="102442"/>
                  <a:pt x="155145" y="105406"/>
                  <a:pt x="151522" y="105406"/>
                </a:cubicBezTo>
                <a:lnTo>
                  <a:pt x="138346" y="105406"/>
                </a:lnTo>
                <a:cubicBezTo>
                  <a:pt x="134722" y="105406"/>
                  <a:pt x="131758" y="102442"/>
                  <a:pt x="131758" y="98818"/>
                </a:cubicBezTo>
                <a:lnTo>
                  <a:pt x="131758" y="85643"/>
                </a:lnTo>
                <a:cubicBezTo>
                  <a:pt x="131758" y="82019"/>
                  <a:pt x="134722" y="79055"/>
                  <a:pt x="138346" y="79055"/>
                </a:cubicBezTo>
                <a:lnTo>
                  <a:pt x="151522" y="79055"/>
                </a:lnTo>
                <a:close/>
                <a:moveTo>
                  <a:pt x="158110" y="125170"/>
                </a:moveTo>
                <a:lnTo>
                  <a:pt x="158110" y="138346"/>
                </a:lnTo>
                <a:cubicBezTo>
                  <a:pt x="158110" y="141969"/>
                  <a:pt x="155145" y="144934"/>
                  <a:pt x="151522" y="144934"/>
                </a:cubicBezTo>
                <a:lnTo>
                  <a:pt x="138346" y="144934"/>
                </a:lnTo>
                <a:cubicBezTo>
                  <a:pt x="134722" y="144934"/>
                  <a:pt x="131758" y="141969"/>
                  <a:pt x="131758" y="138346"/>
                </a:cubicBezTo>
                <a:lnTo>
                  <a:pt x="131758" y="125170"/>
                </a:lnTo>
                <a:cubicBezTo>
                  <a:pt x="131758" y="121547"/>
                  <a:pt x="134722" y="118582"/>
                  <a:pt x="138346" y="118582"/>
                </a:cubicBezTo>
                <a:lnTo>
                  <a:pt x="151522" y="118582"/>
                </a:lnTo>
                <a:cubicBezTo>
                  <a:pt x="155145" y="118582"/>
                  <a:pt x="158110" y="121547"/>
                  <a:pt x="158110" y="125170"/>
                </a:cubicBezTo>
                <a:close/>
                <a:moveTo>
                  <a:pt x="204225" y="118582"/>
                </a:moveTo>
                <a:cubicBezTo>
                  <a:pt x="207848" y="118582"/>
                  <a:pt x="210813" y="121547"/>
                  <a:pt x="210813" y="125170"/>
                </a:cubicBezTo>
                <a:lnTo>
                  <a:pt x="210813" y="138346"/>
                </a:lnTo>
                <a:cubicBezTo>
                  <a:pt x="210813" y="141969"/>
                  <a:pt x="207848" y="144934"/>
                  <a:pt x="204225" y="144934"/>
                </a:cubicBezTo>
                <a:lnTo>
                  <a:pt x="191049" y="144934"/>
                </a:lnTo>
                <a:cubicBezTo>
                  <a:pt x="187426" y="144934"/>
                  <a:pt x="184461" y="141969"/>
                  <a:pt x="184461" y="138346"/>
                </a:cubicBezTo>
                <a:lnTo>
                  <a:pt x="184461" y="125170"/>
                </a:lnTo>
                <a:cubicBezTo>
                  <a:pt x="184461" y="121547"/>
                  <a:pt x="187426" y="118582"/>
                  <a:pt x="191049" y="118582"/>
                </a:cubicBezTo>
                <a:lnTo>
                  <a:pt x="204225" y="118582"/>
                </a:lnTo>
                <a:close/>
                <a:moveTo>
                  <a:pt x="105406" y="125170"/>
                </a:moveTo>
                <a:lnTo>
                  <a:pt x="105406" y="138346"/>
                </a:lnTo>
                <a:cubicBezTo>
                  <a:pt x="105406" y="141969"/>
                  <a:pt x="102442" y="144934"/>
                  <a:pt x="98818" y="144934"/>
                </a:cubicBezTo>
                <a:lnTo>
                  <a:pt x="85643" y="144934"/>
                </a:lnTo>
                <a:cubicBezTo>
                  <a:pt x="82019" y="144934"/>
                  <a:pt x="79055" y="141969"/>
                  <a:pt x="79055" y="138346"/>
                </a:cubicBezTo>
                <a:lnTo>
                  <a:pt x="79055" y="125170"/>
                </a:lnTo>
                <a:cubicBezTo>
                  <a:pt x="79055" y="121547"/>
                  <a:pt x="82019" y="118582"/>
                  <a:pt x="85643" y="118582"/>
                </a:cubicBezTo>
                <a:lnTo>
                  <a:pt x="98818" y="118582"/>
                </a:lnTo>
                <a:cubicBezTo>
                  <a:pt x="102442" y="118582"/>
                  <a:pt x="105406" y="121547"/>
                  <a:pt x="105406" y="125170"/>
                </a:cubicBezTo>
                <a:close/>
                <a:moveTo>
                  <a:pt x="98818" y="79055"/>
                </a:moveTo>
                <a:cubicBezTo>
                  <a:pt x="102442" y="79055"/>
                  <a:pt x="105406" y="82019"/>
                  <a:pt x="105406" y="85643"/>
                </a:cubicBezTo>
                <a:lnTo>
                  <a:pt x="105406" y="98818"/>
                </a:lnTo>
                <a:cubicBezTo>
                  <a:pt x="105406" y="102442"/>
                  <a:pt x="102442" y="105406"/>
                  <a:pt x="98818" y="105406"/>
                </a:cubicBezTo>
                <a:lnTo>
                  <a:pt x="85643" y="105406"/>
                </a:lnTo>
                <a:cubicBezTo>
                  <a:pt x="82019" y="105406"/>
                  <a:pt x="79055" y="102442"/>
                  <a:pt x="79055" y="98818"/>
                </a:cubicBezTo>
                <a:lnTo>
                  <a:pt x="79055" y="85643"/>
                </a:lnTo>
                <a:cubicBezTo>
                  <a:pt x="79055" y="82019"/>
                  <a:pt x="82019" y="79055"/>
                  <a:pt x="85643" y="79055"/>
                </a:cubicBezTo>
                <a:lnTo>
                  <a:pt x="98818" y="79055"/>
                </a:lnTo>
                <a:close/>
                <a:moveTo>
                  <a:pt x="52703" y="125170"/>
                </a:moveTo>
                <a:lnTo>
                  <a:pt x="52703" y="138346"/>
                </a:lnTo>
                <a:cubicBezTo>
                  <a:pt x="52703" y="141969"/>
                  <a:pt x="49739" y="144934"/>
                  <a:pt x="46115" y="144934"/>
                </a:cubicBezTo>
                <a:lnTo>
                  <a:pt x="32939" y="144934"/>
                </a:lnTo>
                <a:cubicBezTo>
                  <a:pt x="29316" y="144934"/>
                  <a:pt x="26352" y="141969"/>
                  <a:pt x="26352" y="138346"/>
                </a:cubicBezTo>
                <a:lnTo>
                  <a:pt x="26352" y="125170"/>
                </a:lnTo>
                <a:cubicBezTo>
                  <a:pt x="26352" y="121547"/>
                  <a:pt x="29316" y="118582"/>
                  <a:pt x="32939" y="118582"/>
                </a:cubicBezTo>
                <a:lnTo>
                  <a:pt x="46115" y="118582"/>
                </a:lnTo>
                <a:cubicBezTo>
                  <a:pt x="49739" y="118582"/>
                  <a:pt x="52703" y="121547"/>
                  <a:pt x="52703" y="125170"/>
                </a:cubicBezTo>
                <a:close/>
                <a:moveTo>
                  <a:pt x="46115" y="79055"/>
                </a:moveTo>
                <a:cubicBezTo>
                  <a:pt x="49739" y="79055"/>
                  <a:pt x="52703" y="82019"/>
                  <a:pt x="52703" y="85643"/>
                </a:cubicBezTo>
                <a:lnTo>
                  <a:pt x="52703" y="98818"/>
                </a:lnTo>
                <a:cubicBezTo>
                  <a:pt x="52703" y="102442"/>
                  <a:pt x="49739" y="105406"/>
                  <a:pt x="46115" y="105406"/>
                </a:cubicBezTo>
                <a:lnTo>
                  <a:pt x="32939" y="105406"/>
                </a:lnTo>
                <a:cubicBezTo>
                  <a:pt x="29316" y="105406"/>
                  <a:pt x="26352" y="102442"/>
                  <a:pt x="26352" y="98818"/>
                </a:cubicBezTo>
                <a:lnTo>
                  <a:pt x="26352" y="85643"/>
                </a:lnTo>
                <a:cubicBezTo>
                  <a:pt x="26352" y="82019"/>
                  <a:pt x="29316" y="79055"/>
                  <a:pt x="32939" y="79055"/>
                </a:cubicBezTo>
                <a:lnTo>
                  <a:pt x="46115" y="79055"/>
                </a:lnTo>
                <a:close/>
              </a:path>
            </a:pathLst>
          </a:custGeom>
          <a:solidFill>
            <a:srgbClr val="EDF2F4"/>
          </a:solidFill>
          <a:ln/>
        </p:spPr>
        <p:txBody>
          <a:bodyPr/>
          <a:lstStyle/>
          <a:p>
            <a:endParaRPr lang="en-GB"/>
          </a:p>
        </p:txBody>
      </p:sp>
      <p:sp>
        <p:nvSpPr>
          <p:cNvPr id="13" name="Text 11"/>
          <p:cNvSpPr/>
          <p:nvPr/>
        </p:nvSpPr>
        <p:spPr>
          <a:xfrm>
            <a:off x="1159470" y="2667550"/>
            <a:ext cx="5911539" cy="245948"/>
          </a:xfrm>
          <a:prstGeom prst="rect">
            <a:avLst/>
          </a:prstGeom>
          <a:noFill/>
          <a:ln/>
        </p:spPr>
        <p:txBody>
          <a:bodyPr wrap="square" lIns="0" tIns="0" rIns="0" bIns="0" rtlCol="0" anchor="ctr"/>
          <a:lstStyle/>
          <a:p>
            <a:pPr>
              <a:lnSpc>
                <a:spcPct val="120000"/>
              </a:lnSpc>
            </a:pPr>
            <a:r>
              <a:rPr lang="en-US" sz="1383" b="1" dirty="0">
                <a:solidFill>
                  <a:srgbClr val="EDF2F4"/>
                </a:solidFill>
                <a:latin typeface="Liter" pitchFamily="34" charset="0"/>
                <a:ea typeface="Liter" pitchFamily="34" charset="-122"/>
                <a:cs typeface="Liter" pitchFamily="34" charset="-120"/>
              </a:rPr>
              <a:t>Smart City Requirements</a:t>
            </a:r>
            <a:endParaRPr lang="en-US" sz="1600" dirty="0"/>
          </a:p>
        </p:txBody>
      </p:sp>
      <p:sp>
        <p:nvSpPr>
          <p:cNvPr id="14" name="Text 12"/>
          <p:cNvSpPr/>
          <p:nvPr/>
        </p:nvSpPr>
        <p:spPr>
          <a:xfrm>
            <a:off x="1159470" y="2983769"/>
            <a:ext cx="5893971" cy="456761"/>
          </a:xfrm>
          <a:prstGeom prst="rect">
            <a:avLst/>
          </a:prstGeom>
          <a:noFill/>
          <a:ln/>
        </p:spPr>
        <p:txBody>
          <a:bodyPr wrap="square" lIns="0" tIns="0" rIns="0" bIns="0" rtlCol="0" anchor="ctr"/>
          <a:lstStyle/>
          <a:p>
            <a:pPr>
              <a:lnSpc>
                <a:spcPct val="140000"/>
              </a:lnSpc>
            </a:pPr>
            <a:r>
              <a:rPr lang="en-US" sz="1107" dirty="0">
                <a:solidFill>
                  <a:srgbClr val="8D99AE"/>
                </a:solidFill>
                <a:latin typeface="Quattrocento Sans" pitchFamily="34" charset="0"/>
                <a:ea typeface="Quattrocento Sans" pitchFamily="34" charset="-122"/>
                <a:cs typeface="Quattrocento Sans" pitchFamily="34" charset="-120"/>
              </a:rPr>
              <a:t>Modern smart cities require </a:t>
            </a:r>
            <a:r>
              <a:rPr lang="en-US" sz="1107" b="1" dirty="0">
                <a:solidFill>
                  <a:srgbClr val="C9A86A"/>
                </a:solidFill>
                <a:latin typeface="Quattrocento Sans" pitchFamily="34" charset="0"/>
                <a:ea typeface="Quattrocento Sans" pitchFamily="34" charset="-122"/>
                <a:cs typeface="Quattrocento Sans" pitchFamily="34" charset="-120"/>
              </a:rPr>
              <a:t>automation and intelligent systems</a:t>
            </a:r>
            <a:r>
              <a:rPr lang="en-US" sz="1107" dirty="0">
                <a:solidFill>
                  <a:srgbClr val="8D99AE"/>
                </a:solidFill>
                <a:latin typeface="Quattrocento Sans" pitchFamily="34" charset="0"/>
                <a:ea typeface="Quattrocento Sans" pitchFamily="34" charset="-122"/>
                <a:cs typeface="Quattrocento Sans" pitchFamily="34" charset="-120"/>
              </a:rPr>
              <a:t> to manage urban infrastructure efficiently. Waste management is a critical component of sustainable city operations.</a:t>
            </a:r>
            <a:endParaRPr lang="en-US" sz="1600" dirty="0"/>
          </a:p>
        </p:txBody>
      </p:sp>
      <p:sp>
        <p:nvSpPr>
          <p:cNvPr id="15" name="Shape 13"/>
          <p:cNvSpPr/>
          <p:nvPr/>
        </p:nvSpPr>
        <p:spPr>
          <a:xfrm>
            <a:off x="346962" y="3867508"/>
            <a:ext cx="6816277" cy="1326363"/>
          </a:xfrm>
          <a:custGeom>
            <a:avLst/>
            <a:gdLst/>
            <a:ahLst/>
            <a:cxnLst/>
            <a:rect l="l" t="t" r="r" b="b"/>
            <a:pathLst>
              <a:path w="6816277" h="1326363">
                <a:moveTo>
                  <a:pt x="70271" y="0"/>
                </a:moveTo>
                <a:lnTo>
                  <a:pt x="6746006" y="0"/>
                </a:lnTo>
                <a:cubicBezTo>
                  <a:pt x="6784815" y="0"/>
                  <a:pt x="6816277" y="31461"/>
                  <a:pt x="6816277" y="70271"/>
                </a:cubicBezTo>
                <a:lnTo>
                  <a:pt x="6816277" y="1256092"/>
                </a:lnTo>
                <a:cubicBezTo>
                  <a:pt x="6816277" y="1294902"/>
                  <a:pt x="6784815" y="1326363"/>
                  <a:pt x="6746006" y="1326363"/>
                </a:cubicBezTo>
                <a:lnTo>
                  <a:pt x="70271" y="1326363"/>
                </a:lnTo>
                <a:cubicBezTo>
                  <a:pt x="31461" y="1326363"/>
                  <a:pt x="0" y="1294902"/>
                  <a:pt x="0" y="1256092"/>
                </a:cubicBezTo>
                <a:lnTo>
                  <a:pt x="0" y="70271"/>
                </a:lnTo>
                <a:cubicBezTo>
                  <a:pt x="0" y="31487"/>
                  <a:pt x="31487" y="0"/>
                  <a:pt x="70271" y="0"/>
                </a:cubicBezTo>
                <a:close/>
              </a:path>
            </a:pathLst>
          </a:custGeom>
          <a:gradFill flip="none" rotWithShape="1">
            <a:gsLst>
              <a:gs pos="0">
                <a:srgbClr val="4A6C8C">
                  <a:alpha val="20000"/>
                </a:srgbClr>
              </a:gs>
              <a:gs pos="100000">
                <a:srgbClr val="000000">
                  <a:alpha val="0"/>
                </a:srgbClr>
              </a:gs>
            </a:gsLst>
            <a:lin ang="2700000" scaled="1"/>
          </a:gradFill>
          <a:ln w="12700">
            <a:solidFill>
              <a:srgbClr val="4A6C8C">
                <a:alpha val="40000"/>
              </a:srgbClr>
            </a:solidFill>
            <a:prstDash val="solid"/>
          </a:ln>
        </p:spPr>
        <p:txBody>
          <a:bodyPr/>
          <a:lstStyle/>
          <a:p>
            <a:endParaRPr lang="en-GB"/>
          </a:p>
        </p:txBody>
      </p:sp>
      <p:sp>
        <p:nvSpPr>
          <p:cNvPr id="16" name="Shape 14"/>
          <p:cNvSpPr/>
          <p:nvPr/>
        </p:nvSpPr>
        <p:spPr>
          <a:xfrm>
            <a:off x="527032" y="4145160"/>
            <a:ext cx="491896" cy="491896"/>
          </a:xfrm>
          <a:custGeom>
            <a:avLst/>
            <a:gdLst/>
            <a:ahLst/>
            <a:cxnLst/>
            <a:rect l="l" t="t" r="r" b="b"/>
            <a:pathLst>
              <a:path w="491896" h="491896">
                <a:moveTo>
                  <a:pt x="70272" y="0"/>
                </a:moveTo>
                <a:lnTo>
                  <a:pt x="421624" y="0"/>
                </a:lnTo>
                <a:cubicBezTo>
                  <a:pt x="460434" y="0"/>
                  <a:pt x="491896" y="31462"/>
                  <a:pt x="491896" y="70272"/>
                </a:cubicBezTo>
                <a:lnTo>
                  <a:pt x="491896" y="421624"/>
                </a:lnTo>
                <a:cubicBezTo>
                  <a:pt x="491896" y="460434"/>
                  <a:pt x="460434" y="491896"/>
                  <a:pt x="421624" y="491896"/>
                </a:cubicBezTo>
                <a:lnTo>
                  <a:pt x="70272" y="491896"/>
                </a:lnTo>
                <a:cubicBezTo>
                  <a:pt x="31462" y="491896"/>
                  <a:pt x="0" y="460434"/>
                  <a:pt x="0" y="421624"/>
                </a:cubicBezTo>
                <a:lnTo>
                  <a:pt x="0" y="70272"/>
                </a:lnTo>
                <a:cubicBezTo>
                  <a:pt x="0" y="31488"/>
                  <a:pt x="31488" y="0"/>
                  <a:pt x="70272" y="0"/>
                </a:cubicBezTo>
                <a:close/>
              </a:path>
            </a:pathLst>
          </a:custGeom>
          <a:solidFill>
            <a:srgbClr val="C9A86A"/>
          </a:solidFill>
          <a:ln/>
        </p:spPr>
        <p:txBody>
          <a:bodyPr/>
          <a:lstStyle/>
          <a:p>
            <a:endParaRPr lang="en-GB"/>
          </a:p>
        </p:txBody>
      </p:sp>
      <p:sp>
        <p:nvSpPr>
          <p:cNvPr id="17" name="Shape 15"/>
          <p:cNvSpPr/>
          <p:nvPr/>
        </p:nvSpPr>
        <p:spPr>
          <a:xfrm>
            <a:off x="641222" y="4285702"/>
            <a:ext cx="263516" cy="210813"/>
          </a:xfrm>
          <a:custGeom>
            <a:avLst/>
            <a:gdLst/>
            <a:ahLst/>
            <a:cxnLst/>
            <a:rect l="l" t="t" r="r" b="b"/>
            <a:pathLst>
              <a:path w="263516" h="210813">
                <a:moveTo>
                  <a:pt x="144934" y="0"/>
                </a:moveTo>
                <a:cubicBezTo>
                  <a:pt x="144934" y="-7288"/>
                  <a:pt x="139046" y="-13176"/>
                  <a:pt x="131758" y="-13176"/>
                </a:cubicBezTo>
                <a:cubicBezTo>
                  <a:pt x="124470" y="-13176"/>
                  <a:pt x="118582" y="-7288"/>
                  <a:pt x="118582" y="0"/>
                </a:cubicBezTo>
                <a:lnTo>
                  <a:pt x="118582" y="26352"/>
                </a:lnTo>
                <a:lnTo>
                  <a:pt x="79055" y="26352"/>
                </a:lnTo>
                <a:cubicBezTo>
                  <a:pt x="57232" y="26352"/>
                  <a:pt x="39527" y="44057"/>
                  <a:pt x="39527" y="65879"/>
                </a:cubicBezTo>
                <a:lnTo>
                  <a:pt x="39527" y="158110"/>
                </a:lnTo>
                <a:cubicBezTo>
                  <a:pt x="39527" y="179932"/>
                  <a:pt x="57232" y="197637"/>
                  <a:pt x="79055" y="197637"/>
                </a:cubicBezTo>
                <a:lnTo>
                  <a:pt x="184461" y="197637"/>
                </a:lnTo>
                <a:cubicBezTo>
                  <a:pt x="206284" y="197637"/>
                  <a:pt x="223988" y="179932"/>
                  <a:pt x="223988" y="158110"/>
                </a:cubicBezTo>
                <a:lnTo>
                  <a:pt x="223988" y="65879"/>
                </a:lnTo>
                <a:cubicBezTo>
                  <a:pt x="223988" y="44057"/>
                  <a:pt x="206284" y="26352"/>
                  <a:pt x="184461" y="26352"/>
                </a:cubicBezTo>
                <a:lnTo>
                  <a:pt x="144934" y="26352"/>
                </a:lnTo>
                <a:lnTo>
                  <a:pt x="144934" y="0"/>
                </a:lnTo>
                <a:close/>
                <a:moveTo>
                  <a:pt x="65879" y="151522"/>
                </a:moveTo>
                <a:cubicBezTo>
                  <a:pt x="65879" y="146045"/>
                  <a:pt x="70285" y="141640"/>
                  <a:pt x="75761" y="141640"/>
                </a:cubicBezTo>
                <a:lnTo>
                  <a:pt x="88937" y="141640"/>
                </a:lnTo>
                <a:cubicBezTo>
                  <a:pt x="94413" y="141640"/>
                  <a:pt x="98818" y="146045"/>
                  <a:pt x="98818" y="151522"/>
                </a:cubicBezTo>
                <a:cubicBezTo>
                  <a:pt x="98818" y="156998"/>
                  <a:pt x="94413" y="161403"/>
                  <a:pt x="88937" y="161403"/>
                </a:cubicBezTo>
                <a:lnTo>
                  <a:pt x="75761" y="161403"/>
                </a:lnTo>
                <a:cubicBezTo>
                  <a:pt x="70285" y="161403"/>
                  <a:pt x="65879" y="156998"/>
                  <a:pt x="65879" y="151522"/>
                </a:cubicBezTo>
                <a:close/>
                <a:moveTo>
                  <a:pt x="115288" y="151522"/>
                </a:moveTo>
                <a:cubicBezTo>
                  <a:pt x="115288" y="146045"/>
                  <a:pt x="119694" y="141640"/>
                  <a:pt x="125170" y="141640"/>
                </a:cubicBezTo>
                <a:lnTo>
                  <a:pt x="138346" y="141640"/>
                </a:lnTo>
                <a:cubicBezTo>
                  <a:pt x="143822" y="141640"/>
                  <a:pt x="148228" y="146045"/>
                  <a:pt x="148228" y="151522"/>
                </a:cubicBezTo>
                <a:cubicBezTo>
                  <a:pt x="148228" y="156998"/>
                  <a:pt x="143822" y="161403"/>
                  <a:pt x="138346" y="161403"/>
                </a:cubicBezTo>
                <a:lnTo>
                  <a:pt x="125170" y="161403"/>
                </a:lnTo>
                <a:cubicBezTo>
                  <a:pt x="119694" y="161403"/>
                  <a:pt x="115288" y="156998"/>
                  <a:pt x="115288" y="151522"/>
                </a:cubicBezTo>
                <a:close/>
                <a:moveTo>
                  <a:pt x="164697" y="151522"/>
                </a:moveTo>
                <a:cubicBezTo>
                  <a:pt x="164697" y="146045"/>
                  <a:pt x="169103" y="141640"/>
                  <a:pt x="174579" y="141640"/>
                </a:cubicBezTo>
                <a:lnTo>
                  <a:pt x="187755" y="141640"/>
                </a:lnTo>
                <a:cubicBezTo>
                  <a:pt x="193231" y="141640"/>
                  <a:pt x="197637" y="146045"/>
                  <a:pt x="197637" y="151522"/>
                </a:cubicBezTo>
                <a:cubicBezTo>
                  <a:pt x="197637" y="156998"/>
                  <a:pt x="193231" y="161403"/>
                  <a:pt x="187755" y="161403"/>
                </a:cubicBezTo>
                <a:lnTo>
                  <a:pt x="174579" y="161403"/>
                </a:lnTo>
                <a:cubicBezTo>
                  <a:pt x="169103" y="161403"/>
                  <a:pt x="164697" y="156998"/>
                  <a:pt x="164697" y="151522"/>
                </a:cubicBezTo>
                <a:close/>
                <a:moveTo>
                  <a:pt x="92231" y="72467"/>
                </a:moveTo>
                <a:cubicBezTo>
                  <a:pt x="103138" y="72467"/>
                  <a:pt x="111994" y="81323"/>
                  <a:pt x="111994" y="92231"/>
                </a:cubicBezTo>
                <a:cubicBezTo>
                  <a:pt x="111994" y="103138"/>
                  <a:pt x="103138" y="111994"/>
                  <a:pt x="92231" y="111994"/>
                </a:cubicBezTo>
                <a:cubicBezTo>
                  <a:pt x="81323" y="111994"/>
                  <a:pt x="72467" y="103138"/>
                  <a:pt x="72467" y="92231"/>
                </a:cubicBezTo>
                <a:cubicBezTo>
                  <a:pt x="72467" y="81323"/>
                  <a:pt x="81323" y="72467"/>
                  <a:pt x="92231" y="72467"/>
                </a:cubicBezTo>
                <a:close/>
                <a:moveTo>
                  <a:pt x="151522" y="92231"/>
                </a:moveTo>
                <a:cubicBezTo>
                  <a:pt x="151522" y="81323"/>
                  <a:pt x="160377" y="72467"/>
                  <a:pt x="171285" y="72467"/>
                </a:cubicBezTo>
                <a:cubicBezTo>
                  <a:pt x="182193" y="72467"/>
                  <a:pt x="191049" y="81323"/>
                  <a:pt x="191049" y="92231"/>
                </a:cubicBezTo>
                <a:cubicBezTo>
                  <a:pt x="191049" y="103138"/>
                  <a:pt x="182193" y="111994"/>
                  <a:pt x="171285" y="111994"/>
                </a:cubicBezTo>
                <a:cubicBezTo>
                  <a:pt x="160377" y="111994"/>
                  <a:pt x="151522" y="103138"/>
                  <a:pt x="151522" y="92231"/>
                </a:cubicBezTo>
                <a:close/>
                <a:moveTo>
                  <a:pt x="26352" y="92231"/>
                </a:moveTo>
                <a:cubicBezTo>
                  <a:pt x="26352" y="84943"/>
                  <a:pt x="20464" y="79055"/>
                  <a:pt x="13176" y="79055"/>
                </a:cubicBezTo>
                <a:cubicBezTo>
                  <a:pt x="5888" y="79055"/>
                  <a:pt x="0" y="84943"/>
                  <a:pt x="0" y="92231"/>
                </a:cubicBezTo>
                <a:lnTo>
                  <a:pt x="0" y="131758"/>
                </a:lnTo>
                <a:cubicBezTo>
                  <a:pt x="0" y="139046"/>
                  <a:pt x="5888" y="144934"/>
                  <a:pt x="13176" y="144934"/>
                </a:cubicBezTo>
                <a:cubicBezTo>
                  <a:pt x="20464" y="144934"/>
                  <a:pt x="26352" y="139046"/>
                  <a:pt x="26352" y="131758"/>
                </a:cubicBezTo>
                <a:lnTo>
                  <a:pt x="26352" y="92231"/>
                </a:lnTo>
                <a:close/>
                <a:moveTo>
                  <a:pt x="250340" y="79055"/>
                </a:moveTo>
                <a:cubicBezTo>
                  <a:pt x="243052" y="79055"/>
                  <a:pt x="237164" y="84943"/>
                  <a:pt x="237164" y="92231"/>
                </a:cubicBezTo>
                <a:lnTo>
                  <a:pt x="237164" y="131758"/>
                </a:lnTo>
                <a:cubicBezTo>
                  <a:pt x="237164" y="139046"/>
                  <a:pt x="243052" y="144934"/>
                  <a:pt x="250340" y="144934"/>
                </a:cubicBezTo>
                <a:cubicBezTo>
                  <a:pt x="257628" y="144934"/>
                  <a:pt x="263516" y="139046"/>
                  <a:pt x="263516" y="131758"/>
                </a:cubicBezTo>
                <a:lnTo>
                  <a:pt x="263516" y="92231"/>
                </a:lnTo>
                <a:cubicBezTo>
                  <a:pt x="263516" y="84943"/>
                  <a:pt x="257628" y="79055"/>
                  <a:pt x="250340" y="79055"/>
                </a:cubicBezTo>
                <a:close/>
              </a:path>
            </a:pathLst>
          </a:custGeom>
          <a:solidFill>
            <a:srgbClr val="1A1D24"/>
          </a:solidFill>
          <a:ln/>
        </p:spPr>
        <p:txBody>
          <a:bodyPr/>
          <a:lstStyle/>
          <a:p>
            <a:endParaRPr lang="en-GB"/>
          </a:p>
        </p:txBody>
      </p:sp>
      <p:sp>
        <p:nvSpPr>
          <p:cNvPr id="18" name="Text 16"/>
          <p:cNvSpPr/>
          <p:nvPr/>
        </p:nvSpPr>
        <p:spPr>
          <a:xfrm>
            <a:off x="1159470" y="4145160"/>
            <a:ext cx="5911539" cy="245948"/>
          </a:xfrm>
          <a:prstGeom prst="rect">
            <a:avLst/>
          </a:prstGeom>
          <a:noFill/>
          <a:ln/>
        </p:spPr>
        <p:txBody>
          <a:bodyPr wrap="square" lIns="0" tIns="0" rIns="0" bIns="0" rtlCol="0" anchor="ctr"/>
          <a:lstStyle/>
          <a:p>
            <a:pPr>
              <a:lnSpc>
                <a:spcPct val="120000"/>
              </a:lnSpc>
            </a:pPr>
            <a:r>
              <a:rPr lang="en-US" sz="1383" b="1" dirty="0">
                <a:solidFill>
                  <a:srgbClr val="EDF2F4"/>
                </a:solidFill>
                <a:latin typeface="Liter" pitchFamily="34" charset="0"/>
                <a:ea typeface="Liter" pitchFamily="34" charset="-122"/>
                <a:cs typeface="Liter" pitchFamily="34" charset="-120"/>
              </a:rPr>
              <a:t>Robotics + AI Integration</a:t>
            </a:r>
            <a:endParaRPr lang="en-US" sz="1600" dirty="0"/>
          </a:p>
        </p:txBody>
      </p:sp>
      <p:sp>
        <p:nvSpPr>
          <p:cNvPr id="19" name="Text 17"/>
          <p:cNvSpPr/>
          <p:nvPr/>
        </p:nvSpPr>
        <p:spPr>
          <a:xfrm>
            <a:off x="1159470" y="4461379"/>
            <a:ext cx="5893971" cy="456761"/>
          </a:xfrm>
          <a:prstGeom prst="rect">
            <a:avLst/>
          </a:prstGeom>
          <a:noFill/>
          <a:ln/>
        </p:spPr>
        <p:txBody>
          <a:bodyPr wrap="square" lIns="0" tIns="0" rIns="0" bIns="0" rtlCol="0" anchor="ctr"/>
          <a:lstStyle/>
          <a:p>
            <a:pPr>
              <a:lnSpc>
                <a:spcPct val="140000"/>
              </a:lnSpc>
            </a:pPr>
            <a:r>
              <a:rPr lang="en-US" sz="1107" dirty="0">
                <a:solidFill>
                  <a:srgbClr val="8D99AE"/>
                </a:solidFill>
                <a:latin typeface="Quattrocento Sans" pitchFamily="34" charset="0"/>
                <a:ea typeface="Quattrocento Sans" pitchFamily="34" charset="-122"/>
                <a:cs typeface="Quattrocento Sans" pitchFamily="34" charset="-120"/>
              </a:rPr>
              <a:t>The convergence of </a:t>
            </a:r>
            <a:r>
              <a:rPr lang="en-US" sz="1107" b="1" dirty="0">
                <a:solidFill>
                  <a:srgbClr val="C9A86A"/>
                </a:solidFill>
                <a:latin typeface="Quattrocento Sans" pitchFamily="34" charset="0"/>
                <a:ea typeface="Quattrocento Sans" pitchFamily="34" charset="-122"/>
                <a:cs typeface="Quattrocento Sans" pitchFamily="34" charset="-120"/>
              </a:rPr>
              <a:t>robotics and artificial intelligence</a:t>
            </a:r>
            <a:r>
              <a:rPr lang="en-US" sz="1107" dirty="0">
                <a:solidFill>
                  <a:srgbClr val="8D99AE"/>
                </a:solidFill>
                <a:latin typeface="Quattrocento Sans" pitchFamily="34" charset="0"/>
                <a:ea typeface="Quattrocento Sans" pitchFamily="34" charset="-122"/>
                <a:cs typeface="Quattrocento Sans" pitchFamily="34" charset="-120"/>
              </a:rPr>
              <a:t> enables autonomous systems that can perceive, decide, and act in complex real-world environments.</a:t>
            </a:r>
            <a:endParaRPr lang="en-US" sz="1600" dirty="0"/>
          </a:p>
        </p:txBody>
      </p:sp>
      <p:sp>
        <p:nvSpPr>
          <p:cNvPr id="20" name="Shape 18"/>
          <p:cNvSpPr/>
          <p:nvPr/>
        </p:nvSpPr>
        <p:spPr>
          <a:xfrm>
            <a:off x="346962" y="5345118"/>
            <a:ext cx="6816277" cy="1326363"/>
          </a:xfrm>
          <a:custGeom>
            <a:avLst/>
            <a:gdLst/>
            <a:ahLst/>
            <a:cxnLst/>
            <a:rect l="l" t="t" r="r" b="b"/>
            <a:pathLst>
              <a:path w="6816277" h="1326363">
                <a:moveTo>
                  <a:pt x="70271" y="0"/>
                </a:moveTo>
                <a:lnTo>
                  <a:pt x="6746006" y="0"/>
                </a:lnTo>
                <a:cubicBezTo>
                  <a:pt x="6784815" y="0"/>
                  <a:pt x="6816277" y="31461"/>
                  <a:pt x="6816277" y="70271"/>
                </a:cubicBezTo>
                <a:lnTo>
                  <a:pt x="6816277" y="1256092"/>
                </a:lnTo>
                <a:cubicBezTo>
                  <a:pt x="6816277" y="1294902"/>
                  <a:pt x="6784815" y="1326363"/>
                  <a:pt x="6746006" y="1326363"/>
                </a:cubicBezTo>
                <a:lnTo>
                  <a:pt x="70271" y="1326363"/>
                </a:lnTo>
                <a:cubicBezTo>
                  <a:pt x="31461" y="1326363"/>
                  <a:pt x="0" y="1294902"/>
                  <a:pt x="0" y="1256092"/>
                </a:cubicBezTo>
                <a:lnTo>
                  <a:pt x="0" y="70271"/>
                </a:lnTo>
                <a:cubicBezTo>
                  <a:pt x="0" y="31487"/>
                  <a:pt x="31487" y="0"/>
                  <a:pt x="70271" y="0"/>
                </a:cubicBezTo>
                <a:close/>
              </a:path>
            </a:pathLst>
          </a:custGeom>
          <a:gradFill flip="none" rotWithShape="1">
            <a:gsLst>
              <a:gs pos="0">
                <a:srgbClr val="C9A86A">
                  <a:alpha val="20000"/>
                </a:srgbClr>
              </a:gs>
              <a:gs pos="100000">
                <a:srgbClr val="000000">
                  <a:alpha val="0"/>
                </a:srgbClr>
              </a:gs>
            </a:gsLst>
            <a:lin ang="2700000" scaled="1"/>
          </a:gradFill>
          <a:ln w="12700">
            <a:solidFill>
              <a:srgbClr val="C9A86A">
                <a:alpha val="40000"/>
              </a:srgbClr>
            </a:solidFill>
            <a:prstDash val="solid"/>
          </a:ln>
        </p:spPr>
        <p:txBody>
          <a:bodyPr/>
          <a:lstStyle/>
          <a:p>
            <a:endParaRPr lang="en-GB"/>
          </a:p>
        </p:txBody>
      </p:sp>
      <p:sp>
        <p:nvSpPr>
          <p:cNvPr id="21" name="Shape 19"/>
          <p:cNvSpPr/>
          <p:nvPr/>
        </p:nvSpPr>
        <p:spPr>
          <a:xfrm>
            <a:off x="527032" y="5622770"/>
            <a:ext cx="491896" cy="491896"/>
          </a:xfrm>
          <a:custGeom>
            <a:avLst/>
            <a:gdLst/>
            <a:ahLst/>
            <a:cxnLst/>
            <a:rect l="l" t="t" r="r" b="b"/>
            <a:pathLst>
              <a:path w="491896" h="491896">
                <a:moveTo>
                  <a:pt x="70272" y="0"/>
                </a:moveTo>
                <a:lnTo>
                  <a:pt x="421624" y="0"/>
                </a:lnTo>
                <a:cubicBezTo>
                  <a:pt x="460434" y="0"/>
                  <a:pt x="491896" y="31462"/>
                  <a:pt x="491896" y="70272"/>
                </a:cubicBezTo>
                <a:lnTo>
                  <a:pt x="491896" y="421624"/>
                </a:lnTo>
                <a:cubicBezTo>
                  <a:pt x="491896" y="460434"/>
                  <a:pt x="460434" y="491896"/>
                  <a:pt x="421624" y="491896"/>
                </a:cubicBezTo>
                <a:lnTo>
                  <a:pt x="70272" y="491896"/>
                </a:lnTo>
                <a:cubicBezTo>
                  <a:pt x="31462" y="491896"/>
                  <a:pt x="0" y="460434"/>
                  <a:pt x="0" y="421624"/>
                </a:cubicBezTo>
                <a:lnTo>
                  <a:pt x="0" y="70272"/>
                </a:lnTo>
                <a:cubicBezTo>
                  <a:pt x="0" y="31488"/>
                  <a:pt x="31488" y="0"/>
                  <a:pt x="70272" y="0"/>
                </a:cubicBezTo>
                <a:close/>
              </a:path>
            </a:pathLst>
          </a:custGeom>
          <a:solidFill>
            <a:srgbClr val="4A6C8C"/>
          </a:solidFill>
          <a:ln/>
        </p:spPr>
        <p:txBody>
          <a:bodyPr/>
          <a:lstStyle/>
          <a:p>
            <a:endParaRPr lang="en-GB"/>
          </a:p>
        </p:txBody>
      </p:sp>
      <p:sp>
        <p:nvSpPr>
          <p:cNvPr id="22" name="Shape 20"/>
          <p:cNvSpPr/>
          <p:nvPr/>
        </p:nvSpPr>
        <p:spPr>
          <a:xfrm>
            <a:off x="654398" y="5763312"/>
            <a:ext cx="237164" cy="210813"/>
          </a:xfrm>
          <a:custGeom>
            <a:avLst/>
            <a:gdLst/>
            <a:ahLst/>
            <a:cxnLst/>
            <a:rect l="l" t="t" r="r" b="b"/>
            <a:pathLst>
              <a:path w="237164" h="210813">
                <a:moveTo>
                  <a:pt x="127435" y="-7782"/>
                </a:moveTo>
                <a:cubicBezTo>
                  <a:pt x="125746" y="-11076"/>
                  <a:pt x="122329" y="-13176"/>
                  <a:pt x="118623" y="-13176"/>
                </a:cubicBezTo>
                <a:cubicBezTo>
                  <a:pt x="114918" y="-13176"/>
                  <a:pt x="111500" y="-11076"/>
                  <a:pt x="109812" y="-7782"/>
                </a:cubicBezTo>
                <a:lnTo>
                  <a:pt x="79508" y="51591"/>
                </a:lnTo>
                <a:lnTo>
                  <a:pt x="13670" y="62050"/>
                </a:lnTo>
                <a:cubicBezTo>
                  <a:pt x="10005" y="62626"/>
                  <a:pt x="6958" y="65220"/>
                  <a:pt x="5806" y="68761"/>
                </a:cubicBezTo>
                <a:cubicBezTo>
                  <a:pt x="4653" y="72302"/>
                  <a:pt x="5600" y="76173"/>
                  <a:pt x="8194" y="78808"/>
                </a:cubicBezTo>
                <a:lnTo>
                  <a:pt x="55297" y="125952"/>
                </a:lnTo>
                <a:lnTo>
                  <a:pt x="44921" y="191790"/>
                </a:lnTo>
                <a:cubicBezTo>
                  <a:pt x="44345" y="195455"/>
                  <a:pt x="45868" y="199160"/>
                  <a:pt x="48874" y="201343"/>
                </a:cubicBezTo>
                <a:cubicBezTo>
                  <a:pt x="51880" y="203525"/>
                  <a:pt x="55832" y="203854"/>
                  <a:pt x="59168" y="202166"/>
                </a:cubicBezTo>
                <a:lnTo>
                  <a:pt x="118623" y="171944"/>
                </a:lnTo>
                <a:lnTo>
                  <a:pt x="178038" y="202166"/>
                </a:lnTo>
                <a:cubicBezTo>
                  <a:pt x="181332" y="203854"/>
                  <a:pt x="185326" y="203525"/>
                  <a:pt x="188331" y="201343"/>
                </a:cubicBezTo>
                <a:cubicBezTo>
                  <a:pt x="191337" y="199160"/>
                  <a:pt x="192861" y="195496"/>
                  <a:pt x="192284" y="191790"/>
                </a:cubicBezTo>
                <a:lnTo>
                  <a:pt x="181867" y="125952"/>
                </a:lnTo>
                <a:lnTo>
                  <a:pt x="228971" y="78808"/>
                </a:lnTo>
                <a:cubicBezTo>
                  <a:pt x="231606" y="76173"/>
                  <a:pt x="232512" y="72302"/>
                  <a:pt x="231359" y="68761"/>
                </a:cubicBezTo>
                <a:cubicBezTo>
                  <a:pt x="230206" y="65220"/>
                  <a:pt x="227200" y="62626"/>
                  <a:pt x="223494" y="62050"/>
                </a:cubicBezTo>
                <a:lnTo>
                  <a:pt x="157698" y="51591"/>
                </a:lnTo>
                <a:lnTo>
                  <a:pt x="127435" y="-7782"/>
                </a:lnTo>
                <a:close/>
              </a:path>
            </a:pathLst>
          </a:custGeom>
          <a:solidFill>
            <a:srgbClr val="EDF2F4"/>
          </a:solidFill>
          <a:ln/>
        </p:spPr>
        <p:txBody>
          <a:bodyPr/>
          <a:lstStyle/>
          <a:p>
            <a:endParaRPr lang="en-GB"/>
          </a:p>
        </p:txBody>
      </p:sp>
      <p:sp>
        <p:nvSpPr>
          <p:cNvPr id="23" name="Text 21"/>
          <p:cNvSpPr/>
          <p:nvPr/>
        </p:nvSpPr>
        <p:spPr>
          <a:xfrm>
            <a:off x="1159470" y="5622770"/>
            <a:ext cx="5911539" cy="245948"/>
          </a:xfrm>
          <a:prstGeom prst="rect">
            <a:avLst/>
          </a:prstGeom>
          <a:noFill/>
          <a:ln/>
        </p:spPr>
        <p:txBody>
          <a:bodyPr wrap="square" lIns="0" tIns="0" rIns="0" bIns="0" rtlCol="0" anchor="ctr"/>
          <a:lstStyle/>
          <a:p>
            <a:pPr>
              <a:lnSpc>
                <a:spcPct val="120000"/>
              </a:lnSpc>
            </a:pPr>
            <a:r>
              <a:rPr lang="en-US" sz="1383" b="1" dirty="0">
                <a:solidFill>
                  <a:srgbClr val="EDF2F4"/>
                </a:solidFill>
                <a:latin typeface="Liter" pitchFamily="34" charset="0"/>
                <a:ea typeface="Liter" pitchFamily="34" charset="-122"/>
                <a:cs typeface="Liter" pitchFamily="34" charset="-120"/>
              </a:rPr>
              <a:t>Visually Impactful &amp; Practical</a:t>
            </a:r>
            <a:endParaRPr lang="en-US" sz="1600" dirty="0"/>
          </a:p>
        </p:txBody>
      </p:sp>
      <p:sp>
        <p:nvSpPr>
          <p:cNvPr id="24" name="Text 22"/>
          <p:cNvSpPr/>
          <p:nvPr/>
        </p:nvSpPr>
        <p:spPr>
          <a:xfrm>
            <a:off x="1159470" y="5938989"/>
            <a:ext cx="5893971" cy="456761"/>
          </a:xfrm>
          <a:prstGeom prst="rect">
            <a:avLst/>
          </a:prstGeom>
          <a:noFill/>
          <a:ln/>
        </p:spPr>
        <p:txBody>
          <a:bodyPr wrap="square" lIns="0" tIns="0" rIns="0" bIns="0" rtlCol="0" anchor="ctr"/>
          <a:lstStyle/>
          <a:p>
            <a:pPr>
              <a:lnSpc>
                <a:spcPct val="140000"/>
              </a:lnSpc>
            </a:pPr>
            <a:r>
              <a:rPr lang="en-US" sz="1107" dirty="0">
                <a:solidFill>
                  <a:srgbClr val="8D99AE"/>
                </a:solidFill>
                <a:latin typeface="Quattrocento Sans" pitchFamily="34" charset="0"/>
                <a:ea typeface="Quattrocento Sans" pitchFamily="34" charset="-122"/>
                <a:cs typeface="Quattrocento Sans" pitchFamily="34" charset="-120"/>
              </a:rPr>
              <a:t>This project is both </a:t>
            </a:r>
            <a:r>
              <a:rPr lang="en-US" sz="1107" b="1" dirty="0">
                <a:solidFill>
                  <a:srgbClr val="C9A86A"/>
                </a:solidFill>
                <a:latin typeface="Quattrocento Sans" pitchFamily="34" charset="0"/>
                <a:ea typeface="Quattrocento Sans" pitchFamily="34" charset="-122"/>
                <a:cs typeface="Quattrocento Sans" pitchFamily="34" charset="-120"/>
              </a:rPr>
              <a:t>demonstrable and practical</a:t>
            </a:r>
            <a:r>
              <a:rPr lang="en-US" sz="1107" dirty="0">
                <a:solidFill>
                  <a:srgbClr val="8D99AE"/>
                </a:solidFill>
                <a:latin typeface="Quattrocento Sans" pitchFamily="34" charset="0"/>
                <a:ea typeface="Quattrocento Sans" pitchFamily="34" charset="-122"/>
                <a:cs typeface="Quattrocento Sans" pitchFamily="34" charset="-120"/>
              </a:rPr>
              <a:t>, offering clear visual feedback and real-world applicability that makes it ideal for academic presentation.</a:t>
            </a:r>
            <a:endParaRPr lang="en-US" sz="1600" dirty="0"/>
          </a:p>
        </p:txBody>
      </p:sp>
      <p:sp>
        <p:nvSpPr>
          <p:cNvPr id="25" name="Shape 23"/>
          <p:cNvSpPr/>
          <p:nvPr/>
        </p:nvSpPr>
        <p:spPr>
          <a:xfrm>
            <a:off x="7348249" y="912424"/>
            <a:ext cx="4479769" cy="2520968"/>
          </a:xfrm>
          <a:custGeom>
            <a:avLst/>
            <a:gdLst/>
            <a:ahLst/>
            <a:cxnLst/>
            <a:rect l="l" t="t" r="r" b="b"/>
            <a:pathLst>
              <a:path w="4479769" h="2520968">
                <a:moveTo>
                  <a:pt x="70259" y="0"/>
                </a:moveTo>
                <a:lnTo>
                  <a:pt x="4409510" y="0"/>
                </a:lnTo>
                <a:cubicBezTo>
                  <a:pt x="4448313" y="0"/>
                  <a:pt x="4479769" y="31456"/>
                  <a:pt x="4479769" y="70259"/>
                </a:cubicBezTo>
                <a:lnTo>
                  <a:pt x="4479769" y="2450709"/>
                </a:lnTo>
                <a:cubicBezTo>
                  <a:pt x="4479769" y="2489512"/>
                  <a:pt x="4448313" y="2520968"/>
                  <a:pt x="4409510" y="2520968"/>
                </a:cubicBezTo>
                <a:lnTo>
                  <a:pt x="70259" y="2520968"/>
                </a:lnTo>
                <a:cubicBezTo>
                  <a:pt x="31456" y="2520968"/>
                  <a:pt x="0" y="2489512"/>
                  <a:pt x="0" y="2450709"/>
                </a:cubicBezTo>
                <a:lnTo>
                  <a:pt x="0" y="70259"/>
                </a:lnTo>
                <a:cubicBezTo>
                  <a:pt x="0" y="31482"/>
                  <a:pt x="31482" y="0"/>
                  <a:pt x="70259" y="0"/>
                </a:cubicBezTo>
                <a:close/>
              </a:path>
            </a:pathLst>
          </a:custGeom>
          <a:solidFill>
            <a:srgbClr val="4A6C8C">
              <a:alpha val="10196"/>
            </a:srgbClr>
          </a:solidFill>
          <a:ln w="12700">
            <a:solidFill>
              <a:srgbClr val="4A6C8C">
                <a:alpha val="30196"/>
              </a:srgbClr>
            </a:solidFill>
            <a:prstDash val="solid"/>
          </a:ln>
        </p:spPr>
        <p:txBody>
          <a:bodyPr/>
          <a:lstStyle/>
          <a:p>
            <a:endParaRPr lang="en-GB"/>
          </a:p>
        </p:txBody>
      </p:sp>
      <p:pic>
        <p:nvPicPr>
          <p:cNvPr id="26" name="Image 0" descr="https://kimi-web-img.moonshot.cn/img/www.roboticsandautomationmagazine.co.uk/1905ae27491b28de680d4c1369ac03f95d2fc0ce.jpeg"/>
          <p:cNvPicPr>
            <a:picLocks noChangeAspect="1"/>
          </p:cNvPicPr>
          <p:nvPr/>
        </p:nvPicPr>
        <p:blipFill>
          <a:blip r:embed="rId3">
            <a:alphaModFix amt="80000"/>
          </a:blip>
          <a:srcRect l="61" r="61"/>
          <a:stretch/>
        </p:blipFill>
        <p:spPr>
          <a:xfrm>
            <a:off x="7352641" y="916816"/>
            <a:ext cx="4470986" cy="2512184"/>
          </a:xfrm>
          <a:prstGeom prst="roundRect">
            <a:avLst>
              <a:gd name="adj" fmla="val 2797"/>
            </a:avLst>
          </a:prstGeom>
        </p:spPr>
      </p:pic>
      <p:sp>
        <p:nvSpPr>
          <p:cNvPr id="27" name="Shape 24"/>
          <p:cNvSpPr/>
          <p:nvPr/>
        </p:nvSpPr>
        <p:spPr>
          <a:xfrm>
            <a:off x="7361425" y="3577091"/>
            <a:ext cx="4470986" cy="1238524"/>
          </a:xfrm>
          <a:custGeom>
            <a:avLst/>
            <a:gdLst/>
            <a:ahLst/>
            <a:cxnLst/>
            <a:rect l="l" t="t" r="r" b="b"/>
            <a:pathLst>
              <a:path w="4470986" h="1238524">
                <a:moveTo>
                  <a:pt x="35135" y="0"/>
                </a:moveTo>
                <a:lnTo>
                  <a:pt x="4400712" y="0"/>
                </a:lnTo>
                <a:cubicBezTo>
                  <a:pt x="4439523" y="0"/>
                  <a:pt x="4470986" y="31463"/>
                  <a:pt x="4470986" y="70274"/>
                </a:cubicBezTo>
                <a:lnTo>
                  <a:pt x="4470986" y="1168251"/>
                </a:lnTo>
                <a:cubicBezTo>
                  <a:pt x="4470986" y="1207062"/>
                  <a:pt x="4439523" y="1238524"/>
                  <a:pt x="4400712" y="1238524"/>
                </a:cubicBezTo>
                <a:lnTo>
                  <a:pt x="35135" y="1238524"/>
                </a:lnTo>
                <a:cubicBezTo>
                  <a:pt x="15731" y="1238524"/>
                  <a:pt x="0" y="1222794"/>
                  <a:pt x="0" y="1203389"/>
                </a:cubicBezTo>
                <a:lnTo>
                  <a:pt x="0" y="35135"/>
                </a:lnTo>
                <a:cubicBezTo>
                  <a:pt x="0" y="15744"/>
                  <a:pt x="15744" y="0"/>
                  <a:pt x="35135" y="0"/>
                </a:cubicBezTo>
                <a:close/>
              </a:path>
            </a:pathLst>
          </a:custGeom>
          <a:gradFill flip="none" rotWithShape="1">
            <a:gsLst>
              <a:gs pos="0">
                <a:srgbClr val="C9A86A">
                  <a:alpha val="30000"/>
                </a:srgbClr>
              </a:gs>
              <a:gs pos="100000">
                <a:srgbClr val="000000">
                  <a:alpha val="0"/>
                </a:srgbClr>
              </a:gs>
            </a:gsLst>
            <a:lin ang="0" scaled="1"/>
          </a:gradFill>
          <a:ln/>
        </p:spPr>
        <p:txBody>
          <a:bodyPr/>
          <a:lstStyle/>
          <a:p>
            <a:endParaRPr lang="en-GB"/>
          </a:p>
        </p:txBody>
      </p:sp>
      <p:sp>
        <p:nvSpPr>
          <p:cNvPr id="28" name="Shape 25"/>
          <p:cNvSpPr/>
          <p:nvPr/>
        </p:nvSpPr>
        <p:spPr>
          <a:xfrm>
            <a:off x="7361425" y="3577091"/>
            <a:ext cx="35135" cy="1238524"/>
          </a:xfrm>
          <a:custGeom>
            <a:avLst/>
            <a:gdLst/>
            <a:ahLst/>
            <a:cxnLst/>
            <a:rect l="l" t="t" r="r" b="b"/>
            <a:pathLst>
              <a:path w="35135" h="1238524">
                <a:moveTo>
                  <a:pt x="35135" y="0"/>
                </a:moveTo>
                <a:lnTo>
                  <a:pt x="35135" y="0"/>
                </a:lnTo>
                <a:lnTo>
                  <a:pt x="35135" y="1238524"/>
                </a:lnTo>
                <a:lnTo>
                  <a:pt x="35135" y="1238524"/>
                </a:lnTo>
                <a:cubicBezTo>
                  <a:pt x="15731" y="1238524"/>
                  <a:pt x="0" y="1222794"/>
                  <a:pt x="0" y="1203389"/>
                </a:cubicBezTo>
                <a:lnTo>
                  <a:pt x="0" y="35135"/>
                </a:lnTo>
                <a:cubicBezTo>
                  <a:pt x="0" y="15744"/>
                  <a:pt x="15744" y="0"/>
                  <a:pt x="35135" y="0"/>
                </a:cubicBezTo>
                <a:close/>
              </a:path>
            </a:pathLst>
          </a:custGeom>
          <a:solidFill>
            <a:srgbClr val="C9A86A"/>
          </a:solidFill>
          <a:ln/>
        </p:spPr>
        <p:txBody>
          <a:bodyPr/>
          <a:lstStyle/>
          <a:p>
            <a:endParaRPr lang="en-GB"/>
          </a:p>
        </p:txBody>
      </p:sp>
      <p:sp>
        <p:nvSpPr>
          <p:cNvPr id="29" name="Shape 26"/>
          <p:cNvSpPr/>
          <p:nvPr/>
        </p:nvSpPr>
        <p:spPr>
          <a:xfrm>
            <a:off x="7596393" y="3796688"/>
            <a:ext cx="118582" cy="158110"/>
          </a:xfrm>
          <a:custGeom>
            <a:avLst/>
            <a:gdLst/>
            <a:ahLst/>
            <a:cxnLst/>
            <a:rect l="l" t="t" r="r" b="b"/>
            <a:pathLst>
              <a:path w="118582" h="158110">
                <a:moveTo>
                  <a:pt x="90450" y="118582"/>
                </a:moveTo>
                <a:cubicBezTo>
                  <a:pt x="92704" y="111696"/>
                  <a:pt x="97213" y="105458"/>
                  <a:pt x="102308" y="100085"/>
                </a:cubicBezTo>
                <a:cubicBezTo>
                  <a:pt x="112406" y="89462"/>
                  <a:pt x="118582" y="75102"/>
                  <a:pt x="118582" y="59291"/>
                </a:cubicBezTo>
                <a:cubicBezTo>
                  <a:pt x="118582" y="26557"/>
                  <a:pt x="92025" y="0"/>
                  <a:pt x="59291" y="0"/>
                </a:cubicBezTo>
                <a:cubicBezTo>
                  <a:pt x="26557" y="0"/>
                  <a:pt x="0" y="26557"/>
                  <a:pt x="0" y="59291"/>
                </a:cubicBezTo>
                <a:cubicBezTo>
                  <a:pt x="0" y="75102"/>
                  <a:pt x="6176" y="89462"/>
                  <a:pt x="16274" y="100085"/>
                </a:cubicBezTo>
                <a:cubicBezTo>
                  <a:pt x="21369" y="105458"/>
                  <a:pt x="25909" y="111696"/>
                  <a:pt x="28132" y="118582"/>
                </a:cubicBezTo>
                <a:lnTo>
                  <a:pt x="90419" y="118582"/>
                </a:lnTo>
                <a:close/>
                <a:moveTo>
                  <a:pt x="88937" y="133405"/>
                </a:moveTo>
                <a:lnTo>
                  <a:pt x="29646" y="133405"/>
                </a:lnTo>
                <a:lnTo>
                  <a:pt x="29646" y="138346"/>
                </a:lnTo>
                <a:cubicBezTo>
                  <a:pt x="29646" y="151995"/>
                  <a:pt x="40701" y="163050"/>
                  <a:pt x="54350" y="163050"/>
                </a:cubicBezTo>
                <a:lnTo>
                  <a:pt x="64232" y="163050"/>
                </a:lnTo>
                <a:cubicBezTo>
                  <a:pt x="77881" y="163050"/>
                  <a:pt x="88937" y="151995"/>
                  <a:pt x="88937" y="138346"/>
                </a:cubicBezTo>
                <a:lnTo>
                  <a:pt x="88937" y="133405"/>
                </a:lnTo>
                <a:close/>
                <a:moveTo>
                  <a:pt x="56821" y="34586"/>
                </a:moveTo>
                <a:cubicBezTo>
                  <a:pt x="44530" y="34586"/>
                  <a:pt x="34586" y="44530"/>
                  <a:pt x="34586" y="56821"/>
                </a:cubicBezTo>
                <a:cubicBezTo>
                  <a:pt x="34586" y="60928"/>
                  <a:pt x="31282" y="64232"/>
                  <a:pt x="27175" y="64232"/>
                </a:cubicBezTo>
                <a:cubicBezTo>
                  <a:pt x="23068" y="64232"/>
                  <a:pt x="19764" y="60928"/>
                  <a:pt x="19764" y="56821"/>
                </a:cubicBezTo>
                <a:cubicBezTo>
                  <a:pt x="19764" y="36347"/>
                  <a:pt x="36347" y="19764"/>
                  <a:pt x="56821" y="19764"/>
                </a:cubicBezTo>
                <a:cubicBezTo>
                  <a:pt x="60928" y="19764"/>
                  <a:pt x="64232" y="23068"/>
                  <a:pt x="64232" y="27175"/>
                </a:cubicBezTo>
                <a:cubicBezTo>
                  <a:pt x="64232" y="31282"/>
                  <a:pt x="60928" y="34586"/>
                  <a:pt x="56821" y="34586"/>
                </a:cubicBezTo>
                <a:close/>
              </a:path>
            </a:pathLst>
          </a:custGeom>
          <a:solidFill>
            <a:srgbClr val="C9A86A"/>
          </a:solidFill>
          <a:ln/>
        </p:spPr>
        <p:txBody>
          <a:bodyPr/>
          <a:lstStyle/>
          <a:p>
            <a:endParaRPr lang="en-GB"/>
          </a:p>
        </p:txBody>
      </p:sp>
      <p:sp>
        <p:nvSpPr>
          <p:cNvPr id="30" name="Text 27"/>
          <p:cNvSpPr/>
          <p:nvPr/>
        </p:nvSpPr>
        <p:spPr>
          <a:xfrm>
            <a:off x="7756699" y="3752768"/>
            <a:ext cx="3979089" cy="245948"/>
          </a:xfrm>
          <a:prstGeom prst="rect">
            <a:avLst/>
          </a:prstGeom>
          <a:noFill/>
          <a:ln/>
        </p:spPr>
        <p:txBody>
          <a:bodyPr wrap="square" lIns="0" tIns="0" rIns="0" bIns="0" rtlCol="0" anchor="ctr"/>
          <a:lstStyle/>
          <a:p>
            <a:pPr>
              <a:lnSpc>
                <a:spcPct val="130000"/>
              </a:lnSpc>
            </a:pPr>
            <a:r>
              <a:rPr lang="en-US" sz="1245" b="1" dirty="0">
                <a:solidFill>
                  <a:srgbClr val="EDF2F4"/>
                </a:solidFill>
                <a:latin typeface="Quattrocento Sans" pitchFamily="34" charset="0"/>
                <a:ea typeface="Quattrocento Sans" pitchFamily="34" charset="-122"/>
                <a:cs typeface="Quattrocento Sans" pitchFamily="34" charset="-120"/>
              </a:rPr>
              <a:t>Project Vision</a:t>
            </a:r>
            <a:endParaRPr lang="en-US" sz="1600" dirty="0"/>
          </a:p>
        </p:txBody>
      </p:sp>
      <p:sp>
        <p:nvSpPr>
          <p:cNvPr id="31" name="Text 28"/>
          <p:cNvSpPr/>
          <p:nvPr/>
        </p:nvSpPr>
        <p:spPr>
          <a:xfrm>
            <a:off x="7554670" y="4068987"/>
            <a:ext cx="4189902" cy="570951"/>
          </a:xfrm>
          <a:prstGeom prst="rect">
            <a:avLst/>
          </a:prstGeom>
          <a:noFill/>
          <a:ln/>
        </p:spPr>
        <p:txBody>
          <a:bodyPr wrap="square" lIns="0" tIns="0" rIns="0" bIns="0" rtlCol="0" anchor="ctr"/>
          <a:lstStyle/>
          <a:p>
            <a:pPr>
              <a:lnSpc>
                <a:spcPct val="140000"/>
              </a:lnSpc>
            </a:pPr>
            <a:r>
              <a:rPr lang="en-US" sz="1383" b="1" dirty="0">
                <a:solidFill>
                  <a:srgbClr val="C9A86A"/>
                </a:solidFill>
                <a:latin typeface="Liter" pitchFamily="34" charset="0"/>
                <a:ea typeface="Liter" pitchFamily="34" charset="-122"/>
                <a:cs typeface="Liter" pitchFamily="34" charset="-120"/>
              </a:rPr>
              <a:t>"We design a robot agent that perceives, decides, and acts."</a:t>
            </a:r>
            <a:endParaRPr lang="en-US" sz="1600" dirty="0"/>
          </a:p>
        </p:txBody>
      </p:sp>
      <p:sp>
        <p:nvSpPr>
          <p:cNvPr id="32" name="Shape 29"/>
          <p:cNvSpPr/>
          <p:nvPr/>
        </p:nvSpPr>
        <p:spPr>
          <a:xfrm>
            <a:off x="7343857" y="4956158"/>
            <a:ext cx="2195965" cy="808115"/>
          </a:xfrm>
          <a:custGeom>
            <a:avLst/>
            <a:gdLst/>
            <a:ahLst/>
            <a:cxnLst/>
            <a:rect l="l" t="t" r="r" b="b"/>
            <a:pathLst>
              <a:path w="2195965" h="808115">
                <a:moveTo>
                  <a:pt x="70274" y="0"/>
                </a:moveTo>
                <a:lnTo>
                  <a:pt x="2125692" y="0"/>
                </a:lnTo>
                <a:cubicBezTo>
                  <a:pt x="2164503" y="0"/>
                  <a:pt x="2195965" y="31463"/>
                  <a:pt x="2195965" y="70274"/>
                </a:cubicBezTo>
                <a:lnTo>
                  <a:pt x="2195965" y="737842"/>
                </a:lnTo>
                <a:cubicBezTo>
                  <a:pt x="2195965" y="776653"/>
                  <a:pt x="2164503" y="808115"/>
                  <a:pt x="2125692" y="808115"/>
                </a:cubicBezTo>
                <a:lnTo>
                  <a:pt x="70274" y="808115"/>
                </a:lnTo>
                <a:cubicBezTo>
                  <a:pt x="31463" y="808115"/>
                  <a:pt x="0" y="776653"/>
                  <a:pt x="0" y="737842"/>
                </a:cubicBezTo>
                <a:lnTo>
                  <a:pt x="0" y="70274"/>
                </a:lnTo>
                <a:cubicBezTo>
                  <a:pt x="0" y="31463"/>
                  <a:pt x="31463" y="0"/>
                  <a:pt x="70274" y="0"/>
                </a:cubicBezTo>
                <a:close/>
              </a:path>
            </a:pathLst>
          </a:custGeom>
          <a:solidFill>
            <a:srgbClr val="4A6C8C">
              <a:alpha val="20000"/>
            </a:srgbClr>
          </a:solidFill>
          <a:ln/>
        </p:spPr>
        <p:txBody>
          <a:bodyPr/>
          <a:lstStyle/>
          <a:p>
            <a:endParaRPr lang="en-GB"/>
          </a:p>
        </p:txBody>
      </p:sp>
      <p:sp>
        <p:nvSpPr>
          <p:cNvPr id="33" name="Shape 30"/>
          <p:cNvSpPr/>
          <p:nvPr/>
        </p:nvSpPr>
        <p:spPr>
          <a:xfrm>
            <a:off x="8321885" y="5061564"/>
            <a:ext cx="237164" cy="210813"/>
          </a:xfrm>
          <a:custGeom>
            <a:avLst/>
            <a:gdLst/>
            <a:ahLst/>
            <a:cxnLst/>
            <a:rect l="l" t="t" r="r" b="b"/>
            <a:pathLst>
              <a:path w="237164" h="210813">
                <a:moveTo>
                  <a:pt x="118582" y="13176"/>
                </a:moveTo>
                <a:cubicBezTo>
                  <a:pt x="85313" y="13176"/>
                  <a:pt x="58673" y="28328"/>
                  <a:pt x="39280" y="46362"/>
                </a:cubicBezTo>
                <a:cubicBezTo>
                  <a:pt x="20011" y="64273"/>
                  <a:pt x="7123" y="85643"/>
                  <a:pt x="988" y="100342"/>
                </a:cubicBezTo>
                <a:cubicBezTo>
                  <a:pt x="-371" y="103595"/>
                  <a:pt x="-371" y="107218"/>
                  <a:pt x="988" y="110471"/>
                </a:cubicBezTo>
                <a:cubicBezTo>
                  <a:pt x="7123" y="125170"/>
                  <a:pt x="20011" y="146581"/>
                  <a:pt x="39280" y="164450"/>
                </a:cubicBezTo>
                <a:cubicBezTo>
                  <a:pt x="58673" y="182444"/>
                  <a:pt x="85313" y="197637"/>
                  <a:pt x="118582" y="197637"/>
                </a:cubicBezTo>
                <a:cubicBezTo>
                  <a:pt x="151851" y="197637"/>
                  <a:pt x="178491" y="182485"/>
                  <a:pt x="197884" y="164450"/>
                </a:cubicBezTo>
                <a:cubicBezTo>
                  <a:pt x="217154" y="146540"/>
                  <a:pt x="230041" y="125170"/>
                  <a:pt x="236176" y="110471"/>
                </a:cubicBezTo>
                <a:cubicBezTo>
                  <a:pt x="237535" y="107218"/>
                  <a:pt x="237535" y="103595"/>
                  <a:pt x="236176" y="100342"/>
                </a:cubicBezTo>
                <a:cubicBezTo>
                  <a:pt x="230041" y="85643"/>
                  <a:pt x="217154" y="64232"/>
                  <a:pt x="197884" y="46362"/>
                </a:cubicBezTo>
                <a:cubicBezTo>
                  <a:pt x="178491" y="28369"/>
                  <a:pt x="151851" y="13176"/>
                  <a:pt x="118582" y="13176"/>
                </a:cubicBezTo>
                <a:close/>
                <a:moveTo>
                  <a:pt x="59291" y="105406"/>
                </a:moveTo>
                <a:cubicBezTo>
                  <a:pt x="59291" y="72683"/>
                  <a:pt x="85859" y="46115"/>
                  <a:pt x="118582" y="46115"/>
                </a:cubicBezTo>
                <a:cubicBezTo>
                  <a:pt x="151306" y="46115"/>
                  <a:pt x="177873" y="72683"/>
                  <a:pt x="177873" y="105406"/>
                </a:cubicBezTo>
                <a:cubicBezTo>
                  <a:pt x="177873" y="138130"/>
                  <a:pt x="151306" y="164697"/>
                  <a:pt x="118582" y="164697"/>
                </a:cubicBezTo>
                <a:cubicBezTo>
                  <a:pt x="85859" y="164697"/>
                  <a:pt x="59291" y="138130"/>
                  <a:pt x="59291" y="105406"/>
                </a:cubicBezTo>
                <a:close/>
                <a:moveTo>
                  <a:pt x="118582" y="79055"/>
                </a:moveTo>
                <a:cubicBezTo>
                  <a:pt x="118582" y="93589"/>
                  <a:pt x="106765" y="105406"/>
                  <a:pt x="92231" y="105406"/>
                </a:cubicBezTo>
                <a:cubicBezTo>
                  <a:pt x="87495" y="105406"/>
                  <a:pt x="83049" y="104171"/>
                  <a:pt x="79178" y="101948"/>
                </a:cubicBezTo>
                <a:cubicBezTo>
                  <a:pt x="78767" y="106436"/>
                  <a:pt x="79137" y="111047"/>
                  <a:pt x="80372" y="115618"/>
                </a:cubicBezTo>
                <a:cubicBezTo>
                  <a:pt x="86013" y="136699"/>
                  <a:pt x="107712" y="149216"/>
                  <a:pt x="128793" y="143575"/>
                </a:cubicBezTo>
                <a:cubicBezTo>
                  <a:pt x="149875" y="137934"/>
                  <a:pt x="162392" y="116235"/>
                  <a:pt x="156751" y="95154"/>
                </a:cubicBezTo>
                <a:cubicBezTo>
                  <a:pt x="151727" y="76337"/>
                  <a:pt x="133899" y="64356"/>
                  <a:pt x="115123" y="66002"/>
                </a:cubicBezTo>
                <a:cubicBezTo>
                  <a:pt x="117306" y="69832"/>
                  <a:pt x="118582" y="74279"/>
                  <a:pt x="118582" y="79055"/>
                </a:cubicBezTo>
                <a:close/>
              </a:path>
            </a:pathLst>
          </a:custGeom>
          <a:solidFill>
            <a:srgbClr val="C9A86A"/>
          </a:solidFill>
          <a:ln/>
        </p:spPr>
        <p:txBody>
          <a:bodyPr/>
          <a:lstStyle/>
          <a:p>
            <a:endParaRPr lang="en-GB"/>
          </a:p>
        </p:txBody>
      </p:sp>
      <p:sp>
        <p:nvSpPr>
          <p:cNvPr id="34" name="Text 31"/>
          <p:cNvSpPr/>
          <p:nvPr/>
        </p:nvSpPr>
        <p:spPr>
          <a:xfrm>
            <a:off x="7418520" y="5342647"/>
            <a:ext cx="2046640" cy="175677"/>
          </a:xfrm>
          <a:prstGeom prst="rect">
            <a:avLst/>
          </a:prstGeom>
          <a:noFill/>
          <a:ln/>
        </p:spPr>
        <p:txBody>
          <a:bodyPr wrap="square" lIns="0" tIns="0" rIns="0" bIns="0" rtlCol="0" anchor="ctr"/>
          <a:lstStyle/>
          <a:p>
            <a:pPr algn="ctr">
              <a:lnSpc>
                <a:spcPct val="120000"/>
              </a:lnSpc>
            </a:pPr>
            <a:r>
              <a:rPr lang="en-US" sz="968" b="1" dirty="0">
                <a:solidFill>
                  <a:srgbClr val="EDF2F4"/>
                </a:solidFill>
                <a:latin typeface="Quattrocento Sans" pitchFamily="34" charset="0"/>
                <a:ea typeface="Quattrocento Sans" pitchFamily="34" charset="-122"/>
                <a:cs typeface="Quattrocento Sans" pitchFamily="34" charset="-120"/>
              </a:rPr>
              <a:t>Perceive</a:t>
            </a:r>
            <a:endParaRPr lang="en-US" sz="1600" dirty="0"/>
          </a:p>
        </p:txBody>
      </p:sp>
      <p:sp>
        <p:nvSpPr>
          <p:cNvPr id="35" name="Text 32"/>
          <p:cNvSpPr/>
          <p:nvPr/>
        </p:nvSpPr>
        <p:spPr>
          <a:xfrm>
            <a:off x="7422912" y="5518325"/>
            <a:ext cx="2037856" cy="140542"/>
          </a:xfrm>
          <a:prstGeom prst="rect">
            <a:avLst/>
          </a:prstGeom>
          <a:noFill/>
          <a:ln/>
        </p:spPr>
        <p:txBody>
          <a:bodyPr wrap="square" lIns="0" tIns="0" rIns="0" bIns="0" rtlCol="0" anchor="ctr"/>
          <a:lstStyle/>
          <a:p>
            <a:pPr algn="ctr">
              <a:lnSpc>
                <a:spcPct val="110000"/>
              </a:lnSpc>
            </a:pPr>
            <a:r>
              <a:rPr lang="en-US" sz="830" dirty="0">
                <a:solidFill>
                  <a:srgbClr val="8D99AE"/>
                </a:solidFill>
                <a:latin typeface="Quattrocento Sans" pitchFamily="34" charset="0"/>
                <a:ea typeface="Quattrocento Sans" pitchFamily="34" charset="-122"/>
                <a:cs typeface="Quattrocento Sans" pitchFamily="34" charset="-120"/>
              </a:rPr>
              <a:t>Environment sensing</a:t>
            </a:r>
            <a:endParaRPr lang="en-US" sz="1600" dirty="0"/>
          </a:p>
        </p:txBody>
      </p:sp>
      <p:sp>
        <p:nvSpPr>
          <p:cNvPr id="36" name="Shape 33"/>
          <p:cNvSpPr/>
          <p:nvPr/>
        </p:nvSpPr>
        <p:spPr>
          <a:xfrm>
            <a:off x="9642484" y="4956158"/>
            <a:ext cx="2195965" cy="808115"/>
          </a:xfrm>
          <a:custGeom>
            <a:avLst/>
            <a:gdLst/>
            <a:ahLst/>
            <a:cxnLst/>
            <a:rect l="l" t="t" r="r" b="b"/>
            <a:pathLst>
              <a:path w="2195965" h="808115">
                <a:moveTo>
                  <a:pt x="70274" y="0"/>
                </a:moveTo>
                <a:lnTo>
                  <a:pt x="2125692" y="0"/>
                </a:lnTo>
                <a:cubicBezTo>
                  <a:pt x="2164503" y="0"/>
                  <a:pt x="2195965" y="31463"/>
                  <a:pt x="2195965" y="70274"/>
                </a:cubicBezTo>
                <a:lnTo>
                  <a:pt x="2195965" y="737842"/>
                </a:lnTo>
                <a:cubicBezTo>
                  <a:pt x="2195965" y="776653"/>
                  <a:pt x="2164503" y="808115"/>
                  <a:pt x="2125692" y="808115"/>
                </a:cubicBezTo>
                <a:lnTo>
                  <a:pt x="70274" y="808115"/>
                </a:lnTo>
                <a:cubicBezTo>
                  <a:pt x="31463" y="808115"/>
                  <a:pt x="0" y="776653"/>
                  <a:pt x="0" y="737842"/>
                </a:cubicBezTo>
                <a:lnTo>
                  <a:pt x="0" y="70274"/>
                </a:lnTo>
                <a:cubicBezTo>
                  <a:pt x="0" y="31463"/>
                  <a:pt x="31463" y="0"/>
                  <a:pt x="70274" y="0"/>
                </a:cubicBezTo>
                <a:close/>
              </a:path>
            </a:pathLst>
          </a:custGeom>
          <a:solidFill>
            <a:srgbClr val="4A6C8C">
              <a:alpha val="20000"/>
            </a:srgbClr>
          </a:solidFill>
          <a:ln/>
        </p:spPr>
        <p:txBody>
          <a:bodyPr/>
          <a:lstStyle/>
          <a:p>
            <a:endParaRPr lang="en-GB"/>
          </a:p>
        </p:txBody>
      </p:sp>
      <p:sp>
        <p:nvSpPr>
          <p:cNvPr id="37" name="Shape 34"/>
          <p:cNvSpPr/>
          <p:nvPr/>
        </p:nvSpPr>
        <p:spPr>
          <a:xfrm>
            <a:off x="10633688" y="5061564"/>
            <a:ext cx="210813" cy="210813"/>
          </a:xfrm>
          <a:custGeom>
            <a:avLst/>
            <a:gdLst/>
            <a:ahLst/>
            <a:cxnLst/>
            <a:rect l="l" t="t" r="r" b="b"/>
            <a:pathLst>
              <a:path w="210813" h="210813">
                <a:moveTo>
                  <a:pt x="49409" y="23058"/>
                </a:moveTo>
                <a:cubicBezTo>
                  <a:pt x="49409" y="10335"/>
                  <a:pt x="59744" y="0"/>
                  <a:pt x="72467" y="0"/>
                </a:cubicBezTo>
                <a:lnTo>
                  <a:pt x="82349" y="0"/>
                </a:lnTo>
                <a:cubicBezTo>
                  <a:pt x="89637" y="0"/>
                  <a:pt x="95524" y="5888"/>
                  <a:pt x="95524" y="13176"/>
                </a:cubicBezTo>
                <a:lnTo>
                  <a:pt x="95524" y="197637"/>
                </a:lnTo>
                <a:cubicBezTo>
                  <a:pt x="95524" y="204925"/>
                  <a:pt x="89637" y="210813"/>
                  <a:pt x="82349" y="210813"/>
                </a:cubicBezTo>
                <a:lnTo>
                  <a:pt x="69173" y="210813"/>
                </a:lnTo>
                <a:cubicBezTo>
                  <a:pt x="56903" y="210813"/>
                  <a:pt x="46568" y="202413"/>
                  <a:pt x="43645" y="191049"/>
                </a:cubicBezTo>
                <a:cubicBezTo>
                  <a:pt x="43357" y="191049"/>
                  <a:pt x="43110" y="191049"/>
                  <a:pt x="42821" y="191049"/>
                </a:cubicBezTo>
                <a:cubicBezTo>
                  <a:pt x="24622" y="191049"/>
                  <a:pt x="9882" y="176309"/>
                  <a:pt x="9882" y="158110"/>
                </a:cubicBezTo>
                <a:cubicBezTo>
                  <a:pt x="9882" y="150698"/>
                  <a:pt x="12352" y="143863"/>
                  <a:pt x="16470" y="138346"/>
                </a:cubicBezTo>
                <a:cubicBezTo>
                  <a:pt x="8482" y="132334"/>
                  <a:pt x="3294" y="122782"/>
                  <a:pt x="3294" y="111994"/>
                </a:cubicBezTo>
                <a:cubicBezTo>
                  <a:pt x="3294" y="99271"/>
                  <a:pt x="10541" y="88195"/>
                  <a:pt x="21081" y="82719"/>
                </a:cubicBezTo>
                <a:cubicBezTo>
                  <a:pt x="18158" y="77778"/>
                  <a:pt x="16470" y="72014"/>
                  <a:pt x="16470" y="65879"/>
                </a:cubicBezTo>
                <a:cubicBezTo>
                  <a:pt x="16470" y="47680"/>
                  <a:pt x="31210" y="32939"/>
                  <a:pt x="49409" y="32939"/>
                </a:cubicBezTo>
                <a:lnTo>
                  <a:pt x="49409" y="23058"/>
                </a:lnTo>
                <a:close/>
                <a:moveTo>
                  <a:pt x="161403" y="23058"/>
                </a:moveTo>
                <a:lnTo>
                  <a:pt x="161403" y="32939"/>
                </a:lnTo>
                <a:cubicBezTo>
                  <a:pt x="179603" y="32939"/>
                  <a:pt x="194343" y="47680"/>
                  <a:pt x="194343" y="65879"/>
                </a:cubicBezTo>
                <a:cubicBezTo>
                  <a:pt x="194343" y="72055"/>
                  <a:pt x="192655" y="77820"/>
                  <a:pt x="189731" y="82719"/>
                </a:cubicBezTo>
                <a:cubicBezTo>
                  <a:pt x="200313" y="88195"/>
                  <a:pt x="207519" y="99230"/>
                  <a:pt x="207519" y="111994"/>
                </a:cubicBezTo>
                <a:cubicBezTo>
                  <a:pt x="207519" y="122782"/>
                  <a:pt x="202331" y="132334"/>
                  <a:pt x="194343" y="138346"/>
                </a:cubicBezTo>
                <a:cubicBezTo>
                  <a:pt x="198460" y="143863"/>
                  <a:pt x="200931" y="150698"/>
                  <a:pt x="200931" y="158110"/>
                </a:cubicBezTo>
                <a:cubicBezTo>
                  <a:pt x="200931" y="176309"/>
                  <a:pt x="186190" y="191049"/>
                  <a:pt x="167991" y="191049"/>
                </a:cubicBezTo>
                <a:cubicBezTo>
                  <a:pt x="167703" y="191049"/>
                  <a:pt x="167456" y="191049"/>
                  <a:pt x="167168" y="191049"/>
                </a:cubicBezTo>
                <a:cubicBezTo>
                  <a:pt x="164244" y="202413"/>
                  <a:pt x="153910" y="210813"/>
                  <a:pt x="141640" y="210813"/>
                </a:cubicBezTo>
                <a:lnTo>
                  <a:pt x="128464" y="210813"/>
                </a:lnTo>
                <a:cubicBezTo>
                  <a:pt x="121176" y="210813"/>
                  <a:pt x="115288" y="204925"/>
                  <a:pt x="115288" y="197637"/>
                </a:cubicBezTo>
                <a:lnTo>
                  <a:pt x="115288" y="13176"/>
                </a:lnTo>
                <a:cubicBezTo>
                  <a:pt x="115288" y="5888"/>
                  <a:pt x="121176" y="0"/>
                  <a:pt x="128464" y="0"/>
                </a:cubicBezTo>
                <a:lnTo>
                  <a:pt x="138346" y="0"/>
                </a:lnTo>
                <a:cubicBezTo>
                  <a:pt x="151069" y="0"/>
                  <a:pt x="161403" y="10335"/>
                  <a:pt x="161403" y="23058"/>
                </a:cubicBezTo>
                <a:close/>
              </a:path>
            </a:pathLst>
          </a:custGeom>
          <a:solidFill>
            <a:srgbClr val="C9A86A"/>
          </a:solidFill>
          <a:ln/>
        </p:spPr>
        <p:txBody>
          <a:bodyPr/>
          <a:lstStyle/>
          <a:p>
            <a:endParaRPr lang="en-GB"/>
          </a:p>
        </p:txBody>
      </p:sp>
      <p:sp>
        <p:nvSpPr>
          <p:cNvPr id="38" name="Text 35"/>
          <p:cNvSpPr/>
          <p:nvPr/>
        </p:nvSpPr>
        <p:spPr>
          <a:xfrm>
            <a:off x="9717147" y="5342647"/>
            <a:ext cx="2046640" cy="175677"/>
          </a:xfrm>
          <a:prstGeom prst="rect">
            <a:avLst/>
          </a:prstGeom>
          <a:noFill/>
          <a:ln/>
        </p:spPr>
        <p:txBody>
          <a:bodyPr wrap="square" lIns="0" tIns="0" rIns="0" bIns="0" rtlCol="0" anchor="ctr"/>
          <a:lstStyle/>
          <a:p>
            <a:pPr algn="ctr">
              <a:lnSpc>
                <a:spcPct val="120000"/>
              </a:lnSpc>
            </a:pPr>
            <a:r>
              <a:rPr lang="en-US" sz="968" b="1" dirty="0">
                <a:solidFill>
                  <a:srgbClr val="EDF2F4"/>
                </a:solidFill>
                <a:latin typeface="Quattrocento Sans" pitchFamily="34" charset="0"/>
                <a:ea typeface="Quattrocento Sans" pitchFamily="34" charset="-122"/>
                <a:cs typeface="Quattrocento Sans" pitchFamily="34" charset="-120"/>
              </a:rPr>
              <a:t>Decide</a:t>
            </a:r>
            <a:endParaRPr lang="en-US" sz="1600" dirty="0"/>
          </a:p>
        </p:txBody>
      </p:sp>
      <p:sp>
        <p:nvSpPr>
          <p:cNvPr id="39" name="Text 36"/>
          <p:cNvSpPr/>
          <p:nvPr/>
        </p:nvSpPr>
        <p:spPr>
          <a:xfrm>
            <a:off x="9721539" y="5518325"/>
            <a:ext cx="2037856" cy="140542"/>
          </a:xfrm>
          <a:prstGeom prst="rect">
            <a:avLst/>
          </a:prstGeom>
          <a:noFill/>
          <a:ln/>
        </p:spPr>
        <p:txBody>
          <a:bodyPr wrap="square" lIns="0" tIns="0" rIns="0" bIns="0" rtlCol="0" anchor="ctr"/>
          <a:lstStyle/>
          <a:p>
            <a:pPr algn="ctr">
              <a:lnSpc>
                <a:spcPct val="110000"/>
              </a:lnSpc>
            </a:pPr>
            <a:r>
              <a:rPr lang="en-US" sz="830" dirty="0">
                <a:solidFill>
                  <a:srgbClr val="8D99AE"/>
                </a:solidFill>
                <a:latin typeface="Quattrocento Sans" pitchFamily="34" charset="0"/>
                <a:ea typeface="Quattrocento Sans" pitchFamily="34" charset="-122"/>
                <a:cs typeface="Quattrocento Sans" pitchFamily="34" charset="-120"/>
              </a:rPr>
              <a:t>Intelligent planning</a:t>
            </a:r>
            <a:endParaRPr lang="en-US" sz="1600" dirty="0"/>
          </a:p>
        </p:txBody>
      </p:sp>
      <p:sp>
        <p:nvSpPr>
          <p:cNvPr id="40" name="Shape 37"/>
          <p:cNvSpPr/>
          <p:nvPr/>
        </p:nvSpPr>
        <p:spPr>
          <a:xfrm>
            <a:off x="8441839" y="5858960"/>
            <a:ext cx="2195965" cy="808115"/>
          </a:xfrm>
          <a:custGeom>
            <a:avLst/>
            <a:gdLst/>
            <a:ahLst/>
            <a:cxnLst/>
            <a:rect l="l" t="t" r="r" b="b"/>
            <a:pathLst>
              <a:path w="2195965" h="808115">
                <a:moveTo>
                  <a:pt x="70274" y="0"/>
                </a:moveTo>
                <a:lnTo>
                  <a:pt x="2125692" y="0"/>
                </a:lnTo>
                <a:cubicBezTo>
                  <a:pt x="2164503" y="0"/>
                  <a:pt x="2195965" y="31463"/>
                  <a:pt x="2195965" y="70274"/>
                </a:cubicBezTo>
                <a:lnTo>
                  <a:pt x="2195965" y="737842"/>
                </a:lnTo>
                <a:cubicBezTo>
                  <a:pt x="2195965" y="776653"/>
                  <a:pt x="2164503" y="808115"/>
                  <a:pt x="2125692" y="808115"/>
                </a:cubicBezTo>
                <a:lnTo>
                  <a:pt x="70274" y="808115"/>
                </a:lnTo>
                <a:cubicBezTo>
                  <a:pt x="31463" y="808115"/>
                  <a:pt x="0" y="776653"/>
                  <a:pt x="0" y="737842"/>
                </a:cubicBezTo>
                <a:lnTo>
                  <a:pt x="0" y="70274"/>
                </a:lnTo>
                <a:cubicBezTo>
                  <a:pt x="0" y="31463"/>
                  <a:pt x="31463" y="0"/>
                  <a:pt x="70274" y="0"/>
                </a:cubicBezTo>
                <a:close/>
              </a:path>
            </a:pathLst>
          </a:custGeom>
          <a:solidFill>
            <a:srgbClr val="4A6C8C">
              <a:alpha val="20000"/>
            </a:srgbClr>
          </a:solidFill>
          <a:ln/>
        </p:spPr>
        <p:txBody>
          <a:bodyPr/>
          <a:lstStyle/>
          <a:p>
            <a:endParaRPr lang="en-GB"/>
          </a:p>
        </p:txBody>
      </p:sp>
      <p:sp>
        <p:nvSpPr>
          <p:cNvPr id="41" name="Shape 38"/>
          <p:cNvSpPr/>
          <p:nvPr/>
        </p:nvSpPr>
        <p:spPr>
          <a:xfrm>
            <a:off x="9433043" y="5964366"/>
            <a:ext cx="210813" cy="210813"/>
          </a:xfrm>
          <a:custGeom>
            <a:avLst/>
            <a:gdLst/>
            <a:ahLst/>
            <a:cxnLst/>
            <a:rect l="l" t="t" r="r" b="b"/>
            <a:pathLst>
              <a:path w="210813" h="210813">
                <a:moveTo>
                  <a:pt x="118582" y="13176"/>
                </a:moveTo>
                <a:cubicBezTo>
                  <a:pt x="118582" y="5888"/>
                  <a:pt x="112694" y="0"/>
                  <a:pt x="105406" y="0"/>
                </a:cubicBezTo>
                <a:cubicBezTo>
                  <a:pt x="98118" y="0"/>
                  <a:pt x="92231" y="5888"/>
                  <a:pt x="92231" y="13176"/>
                </a:cubicBezTo>
                <a:lnTo>
                  <a:pt x="92231" y="98818"/>
                </a:lnTo>
                <a:cubicBezTo>
                  <a:pt x="92231" y="102442"/>
                  <a:pt x="89266" y="105406"/>
                  <a:pt x="85643" y="105406"/>
                </a:cubicBezTo>
                <a:cubicBezTo>
                  <a:pt x="82019" y="105406"/>
                  <a:pt x="79055" y="102442"/>
                  <a:pt x="79055" y="98818"/>
                </a:cubicBezTo>
                <a:lnTo>
                  <a:pt x="79055" y="26352"/>
                </a:lnTo>
                <a:cubicBezTo>
                  <a:pt x="79055" y="19064"/>
                  <a:pt x="73167" y="13176"/>
                  <a:pt x="65879" y="13176"/>
                </a:cubicBezTo>
                <a:cubicBezTo>
                  <a:pt x="58591" y="13176"/>
                  <a:pt x="52703" y="19064"/>
                  <a:pt x="52703" y="26352"/>
                </a:cubicBezTo>
                <a:lnTo>
                  <a:pt x="52703" y="138346"/>
                </a:lnTo>
                <a:cubicBezTo>
                  <a:pt x="52703" y="138963"/>
                  <a:pt x="52703" y="139622"/>
                  <a:pt x="52744" y="140240"/>
                </a:cubicBezTo>
                <a:lnTo>
                  <a:pt x="27834" y="116523"/>
                </a:lnTo>
                <a:cubicBezTo>
                  <a:pt x="21246" y="110265"/>
                  <a:pt x="10829" y="110512"/>
                  <a:pt x="4529" y="117100"/>
                </a:cubicBezTo>
                <a:cubicBezTo>
                  <a:pt x="-1770" y="123688"/>
                  <a:pt x="-1482" y="134105"/>
                  <a:pt x="5106" y="140405"/>
                </a:cubicBezTo>
                <a:lnTo>
                  <a:pt x="51386" y="184461"/>
                </a:lnTo>
                <a:cubicBezTo>
                  <a:pt x="69132" y="201384"/>
                  <a:pt x="92725" y="210813"/>
                  <a:pt x="117265" y="210813"/>
                </a:cubicBezTo>
                <a:lnTo>
                  <a:pt x="125170" y="210813"/>
                </a:lnTo>
                <a:cubicBezTo>
                  <a:pt x="165191" y="210813"/>
                  <a:pt x="197637" y="178367"/>
                  <a:pt x="197637" y="138346"/>
                </a:cubicBezTo>
                <a:lnTo>
                  <a:pt x="197637" y="52703"/>
                </a:lnTo>
                <a:cubicBezTo>
                  <a:pt x="197637" y="45415"/>
                  <a:pt x="191749" y="39527"/>
                  <a:pt x="184461" y="39527"/>
                </a:cubicBezTo>
                <a:cubicBezTo>
                  <a:pt x="177173" y="39527"/>
                  <a:pt x="171285" y="45415"/>
                  <a:pt x="171285" y="52703"/>
                </a:cubicBezTo>
                <a:lnTo>
                  <a:pt x="171285" y="98818"/>
                </a:lnTo>
                <a:cubicBezTo>
                  <a:pt x="171285" y="102442"/>
                  <a:pt x="168321" y="105406"/>
                  <a:pt x="164697" y="105406"/>
                </a:cubicBezTo>
                <a:cubicBezTo>
                  <a:pt x="161074" y="105406"/>
                  <a:pt x="158110" y="102442"/>
                  <a:pt x="158110" y="98818"/>
                </a:cubicBezTo>
                <a:lnTo>
                  <a:pt x="158110" y="26352"/>
                </a:lnTo>
                <a:cubicBezTo>
                  <a:pt x="158110" y="19064"/>
                  <a:pt x="152222" y="13176"/>
                  <a:pt x="144934" y="13176"/>
                </a:cubicBezTo>
                <a:cubicBezTo>
                  <a:pt x="137646" y="13176"/>
                  <a:pt x="131758" y="19064"/>
                  <a:pt x="131758" y="26352"/>
                </a:cubicBezTo>
                <a:lnTo>
                  <a:pt x="131758" y="98818"/>
                </a:lnTo>
                <a:cubicBezTo>
                  <a:pt x="131758" y="102442"/>
                  <a:pt x="128793" y="105406"/>
                  <a:pt x="125170" y="105406"/>
                </a:cubicBezTo>
                <a:cubicBezTo>
                  <a:pt x="121547" y="105406"/>
                  <a:pt x="118582" y="102442"/>
                  <a:pt x="118582" y="98818"/>
                </a:cubicBezTo>
                <a:lnTo>
                  <a:pt x="118582" y="13176"/>
                </a:lnTo>
                <a:close/>
              </a:path>
            </a:pathLst>
          </a:custGeom>
          <a:solidFill>
            <a:srgbClr val="C9A86A"/>
          </a:solidFill>
          <a:ln/>
        </p:spPr>
        <p:txBody>
          <a:bodyPr/>
          <a:lstStyle/>
          <a:p>
            <a:endParaRPr lang="en-GB"/>
          </a:p>
        </p:txBody>
      </p:sp>
      <p:sp>
        <p:nvSpPr>
          <p:cNvPr id="42" name="Text 39"/>
          <p:cNvSpPr/>
          <p:nvPr/>
        </p:nvSpPr>
        <p:spPr>
          <a:xfrm>
            <a:off x="8516502" y="6245450"/>
            <a:ext cx="2046640" cy="175677"/>
          </a:xfrm>
          <a:prstGeom prst="rect">
            <a:avLst/>
          </a:prstGeom>
          <a:noFill/>
          <a:ln/>
        </p:spPr>
        <p:txBody>
          <a:bodyPr wrap="square" lIns="0" tIns="0" rIns="0" bIns="0" rtlCol="0" anchor="ctr"/>
          <a:lstStyle/>
          <a:p>
            <a:pPr algn="ctr">
              <a:lnSpc>
                <a:spcPct val="120000"/>
              </a:lnSpc>
            </a:pPr>
            <a:r>
              <a:rPr lang="en-US" sz="968" b="1" dirty="0">
                <a:solidFill>
                  <a:srgbClr val="EDF2F4"/>
                </a:solidFill>
                <a:latin typeface="Quattrocento Sans" pitchFamily="34" charset="0"/>
                <a:ea typeface="Quattrocento Sans" pitchFamily="34" charset="-122"/>
                <a:cs typeface="Quattrocento Sans" pitchFamily="34" charset="-120"/>
              </a:rPr>
              <a:t>Act</a:t>
            </a:r>
            <a:endParaRPr lang="en-US" sz="1600" dirty="0"/>
          </a:p>
        </p:txBody>
      </p:sp>
      <p:sp>
        <p:nvSpPr>
          <p:cNvPr id="43" name="Text 40"/>
          <p:cNvSpPr/>
          <p:nvPr/>
        </p:nvSpPr>
        <p:spPr>
          <a:xfrm>
            <a:off x="8520894" y="6421127"/>
            <a:ext cx="2037856" cy="140542"/>
          </a:xfrm>
          <a:prstGeom prst="rect">
            <a:avLst/>
          </a:prstGeom>
          <a:noFill/>
          <a:ln/>
        </p:spPr>
        <p:txBody>
          <a:bodyPr wrap="square" lIns="0" tIns="0" rIns="0" bIns="0" rtlCol="0" anchor="ctr"/>
          <a:lstStyle/>
          <a:p>
            <a:pPr algn="ctr">
              <a:lnSpc>
                <a:spcPct val="110000"/>
              </a:lnSpc>
            </a:pPr>
            <a:r>
              <a:rPr lang="en-US" sz="830" dirty="0">
                <a:solidFill>
                  <a:srgbClr val="8D99AE"/>
                </a:solidFill>
                <a:latin typeface="Quattrocento Sans" pitchFamily="34" charset="0"/>
                <a:ea typeface="Quattrocento Sans" pitchFamily="34" charset="-122"/>
                <a:cs typeface="Quattrocento Sans" pitchFamily="34" charset="-120"/>
              </a:rPr>
              <a:t>Physical execution</a:t>
            </a:r>
            <a:endParaRPr lang="en-US" sz="1600" dirty="0"/>
          </a:p>
        </p:txBody>
      </p:sp>
    </p:spTree>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A1D24"/>
        </a:solidFill>
        <a:effectLst/>
      </p:bgPr>
    </p:bg>
    <p:spTree>
      <p:nvGrpSpPr>
        <p:cNvPr id="1" name=""/>
        <p:cNvGrpSpPr/>
        <p:nvPr/>
      </p:nvGrpSpPr>
      <p:grpSpPr>
        <a:xfrm>
          <a:off x="0" y="0"/>
          <a:ext cx="0" cy="0"/>
          <a:chOff x="0" y="0"/>
          <a:chExt cx="0" cy="0"/>
        </a:xfrm>
      </p:grpSpPr>
      <p:sp>
        <p:nvSpPr>
          <p:cNvPr id="2" name="Text 0"/>
          <p:cNvSpPr/>
          <p:nvPr/>
        </p:nvSpPr>
        <p:spPr>
          <a:xfrm>
            <a:off x="337729" y="337729"/>
            <a:ext cx="11584089" cy="202637"/>
          </a:xfrm>
          <a:prstGeom prst="rect">
            <a:avLst/>
          </a:prstGeom>
          <a:noFill/>
          <a:ln/>
        </p:spPr>
        <p:txBody>
          <a:bodyPr wrap="square" lIns="0" tIns="0" rIns="0" bIns="0" rtlCol="0" anchor="ctr"/>
          <a:lstStyle/>
          <a:p>
            <a:pPr>
              <a:lnSpc>
                <a:spcPct val="130000"/>
              </a:lnSpc>
            </a:pPr>
            <a:r>
              <a:rPr lang="en-US" sz="1064" b="1" kern="0" spc="106" dirty="0">
                <a:solidFill>
                  <a:srgbClr val="C9A86A"/>
                </a:solidFill>
                <a:latin typeface="Quattrocento Sans" pitchFamily="34" charset="0"/>
                <a:ea typeface="Quattrocento Sans" pitchFamily="34" charset="-122"/>
                <a:cs typeface="Quattrocento Sans" pitchFamily="34" charset="-120"/>
              </a:rPr>
              <a:t>Project 2 Architecture</a:t>
            </a:r>
            <a:endParaRPr lang="en-US" sz="1600" dirty="0"/>
          </a:p>
        </p:txBody>
      </p:sp>
      <p:sp>
        <p:nvSpPr>
          <p:cNvPr id="3" name="Text 1"/>
          <p:cNvSpPr/>
          <p:nvPr/>
        </p:nvSpPr>
        <p:spPr>
          <a:xfrm>
            <a:off x="337729" y="607911"/>
            <a:ext cx="11668521" cy="337729"/>
          </a:xfrm>
          <a:prstGeom prst="rect">
            <a:avLst/>
          </a:prstGeom>
          <a:noFill/>
          <a:ln/>
        </p:spPr>
        <p:txBody>
          <a:bodyPr wrap="square" lIns="0" tIns="0" rIns="0" bIns="0" rtlCol="0" anchor="ctr"/>
          <a:lstStyle/>
          <a:p>
            <a:pPr>
              <a:lnSpc>
                <a:spcPct val="90000"/>
              </a:lnSpc>
            </a:pPr>
            <a:r>
              <a:rPr lang="en-US" sz="2393" b="1" dirty="0">
                <a:solidFill>
                  <a:srgbClr val="EDF2F4"/>
                </a:solidFill>
                <a:latin typeface="Liter" pitchFamily="34" charset="0"/>
                <a:ea typeface="Liter" pitchFamily="34" charset="-122"/>
                <a:cs typeface="Liter" pitchFamily="34" charset="-120"/>
              </a:rPr>
              <a:t>Agent View: Inputs and Actions</a:t>
            </a:r>
            <a:endParaRPr lang="en-US" sz="1600" dirty="0"/>
          </a:p>
        </p:txBody>
      </p:sp>
      <p:sp>
        <p:nvSpPr>
          <p:cNvPr id="4" name="Shape 2"/>
          <p:cNvSpPr/>
          <p:nvPr/>
        </p:nvSpPr>
        <p:spPr>
          <a:xfrm>
            <a:off x="337729" y="1046958"/>
            <a:ext cx="810548" cy="33773"/>
          </a:xfrm>
          <a:custGeom>
            <a:avLst/>
            <a:gdLst/>
            <a:ahLst/>
            <a:cxnLst/>
            <a:rect l="l" t="t" r="r" b="b"/>
            <a:pathLst>
              <a:path w="810548" h="33773">
                <a:moveTo>
                  <a:pt x="0" y="0"/>
                </a:moveTo>
                <a:lnTo>
                  <a:pt x="810548" y="0"/>
                </a:lnTo>
                <a:lnTo>
                  <a:pt x="810548" y="33773"/>
                </a:lnTo>
                <a:lnTo>
                  <a:pt x="0" y="33773"/>
                </a:lnTo>
                <a:lnTo>
                  <a:pt x="0" y="0"/>
                </a:lnTo>
                <a:close/>
              </a:path>
            </a:pathLst>
          </a:custGeom>
          <a:solidFill>
            <a:srgbClr val="C9A86A"/>
          </a:solidFill>
          <a:ln/>
        </p:spPr>
        <p:txBody>
          <a:bodyPr/>
          <a:lstStyle/>
          <a:p>
            <a:endParaRPr lang="en-GB"/>
          </a:p>
        </p:txBody>
      </p:sp>
      <p:sp>
        <p:nvSpPr>
          <p:cNvPr id="5" name="Shape 3"/>
          <p:cNvSpPr/>
          <p:nvPr/>
        </p:nvSpPr>
        <p:spPr>
          <a:xfrm>
            <a:off x="346172" y="1258039"/>
            <a:ext cx="3706571" cy="4609994"/>
          </a:xfrm>
          <a:custGeom>
            <a:avLst/>
            <a:gdLst/>
            <a:ahLst/>
            <a:cxnLst/>
            <a:rect l="l" t="t" r="r" b="b"/>
            <a:pathLst>
              <a:path w="3706571" h="4609994">
                <a:moveTo>
                  <a:pt x="101301" y="0"/>
                </a:moveTo>
                <a:lnTo>
                  <a:pt x="3605270" y="0"/>
                </a:lnTo>
                <a:cubicBezTo>
                  <a:pt x="3661217" y="0"/>
                  <a:pt x="3706571" y="45354"/>
                  <a:pt x="3706571" y="101301"/>
                </a:cubicBezTo>
                <a:lnTo>
                  <a:pt x="3706571" y="4508694"/>
                </a:lnTo>
                <a:cubicBezTo>
                  <a:pt x="3706571" y="4564641"/>
                  <a:pt x="3661217" y="4609994"/>
                  <a:pt x="3605270" y="4609994"/>
                </a:cubicBezTo>
                <a:lnTo>
                  <a:pt x="101301" y="4609994"/>
                </a:lnTo>
                <a:cubicBezTo>
                  <a:pt x="45354" y="4609994"/>
                  <a:pt x="0" y="4564641"/>
                  <a:pt x="0" y="4508694"/>
                </a:cubicBezTo>
                <a:lnTo>
                  <a:pt x="0" y="101301"/>
                </a:lnTo>
                <a:cubicBezTo>
                  <a:pt x="0" y="45354"/>
                  <a:pt x="45354" y="0"/>
                  <a:pt x="101301" y="0"/>
                </a:cubicBezTo>
                <a:close/>
              </a:path>
            </a:pathLst>
          </a:custGeom>
          <a:gradFill flip="none" rotWithShape="1">
            <a:gsLst>
              <a:gs pos="0">
                <a:srgbClr val="4A6C8C">
                  <a:alpha val="30000"/>
                </a:srgbClr>
              </a:gs>
              <a:gs pos="100000">
                <a:srgbClr val="4A6C8C">
                  <a:alpha val="10000"/>
                </a:srgbClr>
              </a:gs>
            </a:gsLst>
            <a:lin ang="5400000" scaled="1"/>
          </a:gradFill>
          <a:ln w="25400">
            <a:solidFill>
              <a:srgbClr val="4A6C8C"/>
            </a:solidFill>
            <a:prstDash val="solid"/>
          </a:ln>
        </p:spPr>
        <p:txBody>
          <a:bodyPr/>
          <a:lstStyle/>
          <a:p>
            <a:endParaRPr lang="en-GB"/>
          </a:p>
        </p:txBody>
      </p:sp>
      <p:sp>
        <p:nvSpPr>
          <p:cNvPr id="6" name="Shape 4"/>
          <p:cNvSpPr/>
          <p:nvPr/>
        </p:nvSpPr>
        <p:spPr>
          <a:xfrm>
            <a:off x="523479" y="1435346"/>
            <a:ext cx="405274" cy="405274"/>
          </a:xfrm>
          <a:custGeom>
            <a:avLst/>
            <a:gdLst/>
            <a:ahLst/>
            <a:cxnLst/>
            <a:rect l="l" t="t" r="r" b="b"/>
            <a:pathLst>
              <a:path w="405274" h="405274">
                <a:moveTo>
                  <a:pt x="202637" y="0"/>
                </a:moveTo>
                <a:lnTo>
                  <a:pt x="202637" y="0"/>
                </a:lnTo>
                <a:cubicBezTo>
                  <a:pt x="314476" y="0"/>
                  <a:pt x="405274" y="90799"/>
                  <a:pt x="405274" y="202637"/>
                </a:cubicBezTo>
                <a:lnTo>
                  <a:pt x="405274" y="202637"/>
                </a:lnTo>
                <a:cubicBezTo>
                  <a:pt x="405274" y="314476"/>
                  <a:pt x="314476" y="405274"/>
                  <a:pt x="202637" y="405274"/>
                </a:cubicBezTo>
                <a:lnTo>
                  <a:pt x="202637" y="405274"/>
                </a:lnTo>
                <a:cubicBezTo>
                  <a:pt x="90799" y="405274"/>
                  <a:pt x="0" y="314476"/>
                  <a:pt x="0" y="202637"/>
                </a:cubicBezTo>
                <a:lnTo>
                  <a:pt x="0" y="202637"/>
                </a:lnTo>
                <a:cubicBezTo>
                  <a:pt x="0" y="90799"/>
                  <a:pt x="90799" y="0"/>
                  <a:pt x="202637" y="0"/>
                </a:cubicBezTo>
                <a:close/>
              </a:path>
            </a:pathLst>
          </a:custGeom>
          <a:solidFill>
            <a:srgbClr val="4A6C8C"/>
          </a:solidFill>
          <a:ln/>
        </p:spPr>
        <p:txBody>
          <a:bodyPr/>
          <a:lstStyle/>
          <a:p>
            <a:endParaRPr lang="en-GB"/>
          </a:p>
        </p:txBody>
      </p:sp>
      <p:sp>
        <p:nvSpPr>
          <p:cNvPr id="7" name="Shape 5"/>
          <p:cNvSpPr/>
          <p:nvPr/>
        </p:nvSpPr>
        <p:spPr>
          <a:xfrm>
            <a:off x="641684" y="1553551"/>
            <a:ext cx="168864" cy="168864"/>
          </a:xfrm>
          <a:custGeom>
            <a:avLst/>
            <a:gdLst/>
            <a:ahLst/>
            <a:cxnLst/>
            <a:rect l="l" t="t" r="r" b="b"/>
            <a:pathLst>
              <a:path w="168864" h="168864">
                <a:moveTo>
                  <a:pt x="76517" y="0"/>
                </a:moveTo>
                <a:cubicBezTo>
                  <a:pt x="127506" y="0"/>
                  <a:pt x="168864" y="41359"/>
                  <a:pt x="168864" y="92348"/>
                </a:cubicBezTo>
                <a:cubicBezTo>
                  <a:pt x="168864" y="96734"/>
                  <a:pt x="165335" y="100263"/>
                  <a:pt x="160949" y="100263"/>
                </a:cubicBezTo>
                <a:cubicBezTo>
                  <a:pt x="156562" y="100263"/>
                  <a:pt x="153033" y="96734"/>
                  <a:pt x="153033" y="92348"/>
                </a:cubicBezTo>
                <a:cubicBezTo>
                  <a:pt x="153033" y="50099"/>
                  <a:pt x="118766" y="15831"/>
                  <a:pt x="76517" y="15831"/>
                </a:cubicBezTo>
                <a:cubicBezTo>
                  <a:pt x="72130" y="15831"/>
                  <a:pt x="68601" y="12302"/>
                  <a:pt x="68601" y="7916"/>
                </a:cubicBezTo>
                <a:cubicBezTo>
                  <a:pt x="68601" y="3529"/>
                  <a:pt x="72130" y="0"/>
                  <a:pt x="76517" y="0"/>
                </a:cubicBezTo>
                <a:close/>
                <a:moveTo>
                  <a:pt x="68601" y="39578"/>
                </a:moveTo>
                <a:cubicBezTo>
                  <a:pt x="68601" y="35191"/>
                  <a:pt x="72130" y="31662"/>
                  <a:pt x="76517" y="31662"/>
                </a:cubicBezTo>
                <a:cubicBezTo>
                  <a:pt x="110026" y="31662"/>
                  <a:pt x="137202" y="58839"/>
                  <a:pt x="137202" y="92348"/>
                </a:cubicBezTo>
                <a:cubicBezTo>
                  <a:pt x="137202" y="96734"/>
                  <a:pt x="133673" y="100263"/>
                  <a:pt x="129287" y="100263"/>
                </a:cubicBezTo>
                <a:cubicBezTo>
                  <a:pt x="124900" y="100263"/>
                  <a:pt x="121371" y="96734"/>
                  <a:pt x="121371" y="92348"/>
                </a:cubicBezTo>
                <a:cubicBezTo>
                  <a:pt x="121371" y="67579"/>
                  <a:pt x="101286" y="47493"/>
                  <a:pt x="76517" y="47493"/>
                </a:cubicBezTo>
                <a:cubicBezTo>
                  <a:pt x="72130" y="47493"/>
                  <a:pt x="68601" y="43964"/>
                  <a:pt x="68601" y="39578"/>
                </a:cubicBezTo>
                <a:close/>
                <a:moveTo>
                  <a:pt x="8707" y="47064"/>
                </a:moveTo>
                <a:cubicBezTo>
                  <a:pt x="11609" y="41161"/>
                  <a:pt x="19393" y="40501"/>
                  <a:pt x="24043" y="45151"/>
                </a:cubicBezTo>
                <a:lnTo>
                  <a:pt x="66424" y="87532"/>
                </a:lnTo>
                <a:lnTo>
                  <a:pt x="76978" y="76978"/>
                </a:lnTo>
                <a:cubicBezTo>
                  <a:pt x="81101" y="72856"/>
                  <a:pt x="87796" y="72856"/>
                  <a:pt x="91919" y="76978"/>
                </a:cubicBezTo>
                <a:cubicBezTo>
                  <a:pt x="96042" y="81101"/>
                  <a:pt x="96042" y="87796"/>
                  <a:pt x="91919" y="91919"/>
                </a:cubicBezTo>
                <a:lnTo>
                  <a:pt x="81365" y="102473"/>
                </a:lnTo>
                <a:lnTo>
                  <a:pt x="123746" y="144854"/>
                </a:lnTo>
                <a:cubicBezTo>
                  <a:pt x="128396" y="149504"/>
                  <a:pt x="127704" y="157255"/>
                  <a:pt x="121833" y="160190"/>
                </a:cubicBezTo>
                <a:cubicBezTo>
                  <a:pt x="110553" y="165764"/>
                  <a:pt x="97889" y="168897"/>
                  <a:pt x="84465" y="168897"/>
                </a:cubicBezTo>
                <a:cubicBezTo>
                  <a:pt x="37830" y="168897"/>
                  <a:pt x="33" y="131101"/>
                  <a:pt x="33" y="84465"/>
                </a:cubicBezTo>
                <a:cubicBezTo>
                  <a:pt x="33" y="71042"/>
                  <a:pt x="3166" y="58344"/>
                  <a:pt x="8740" y="47097"/>
                </a:cubicBezTo>
                <a:close/>
              </a:path>
            </a:pathLst>
          </a:custGeom>
          <a:solidFill>
            <a:srgbClr val="EDF2F4"/>
          </a:solidFill>
          <a:ln/>
        </p:spPr>
        <p:txBody>
          <a:bodyPr/>
          <a:lstStyle/>
          <a:p>
            <a:endParaRPr lang="en-GB"/>
          </a:p>
        </p:txBody>
      </p:sp>
      <p:sp>
        <p:nvSpPr>
          <p:cNvPr id="8" name="Text 6"/>
          <p:cNvSpPr/>
          <p:nvPr/>
        </p:nvSpPr>
        <p:spPr>
          <a:xfrm>
            <a:off x="1030072" y="1519778"/>
            <a:ext cx="692343" cy="236410"/>
          </a:xfrm>
          <a:prstGeom prst="rect">
            <a:avLst/>
          </a:prstGeom>
          <a:noFill/>
          <a:ln/>
        </p:spPr>
        <p:txBody>
          <a:bodyPr wrap="square" lIns="0" tIns="0" rIns="0" bIns="0" rtlCol="0" anchor="ctr"/>
          <a:lstStyle/>
          <a:p>
            <a:pPr>
              <a:lnSpc>
                <a:spcPct val="120000"/>
              </a:lnSpc>
            </a:pPr>
            <a:r>
              <a:rPr lang="en-US" sz="1330" b="1" dirty="0">
                <a:solidFill>
                  <a:srgbClr val="EDF2F4"/>
                </a:solidFill>
                <a:latin typeface="Liter" pitchFamily="34" charset="0"/>
                <a:ea typeface="Liter" pitchFamily="34" charset="-122"/>
                <a:cs typeface="Liter" pitchFamily="34" charset="-120"/>
              </a:rPr>
              <a:t>Sensors</a:t>
            </a:r>
            <a:endParaRPr lang="en-US" sz="1600" dirty="0"/>
          </a:p>
        </p:txBody>
      </p:sp>
      <p:sp>
        <p:nvSpPr>
          <p:cNvPr id="9" name="Shape 7"/>
          <p:cNvSpPr/>
          <p:nvPr/>
        </p:nvSpPr>
        <p:spPr>
          <a:xfrm>
            <a:off x="540366" y="1975712"/>
            <a:ext cx="3335069" cy="878094"/>
          </a:xfrm>
          <a:custGeom>
            <a:avLst/>
            <a:gdLst/>
            <a:ahLst/>
            <a:cxnLst/>
            <a:rect l="l" t="t" r="r" b="b"/>
            <a:pathLst>
              <a:path w="3335069" h="878094">
                <a:moveTo>
                  <a:pt x="33773" y="0"/>
                </a:moveTo>
                <a:lnTo>
                  <a:pt x="3267526" y="0"/>
                </a:lnTo>
                <a:cubicBezTo>
                  <a:pt x="3304829" y="0"/>
                  <a:pt x="3335069" y="30240"/>
                  <a:pt x="3335069" y="67543"/>
                </a:cubicBezTo>
                <a:lnTo>
                  <a:pt x="3335069" y="810551"/>
                </a:lnTo>
                <a:cubicBezTo>
                  <a:pt x="3335069" y="847854"/>
                  <a:pt x="3304829" y="878094"/>
                  <a:pt x="3267526" y="878094"/>
                </a:cubicBezTo>
                <a:lnTo>
                  <a:pt x="33773" y="878094"/>
                </a:lnTo>
                <a:cubicBezTo>
                  <a:pt x="15121" y="878094"/>
                  <a:pt x="0" y="862974"/>
                  <a:pt x="0" y="844321"/>
                </a:cubicBezTo>
                <a:lnTo>
                  <a:pt x="0" y="33773"/>
                </a:lnTo>
                <a:cubicBezTo>
                  <a:pt x="0" y="15121"/>
                  <a:pt x="15121" y="0"/>
                  <a:pt x="33773" y="0"/>
                </a:cubicBezTo>
                <a:close/>
              </a:path>
            </a:pathLst>
          </a:custGeom>
          <a:solidFill>
            <a:srgbClr val="1A1D24">
              <a:alpha val="60000"/>
            </a:srgbClr>
          </a:solidFill>
          <a:ln/>
        </p:spPr>
        <p:txBody>
          <a:bodyPr/>
          <a:lstStyle/>
          <a:p>
            <a:endParaRPr lang="en-GB"/>
          </a:p>
        </p:txBody>
      </p:sp>
      <p:sp>
        <p:nvSpPr>
          <p:cNvPr id="10" name="Shape 8"/>
          <p:cNvSpPr/>
          <p:nvPr/>
        </p:nvSpPr>
        <p:spPr>
          <a:xfrm>
            <a:off x="540366" y="1975712"/>
            <a:ext cx="33773" cy="878094"/>
          </a:xfrm>
          <a:custGeom>
            <a:avLst/>
            <a:gdLst/>
            <a:ahLst/>
            <a:cxnLst/>
            <a:rect l="l" t="t" r="r" b="b"/>
            <a:pathLst>
              <a:path w="33773" h="878094">
                <a:moveTo>
                  <a:pt x="33773" y="0"/>
                </a:moveTo>
                <a:lnTo>
                  <a:pt x="33773" y="0"/>
                </a:lnTo>
                <a:lnTo>
                  <a:pt x="33773" y="878094"/>
                </a:lnTo>
                <a:lnTo>
                  <a:pt x="33773" y="878094"/>
                </a:lnTo>
                <a:cubicBezTo>
                  <a:pt x="15121" y="878094"/>
                  <a:pt x="0" y="862974"/>
                  <a:pt x="0" y="844321"/>
                </a:cubicBezTo>
                <a:lnTo>
                  <a:pt x="0" y="33773"/>
                </a:lnTo>
                <a:cubicBezTo>
                  <a:pt x="0" y="15121"/>
                  <a:pt x="15121" y="0"/>
                  <a:pt x="33773" y="0"/>
                </a:cubicBezTo>
                <a:close/>
              </a:path>
            </a:pathLst>
          </a:custGeom>
          <a:solidFill>
            <a:srgbClr val="C9A86A"/>
          </a:solidFill>
          <a:ln/>
        </p:spPr>
        <p:txBody>
          <a:bodyPr/>
          <a:lstStyle/>
          <a:p>
            <a:endParaRPr lang="en-GB"/>
          </a:p>
        </p:txBody>
      </p:sp>
      <p:sp>
        <p:nvSpPr>
          <p:cNvPr id="11" name="Shape 9"/>
          <p:cNvSpPr/>
          <p:nvPr/>
        </p:nvSpPr>
        <p:spPr>
          <a:xfrm>
            <a:off x="713452" y="2127690"/>
            <a:ext cx="168864" cy="168864"/>
          </a:xfrm>
          <a:custGeom>
            <a:avLst/>
            <a:gdLst/>
            <a:ahLst/>
            <a:cxnLst/>
            <a:rect l="l" t="t" r="r" b="b"/>
            <a:pathLst>
              <a:path w="168864" h="168864">
                <a:moveTo>
                  <a:pt x="49175" y="21372"/>
                </a:moveTo>
                <a:lnTo>
                  <a:pt x="45745" y="31662"/>
                </a:lnTo>
                <a:lnTo>
                  <a:pt x="21108" y="31662"/>
                </a:lnTo>
                <a:cubicBezTo>
                  <a:pt x="9466" y="31662"/>
                  <a:pt x="0" y="41128"/>
                  <a:pt x="0" y="52770"/>
                </a:cubicBezTo>
                <a:lnTo>
                  <a:pt x="0" y="137202"/>
                </a:lnTo>
                <a:cubicBezTo>
                  <a:pt x="0" y="148845"/>
                  <a:pt x="9466" y="158310"/>
                  <a:pt x="21108" y="158310"/>
                </a:cubicBezTo>
                <a:lnTo>
                  <a:pt x="147756" y="158310"/>
                </a:lnTo>
                <a:cubicBezTo>
                  <a:pt x="159399" y="158310"/>
                  <a:pt x="168864" y="148845"/>
                  <a:pt x="168864" y="137202"/>
                </a:cubicBezTo>
                <a:lnTo>
                  <a:pt x="168864" y="52770"/>
                </a:lnTo>
                <a:cubicBezTo>
                  <a:pt x="168864" y="41128"/>
                  <a:pt x="159399" y="31662"/>
                  <a:pt x="147756" y="31662"/>
                </a:cubicBezTo>
                <a:lnTo>
                  <a:pt x="123119" y="31662"/>
                </a:lnTo>
                <a:lnTo>
                  <a:pt x="119689" y="21372"/>
                </a:lnTo>
                <a:cubicBezTo>
                  <a:pt x="117545" y="14908"/>
                  <a:pt x="111510" y="10554"/>
                  <a:pt x="104683" y="10554"/>
                </a:cubicBezTo>
                <a:lnTo>
                  <a:pt x="64182" y="10554"/>
                </a:lnTo>
                <a:cubicBezTo>
                  <a:pt x="57354" y="10554"/>
                  <a:pt x="51319" y="14908"/>
                  <a:pt x="49175" y="21372"/>
                </a:cubicBezTo>
                <a:close/>
                <a:moveTo>
                  <a:pt x="84432" y="63324"/>
                </a:moveTo>
                <a:cubicBezTo>
                  <a:pt x="101907" y="63324"/>
                  <a:pt x="116094" y="77511"/>
                  <a:pt x="116094" y="94986"/>
                </a:cubicBezTo>
                <a:cubicBezTo>
                  <a:pt x="116094" y="112461"/>
                  <a:pt x="101907" y="126648"/>
                  <a:pt x="84432" y="126648"/>
                </a:cubicBezTo>
                <a:cubicBezTo>
                  <a:pt x="66957" y="126648"/>
                  <a:pt x="52770" y="112461"/>
                  <a:pt x="52770" y="94986"/>
                </a:cubicBezTo>
                <a:cubicBezTo>
                  <a:pt x="52770" y="77511"/>
                  <a:pt x="66957" y="63324"/>
                  <a:pt x="84432" y="63324"/>
                </a:cubicBezTo>
                <a:close/>
              </a:path>
            </a:pathLst>
          </a:custGeom>
          <a:solidFill>
            <a:srgbClr val="C9A86A"/>
          </a:solidFill>
          <a:ln/>
        </p:spPr>
        <p:txBody>
          <a:bodyPr/>
          <a:lstStyle/>
          <a:p>
            <a:endParaRPr lang="en-GB"/>
          </a:p>
        </p:txBody>
      </p:sp>
      <p:sp>
        <p:nvSpPr>
          <p:cNvPr id="12" name="Text 10"/>
          <p:cNvSpPr/>
          <p:nvPr/>
        </p:nvSpPr>
        <p:spPr>
          <a:xfrm>
            <a:off x="1004742" y="2110803"/>
            <a:ext cx="523479" cy="202637"/>
          </a:xfrm>
          <a:prstGeom prst="rect">
            <a:avLst/>
          </a:prstGeom>
          <a:noFill/>
          <a:ln/>
        </p:spPr>
        <p:txBody>
          <a:bodyPr wrap="square" lIns="0" tIns="0" rIns="0" bIns="0" rtlCol="0" anchor="ctr"/>
          <a:lstStyle/>
          <a:p>
            <a:pPr>
              <a:lnSpc>
                <a:spcPct val="130000"/>
              </a:lnSpc>
            </a:pPr>
            <a:r>
              <a:rPr lang="en-US" sz="1064" b="1" dirty="0">
                <a:solidFill>
                  <a:srgbClr val="EDF2F4"/>
                </a:solidFill>
                <a:latin typeface="Quattrocento Sans" pitchFamily="34" charset="0"/>
                <a:ea typeface="Quattrocento Sans" pitchFamily="34" charset="-122"/>
                <a:cs typeface="Quattrocento Sans" pitchFamily="34" charset="-120"/>
              </a:rPr>
              <a:t>Camera</a:t>
            </a:r>
            <a:endParaRPr lang="en-US" sz="1600" dirty="0"/>
          </a:p>
        </p:txBody>
      </p:sp>
      <p:sp>
        <p:nvSpPr>
          <p:cNvPr id="13" name="Text 11"/>
          <p:cNvSpPr/>
          <p:nvPr/>
        </p:nvSpPr>
        <p:spPr>
          <a:xfrm>
            <a:off x="692343" y="2380986"/>
            <a:ext cx="3107102" cy="337729"/>
          </a:xfrm>
          <a:prstGeom prst="rect">
            <a:avLst/>
          </a:prstGeom>
          <a:noFill/>
          <a:ln/>
        </p:spPr>
        <p:txBody>
          <a:bodyPr wrap="square" lIns="0" tIns="0" rIns="0" bIns="0" rtlCol="0" anchor="ctr"/>
          <a:lstStyle/>
          <a:p>
            <a:pPr>
              <a:lnSpc>
                <a:spcPct val="120000"/>
              </a:lnSpc>
            </a:pPr>
            <a:r>
              <a:rPr lang="en-US" sz="931" dirty="0">
                <a:solidFill>
                  <a:srgbClr val="8D99AE"/>
                </a:solidFill>
                <a:latin typeface="Quattrocento Sans" pitchFamily="34" charset="0"/>
                <a:ea typeface="Quattrocento Sans" pitchFamily="34" charset="-122"/>
                <a:cs typeface="Quattrocento Sans" pitchFamily="34" charset="-120"/>
              </a:rPr>
              <a:t>Object detection and classification for identifying waste items</a:t>
            </a:r>
            <a:endParaRPr lang="en-US" sz="1600" dirty="0"/>
          </a:p>
        </p:txBody>
      </p:sp>
      <p:sp>
        <p:nvSpPr>
          <p:cNvPr id="14" name="Shape 12"/>
          <p:cNvSpPr/>
          <p:nvPr/>
        </p:nvSpPr>
        <p:spPr>
          <a:xfrm>
            <a:off x="540366" y="2955125"/>
            <a:ext cx="3335069" cy="878094"/>
          </a:xfrm>
          <a:custGeom>
            <a:avLst/>
            <a:gdLst/>
            <a:ahLst/>
            <a:cxnLst/>
            <a:rect l="l" t="t" r="r" b="b"/>
            <a:pathLst>
              <a:path w="3335069" h="878094">
                <a:moveTo>
                  <a:pt x="33773" y="0"/>
                </a:moveTo>
                <a:lnTo>
                  <a:pt x="3267526" y="0"/>
                </a:lnTo>
                <a:cubicBezTo>
                  <a:pt x="3304829" y="0"/>
                  <a:pt x="3335069" y="30240"/>
                  <a:pt x="3335069" y="67543"/>
                </a:cubicBezTo>
                <a:lnTo>
                  <a:pt x="3335069" y="810551"/>
                </a:lnTo>
                <a:cubicBezTo>
                  <a:pt x="3335069" y="847854"/>
                  <a:pt x="3304829" y="878094"/>
                  <a:pt x="3267526" y="878094"/>
                </a:cubicBezTo>
                <a:lnTo>
                  <a:pt x="33773" y="878094"/>
                </a:lnTo>
                <a:cubicBezTo>
                  <a:pt x="15121" y="878094"/>
                  <a:pt x="0" y="862974"/>
                  <a:pt x="0" y="844321"/>
                </a:cubicBezTo>
                <a:lnTo>
                  <a:pt x="0" y="33773"/>
                </a:lnTo>
                <a:cubicBezTo>
                  <a:pt x="0" y="15121"/>
                  <a:pt x="15121" y="0"/>
                  <a:pt x="33773" y="0"/>
                </a:cubicBezTo>
                <a:close/>
              </a:path>
            </a:pathLst>
          </a:custGeom>
          <a:solidFill>
            <a:srgbClr val="1A1D24">
              <a:alpha val="60000"/>
            </a:srgbClr>
          </a:solidFill>
          <a:ln/>
        </p:spPr>
        <p:txBody>
          <a:bodyPr/>
          <a:lstStyle/>
          <a:p>
            <a:endParaRPr lang="en-GB"/>
          </a:p>
        </p:txBody>
      </p:sp>
      <p:sp>
        <p:nvSpPr>
          <p:cNvPr id="15" name="Shape 13"/>
          <p:cNvSpPr/>
          <p:nvPr/>
        </p:nvSpPr>
        <p:spPr>
          <a:xfrm>
            <a:off x="540366" y="2955125"/>
            <a:ext cx="33773" cy="878094"/>
          </a:xfrm>
          <a:custGeom>
            <a:avLst/>
            <a:gdLst/>
            <a:ahLst/>
            <a:cxnLst/>
            <a:rect l="l" t="t" r="r" b="b"/>
            <a:pathLst>
              <a:path w="33773" h="878094">
                <a:moveTo>
                  <a:pt x="33773" y="0"/>
                </a:moveTo>
                <a:lnTo>
                  <a:pt x="33773" y="0"/>
                </a:lnTo>
                <a:lnTo>
                  <a:pt x="33773" y="878094"/>
                </a:lnTo>
                <a:lnTo>
                  <a:pt x="33773" y="878094"/>
                </a:lnTo>
                <a:cubicBezTo>
                  <a:pt x="15121" y="878094"/>
                  <a:pt x="0" y="862974"/>
                  <a:pt x="0" y="844321"/>
                </a:cubicBezTo>
                <a:lnTo>
                  <a:pt x="0" y="33773"/>
                </a:lnTo>
                <a:cubicBezTo>
                  <a:pt x="0" y="15121"/>
                  <a:pt x="15121" y="0"/>
                  <a:pt x="33773" y="0"/>
                </a:cubicBezTo>
                <a:close/>
              </a:path>
            </a:pathLst>
          </a:custGeom>
          <a:solidFill>
            <a:srgbClr val="C9A86A"/>
          </a:solidFill>
          <a:ln/>
        </p:spPr>
        <p:txBody>
          <a:bodyPr/>
          <a:lstStyle/>
          <a:p>
            <a:endParaRPr lang="en-GB"/>
          </a:p>
        </p:txBody>
      </p:sp>
      <p:sp>
        <p:nvSpPr>
          <p:cNvPr id="16" name="Shape 14"/>
          <p:cNvSpPr/>
          <p:nvPr/>
        </p:nvSpPr>
        <p:spPr>
          <a:xfrm>
            <a:off x="702898" y="3107102"/>
            <a:ext cx="189972" cy="168864"/>
          </a:xfrm>
          <a:custGeom>
            <a:avLst/>
            <a:gdLst/>
            <a:ahLst/>
            <a:cxnLst/>
            <a:rect l="l" t="t" r="r" b="b"/>
            <a:pathLst>
              <a:path w="189972" h="168864">
                <a:moveTo>
                  <a:pt x="68964" y="170249"/>
                </a:moveTo>
                <a:cubicBezTo>
                  <a:pt x="62796" y="176417"/>
                  <a:pt x="52770" y="176417"/>
                  <a:pt x="46570" y="170249"/>
                </a:cubicBezTo>
                <a:lnTo>
                  <a:pt x="9268" y="132948"/>
                </a:lnTo>
                <a:cubicBezTo>
                  <a:pt x="3100" y="126780"/>
                  <a:pt x="3100" y="116754"/>
                  <a:pt x="9268" y="110553"/>
                </a:cubicBezTo>
                <a:lnTo>
                  <a:pt x="14875" y="104947"/>
                </a:lnTo>
                <a:lnTo>
                  <a:pt x="39116" y="129188"/>
                </a:lnTo>
                <a:cubicBezTo>
                  <a:pt x="42216" y="132288"/>
                  <a:pt x="47229" y="132288"/>
                  <a:pt x="50296" y="129188"/>
                </a:cubicBezTo>
                <a:cubicBezTo>
                  <a:pt x="53364" y="126088"/>
                  <a:pt x="53397" y="121074"/>
                  <a:pt x="50296" y="118007"/>
                </a:cubicBezTo>
                <a:lnTo>
                  <a:pt x="26055" y="93766"/>
                </a:lnTo>
                <a:lnTo>
                  <a:pt x="37236" y="82585"/>
                </a:lnTo>
                <a:lnTo>
                  <a:pt x="54023" y="99373"/>
                </a:lnTo>
                <a:cubicBezTo>
                  <a:pt x="57124" y="102473"/>
                  <a:pt x="62137" y="102473"/>
                  <a:pt x="65204" y="99373"/>
                </a:cubicBezTo>
                <a:cubicBezTo>
                  <a:pt x="68271" y="96272"/>
                  <a:pt x="68304" y="91259"/>
                  <a:pt x="65204" y="88192"/>
                </a:cubicBezTo>
                <a:lnTo>
                  <a:pt x="48417" y="71405"/>
                </a:lnTo>
                <a:lnTo>
                  <a:pt x="59597" y="60224"/>
                </a:lnTo>
                <a:lnTo>
                  <a:pt x="83838" y="84465"/>
                </a:lnTo>
                <a:cubicBezTo>
                  <a:pt x="86939" y="87565"/>
                  <a:pt x="91952" y="87565"/>
                  <a:pt x="95019" y="84465"/>
                </a:cubicBezTo>
                <a:cubicBezTo>
                  <a:pt x="98086" y="81365"/>
                  <a:pt x="98119" y="76352"/>
                  <a:pt x="95019" y="73284"/>
                </a:cubicBezTo>
                <a:lnTo>
                  <a:pt x="70778" y="49043"/>
                </a:lnTo>
                <a:lnTo>
                  <a:pt x="81959" y="37863"/>
                </a:lnTo>
                <a:lnTo>
                  <a:pt x="98746" y="54650"/>
                </a:lnTo>
                <a:cubicBezTo>
                  <a:pt x="101846" y="57750"/>
                  <a:pt x="106859" y="57750"/>
                  <a:pt x="109927" y="54650"/>
                </a:cubicBezTo>
                <a:cubicBezTo>
                  <a:pt x="112994" y="51550"/>
                  <a:pt x="113027" y="46537"/>
                  <a:pt x="109927" y="43469"/>
                </a:cubicBezTo>
                <a:lnTo>
                  <a:pt x="93139" y="26682"/>
                </a:lnTo>
                <a:lnTo>
                  <a:pt x="104320" y="15501"/>
                </a:lnTo>
                <a:lnTo>
                  <a:pt x="128561" y="39742"/>
                </a:lnTo>
                <a:cubicBezTo>
                  <a:pt x="131661" y="42843"/>
                  <a:pt x="136675" y="42843"/>
                  <a:pt x="139742" y="39742"/>
                </a:cubicBezTo>
                <a:cubicBezTo>
                  <a:pt x="142809" y="36642"/>
                  <a:pt x="142842" y="31629"/>
                  <a:pt x="139742" y="28562"/>
                </a:cubicBezTo>
                <a:lnTo>
                  <a:pt x="115501" y="4321"/>
                </a:lnTo>
                <a:lnTo>
                  <a:pt x="121107" y="-1286"/>
                </a:lnTo>
                <a:cubicBezTo>
                  <a:pt x="127275" y="-7454"/>
                  <a:pt x="137301" y="-7454"/>
                  <a:pt x="143502" y="-1286"/>
                </a:cubicBezTo>
                <a:lnTo>
                  <a:pt x="180902" y="35917"/>
                </a:lnTo>
                <a:cubicBezTo>
                  <a:pt x="187070" y="42084"/>
                  <a:pt x="187070" y="52110"/>
                  <a:pt x="180902" y="58311"/>
                </a:cubicBezTo>
                <a:lnTo>
                  <a:pt x="68964" y="170249"/>
                </a:lnTo>
                <a:close/>
              </a:path>
            </a:pathLst>
          </a:custGeom>
          <a:solidFill>
            <a:srgbClr val="C9A86A"/>
          </a:solidFill>
          <a:ln/>
        </p:spPr>
        <p:txBody>
          <a:bodyPr/>
          <a:lstStyle/>
          <a:p>
            <a:endParaRPr lang="en-GB"/>
          </a:p>
        </p:txBody>
      </p:sp>
      <p:sp>
        <p:nvSpPr>
          <p:cNvPr id="17" name="Text 15"/>
          <p:cNvSpPr/>
          <p:nvPr/>
        </p:nvSpPr>
        <p:spPr>
          <a:xfrm>
            <a:off x="1004742" y="3090216"/>
            <a:ext cx="1063845" cy="202637"/>
          </a:xfrm>
          <a:prstGeom prst="rect">
            <a:avLst/>
          </a:prstGeom>
          <a:noFill/>
          <a:ln/>
        </p:spPr>
        <p:txBody>
          <a:bodyPr wrap="square" lIns="0" tIns="0" rIns="0" bIns="0" rtlCol="0" anchor="ctr"/>
          <a:lstStyle/>
          <a:p>
            <a:pPr>
              <a:lnSpc>
                <a:spcPct val="130000"/>
              </a:lnSpc>
            </a:pPr>
            <a:r>
              <a:rPr lang="en-US" sz="1064" b="1" dirty="0">
                <a:solidFill>
                  <a:srgbClr val="EDF2F4"/>
                </a:solidFill>
                <a:latin typeface="Quattrocento Sans" pitchFamily="34" charset="0"/>
                <a:ea typeface="Quattrocento Sans" pitchFamily="34" charset="-122"/>
                <a:cs typeface="Quattrocento Sans" pitchFamily="34" charset="-120"/>
              </a:rPr>
              <a:t>Distance Sensors</a:t>
            </a:r>
            <a:endParaRPr lang="en-US" sz="1600" dirty="0"/>
          </a:p>
        </p:txBody>
      </p:sp>
      <p:sp>
        <p:nvSpPr>
          <p:cNvPr id="18" name="Text 16"/>
          <p:cNvSpPr/>
          <p:nvPr/>
        </p:nvSpPr>
        <p:spPr>
          <a:xfrm>
            <a:off x="692343" y="3360399"/>
            <a:ext cx="3107102" cy="337729"/>
          </a:xfrm>
          <a:prstGeom prst="rect">
            <a:avLst/>
          </a:prstGeom>
          <a:noFill/>
          <a:ln/>
        </p:spPr>
        <p:txBody>
          <a:bodyPr wrap="square" lIns="0" tIns="0" rIns="0" bIns="0" rtlCol="0" anchor="ctr"/>
          <a:lstStyle/>
          <a:p>
            <a:pPr>
              <a:lnSpc>
                <a:spcPct val="120000"/>
              </a:lnSpc>
            </a:pPr>
            <a:r>
              <a:rPr lang="en-US" sz="931" dirty="0">
                <a:solidFill>
                  <a:srgbClr val="8D99AE"/>
                </a:solidFill>
                <a:latin typeface="Quattrocento Sans" pitchFamily="34" charset="0"/>
                <a:ea typeface="Quattrocento Sans" pitchFamily="34" charset="-122"/>
                <a:cs typeface="Quattrocento Sans" pitchFamily="34" charset="-120"/>
              </a:rPr>
              <a:t>Ultrasonic and infrared for obstacle detection and navigation</a:t>
            </a:r>
            <a:endParaRPr lang="en-US" sz="1600" dirty="0"/>
          </a:p>
        </p:txBody>
      </p:sp>
      <p:sp>
        <p:nvSpPr>
          <p:cNvPr id="19" name="Shape 17"/>
          <p:cNvSpPr/>
          <p:nvPr/>
        </p:nvSpPr>
        <p:spPr>
          <a:xfrm>
            <a:off x="540366" y="3934537"/>
            <a:ext cx="3335069" cy="709230"/>
          </a:xfrm>
          <a:custGeom>
            <a:avLst/>
            <a:gdLst/>
            <a:ahLst/>
            <a:cxnLst/>
            <a:rect l="l" t="t" r="r" b="b"/>
            <a:pathLst>
              <a:path w="3335069" h="709230">
                <a:moveTo>
                  <a:pt x="33773" y="0"/>
                </a:moveTo>
                <a:lnTo>
                  <a:pt x="3267522" y="0"/>
                </a:lnTo>
                <a:cubicBezTo>
                  <a:pt x="3304827" y="0"/>
                  <a:pt x="3335069" y="30242"/>
                  <a:pt x="3335069" y="67547"/>
                </a:cubicBezTo>
                <a:lnTo>
                  <a:pt x="3335069" y="641683"/>
                </a:lnTo>
                <a:cubicBezTo>
                  <a:pt x="3335069" y="678988"/>
                  <a:pt x="3304827" y="709230"/>
                  <a:pt x="3267522" y="709230"/>
                </a:cubicBezTo>
                <a:lnTo>
                  <a:pt x="33773" y="709230"/>
                </a:lnTo>
                <a:cubicBezTo>
                  <a:pt x="15121" y="709230"/>
                  <a:pt x="0" y="694109"/>
                  <a:pt x="0" y="675457"/>
                </a:cubicBezTo>
                <a:lnTo>
                  <a:pt x="0" y="33773"/>
                </a:lnTo>
                <a:cubicBezTo>
                  <a:pt x="0" y="15121"/>
                  <a:pt x="15121" y="0"/>
                  <a:pt x="33773" y="0"/>
                </a:cubicBezTo>
                <a:close/>
              </a:path>
            </a:pathLst>
          </a:custGeom>
          <a:solidFill>
            <a:srgbClr val="1A1D24">
              <a:alpha val="60000"/>
            </a:srgbClr>
          </a:solidFill>
          <a:ln/>
        </p:spPr>
        <p:txBody>
          <a:bodyPr/>
          <a:lstStyle/>
          <a:p>
            <a:endParaRPr lang="en-GB"/>
          </a:p>
        </p:txBody>
      </p:sp>
      <p:sp>
        <p:nvSpPr>
          <p:cNvPr id="20" name="Shape 18"/>
          <p:cNvSpPr/>
          <p:nvPr/>
        </p:nvSpPr>
        <p:spPr>
          <a:xfrm>
            <a:off x="540366" y="3934537"/>
            <a:ext cx="33773" cy="709230"/>
          </a:xfrm>
          <a:custGeom>
            <a:avLst/>
            <a:gdLst/>
            <a:ahLst/>
            <a:cxnLst/>
            <a:rect l="l" t="t" r="r" b="b"/>
            <a:pathLst>
              <a:path w="33773" h="709230">
                <a:moveTo>
                  <a:pt x="33773" y="0"/>
                </a:moveTo>
                <a:lnTo>
                  <a:pt x="33773" y="0"/>
                </a:lnTo>
                <a:lnTo>
                  <a:pt x="33773" y="709230"/>
                </a:lnTo>
                <a:lnTo>
                  <a:pt x="33773" y="709230"/>
                </a:lnTo>
                <a:cubicBezTo>
                  <a:pt x="15121" y="709230"/>
                  <a:pt x="0" y="694109"/>
                  <a:pt x="0" y="675457"/>
                </a:cubicBezTo>
                <a:lnTo>
                  <a:pt x="0" y="33773"/>
                </a:lnTo>
                <a:cubicBezTo>
                  <a:pt x="0" y="15121"/>
                  <a:pt x="15121" y="0"/>
                  <a:pt x="33773" y="0"/>
                </a:cubicBezTo>
                <a:close/>
              </a:path>
            </a:pathLst>
          </a:custGeom>
          <a:solidFill>
            <a:srgbClr val="C9A86A"/>
          </a:solidFill>
          <a:ln/>
        </p:spPr>
        <p:txBody>
          <a:bodyPr/>
          <a:lstStyle/>
          <a:p>
            <a:endParaRPr lang="en-GB"/>
          </a:p>
        </p:txBody>
      </p:sp>
      <p:sp>
        <p:nvSpPr>
          <p:cNvPr id="21" name="Shape 19"/>
          <p:cNvSpPr/>
          <p:nvPr/>
        </p:nvSpPr>
        <p:spPr>
          <a:xfrm>
            <a:off x="692343" y="4086515"/>
            <a:ext cx="211080" cy="168864"/>
          </a:xfrm>
          <a:custGeom>
            <a:avLst/>
            <a:gdLst/>
            <a:ahLst/>
            <a:cxnLst/>
            <a:rect l="l" t="t" r="r" b="b"/>
            <a:pathLst>
              <a:path w="211080" h="168864">
                <a:moveTo>
                  <a:pt x="174141" y="42216"/>
                </a:moveTo>
                <a:cubicBezTo>
                  <a:pt x="177044" y="42216"/>
                  <a:pt x="179418" y="44591"/>
                  <a:pt x="179418" y="47493"/>
                </a:cubicBezTo>
                <a:lnTo>
                  <a:pt x="179418" y="121371"/>
                </a:lnTo>
                <a:cubicBezTo>
                  <a:pt x="179418" y="124274"/>
                  <a:pt x="177044" y="126648"/>
                  <a:pt x="174141" y="126648"/>
                </a:cubicBezTo>
                <a:lnTo>
                  <a:pt x="36939" y="126648"/>
                </a:lnTo>
                <a:cubicBezTo>
                  <a:pt x="34037" y="126648"/>
                  <a:pt x="31662" y="124274"/>
                  <a:pt x="31662" y="121371"/>
                </a:cubicBezTo>
                <a:lnTo>
                  <a:pt x="31662" y="47493"/>
                </a:lnTo>
                <a:cubicBezTo>
                  <a:pt x="31662" y="44591"/>
                  <a:pt x="34037" y="42216"/>
                  <a:pt x="36939" y="42216"/>
                </a:cubicBezTo>
                <a:lnTo>
                  <a:pt x="174141" y="42216"/>
                </a:lnTo>
                <a:close/>
                <a:moveTo>
                  <a:pt x="36939" y="21108"/>
                </a:moveTo>
                <a:cubicBezTo>
                  <a:pt x="22361" y="21108"/>
                  <a:pt x="10554" y="32915"/>
                  <a:pt x="10554" y="47493"/>
                </a:cubicBezTo>
                <a:lnTo>
                  <a:pt x="10554" y="121371"/>
                </a:lnTo>
                <a:cubicBezTo>
                  <a:pt x="10554" y="135949"/>
                  <a:pt x="22361" y="147756"/>
                  <a:pt x="36939" y="147756"/>
                </a:cubicBezTo>
                <a:lnTo>
                  <a:pt x="174141" y="147756"/>
                </a:lnTo>
                <a:cubicBezTo>
                  <a:pt x="188719" y="147756"/>
                  <a:pt x="200526" y="135949"/>
                  <a:pt x="200526" y="121371"/>
                </a:cubicBezTo>
                <a:lnTo>
                  <a:pt x="200526" y="105540"/>
                </a:lnTo>
                <a:cubicBezTo>
                  <a:pt x="206364" y="105540"/>
                  <a:pt x="211080" y="100824"/>
                  <a:pt x="211080" y="94986"/>
                </a:cubicBezTo>
                <a:lnTo>
                  <a:pt x="211080" y="73878"/>
                </a:lnTo>
                <a:cubicBezTo>
                  <a:pt x="211080" y="68040"/>
                  <a:pt x="206364" y="63324"/>
                  <a:pt x="200526" y="63324"/>
                </a:cubicBezTo>
                <a:lnTo>
                  <a:pt x="200526" y="47493"/>
                </a:lnTo>
                <a:cubicBezTo>
                  <a:pt x="200526" y="32915"/>
                  <a:pt x="188719" y="21108"/>
                  <a:pt x="174141" y="21108"/>
                </a:cubicBezTo>
                <a:lnTo>
                  <a:pt x="36939" y="21108"/>
                </a:lnTo>
                <a:close/>
                <a:moveTo>
                  <a:pt x="55409" y="58047"/>
                </a:moveTo>
                <a:cubicBezTo>
                  <a:pt x="51022" y="58047"/>
                  <a:pt x="47493" y="61576"/>
                  <a:pt x="47493" y="65963"/>
                </a:cubicBezTo>
                <a:lnTo>
                  <a:pt x="47493" y="102902"/>
                </a:lnTo>
                <a:cubicBezTo>
                  <a:pt x="47493" y="107288"/>
                  <a:pt x="51022" y="110817"/>
                  <a:pt x="55409" y="110817"/>
                </a:cubicBezTo>
                <a:lnTo>
                  <a:pt x="129287" y="110817"/>
                </a:lnTo>
                <a:cubicBezTo>
                  <a:pt x="133673" y="110817"/>
                  <a:pt x="137202" y="107288"/>
                  <a:pt x="137202" y="102902"/>
                </a:cubicBezTo>
                <a:lnTo>
                  <a:pt x="137202" y="65963"/>
                </a:lnTo>
                <a:cubicBezTo>
                  <a:pt x="137202" y="61576"/>
                  <a:pt x="133673" y="58047"/>
                  <a:pt x="129287" y="58047"/>
                </a:cubicBezTo>
                <a:lnTo>
                  <a:pt x="55409" y="58047"/>
                </a:lnTo>
                <a:close/>
              </a:path>
            </a:pathLst>
          </a:custGeom>
          <a:solidFill>
            <a:srgbClr val="C9A86A"/>
          </a:solidFill>
          <a:ln/>
        </p:spPr>
        <p:txBody>
          <a:bodyPr/>
          <a:lstStyle/>
          <a:p>
            <a:endParaRPr lang="en-GB"/>
          </a:p>
        </p:txBody>
      </p:sp>
      <p:sp>
        <p:nvSpPr>
          <p:cNvPr id="22" name="Text 20"/>
          <p:cNvSpPr/>
          <p:nvPr/>
        </p:nvSpPr>
        <p:spPr>
          <a:xfrm>
            <a:off x="1004742" y="4069629"/>
            <a:ext cx="827435" cy="202637"/>
          </a:xfrm>
          <a:prstGeom prst="rect">
            <a:avLst/>
          </a:prstGeom>
          <a:noFill/>
          <a:ln/>
        </p:spPr>
        <p:txBody>
          <a:bodyPr wrap="square" lIns="0" tIns="0" rIns="0" bIns="0" rtlCol="0" anchor="ctr"/>
          <a:lstStyle/>
          <a:p>
            <a:pPr>
              <a:lnSpc>
                <a:spcPct val="130000"/>
              </a:lnSpc>
            </a:pPr>
            <a:r>
              <a:rPr lang="en-US" sz="1064" b="1" dirty="0">
                <a:solidFill>
                  <a:srgbClr val="EDF2F4"/>
                </a:solidFill>
                <a:latin typeface="Quattrocento Sans" pitchFamily="34" charset="0"/>
                <a:ea typeface="Quattrocento Sans" pitchFamily="34" charset="-122"/>
                <a:cs typeface="Quattrocento Sans" pitchFamily="34" charset="-120"/>
              </a:rPr>
              <a:t>Battery Level</a:t>
            </a:r>
            <a:endParaRPr lang="en-US" sz="1600" dirty="0"/>
          </a:p>
        </p:txBody>
      </p:sp>
      <p:sp>
        <p:nvSpPr>
          <p:cNvPr id="23" name="Text 21"/>
          <p:cNvSpPr/>
          <p:nvPr/>
        </p:nvSpPr>
        <p:spPr>
          <a:xfrm>
            <a:off x="692343" y="4339812"/>
            <a:ext cx="3107102" cy="168864"/>
          </a:xfrm>
          <a:prstGeom prst="rect">
            <a:avLst/>
          </a:prstGeom>
          <a:noFill/>
          <a:ln/>
        </p:spPr>
        <p:txBody>
          <a:bodyPr wrap="square" lIns="0" tIns="0" rIns="0" bIns="0" rtlCol="0" anchor="ctr"/>
          <a:lstStyle/>
          <a:p>
            <a:pPr>
              <a:lnSpc>
                <a:spcPct val="120000"/>
              </a:lnSpc>
            </a:pPr>
            <a:r>
              <a:rPr lang="en-US" sz="931" dirty="0">
                <a:solidFill>
                  <a:srgbClr val="8D99AE"/>
                </a:solidFill>
                <a:latin typeface="Quattrocento Sans" pitchFamily="34" charset="0"/>
                <a:ea typeface="Quattrocento Sans" pitchFamily="34" charset="-122"/>
                <a:cs typeface="Quattrocento Sans" pitchFamily="34" charset="-120"/>
              </a:rPr>
              <a:t>Real-time power monitoring for energy management</a:t>
            </a:r>
            <a:endParaRPr lang="en-US" sz="1600" dirty="0"/>
          </a:p>
        </p:txBody>
      </p:sp>
      <p:sp>
        <p:nvSpPr>
          <p:cNvPr id="24" name="Shape 22"/>
          <p:cNvSpPr/>
          <p:nvPr/>
        </p:nvSpPr>
        <p:spPr>
          <a:xfrm>
            <a:off x="540366" y="4745086"/>
            <a:ext cx="3335069" cy="709230"/>
          </a:xfrm>
          <a:custGeom>
            <a:avLst/>
            <a:gdLst/>
            <a:ahLst/>
            <a:cxnLst/>
            <a:rect l="l" t="t" r="r" b="b"/>
            <a:pathLst>
              <a:path w="3335069" h="709230">
                <a:moveTo>
                  <a:pt x="33773" y="0"/>
                </a:moveTo>
                <a:lnTo>
                  <a:pt x="3267522" y="0"/>
                </a:lnTo>
                <a:cubicBezTo>
                  <a:pt x="3304827" y="0"/>
                  <a:pt x="3335069" y="30242"/>
                  <a:pt x="3335069" y="67547"/>
                </a:cubicBezTo>
                <a:lnTo>
                  <a:pt x="3335069" y="641683"/>
                </a:lnTo>
                <a:cubicBezTo>
                  <a:pt x="3335069" y="678988"/>
                  <a:pt x="3304827" y="709230"/>
                  <a:pt x="3267522" y="709230"/>
                </a:cubicBezTo>
                <a:lnTo>
                  <a:pt x="33773" y="709230"/>
                </a:lnTo>
                <a:cubicBezTo>
                  <a:pt x="15121" y="709230"/>
                  <a:pt x="0" y="694109"/>
                  <a:pt x="0" y="675457"/>
                </a:cubicBezTo>
                <a:lnTo>
                  <a:pt x="0" y="33773"/>
                </a:lnTo>
                <a:cubicBezTo>
                  <a:pt x="0" y="15121"/>
                  <a:pt x="15121" y="0"/>
                  <a:pt x="33773" y="0"/>
                </a:cubicBezTo>
                <a:close/>
              </a:path>
            </a:pathLst>
          </a:custGeom>
          <a:solidFill>
            <a:srgbClr val="1A1D24">
              <a:alpha val="60000"/>
            </a:srgbClr>
          </a:solidFill>
          <a:ln/>
        </p:spPr>
        <p:txBody>
          <a:bodyPr/>
          <a:lstStyle/>
          <a:p>
            <a:endParaRPr lang="en-GB"/>
          </a:p>
        </p:txBody>
      </p:sp>
      <p:sp>
        <p:nvSpPr>
          <p:cNvPr id="25" name="Shape 23"/>
          <p:cNvSpPr/>
          <p:nvPr/>
        </p:nvSpPr>
        <p:spPr>
          <a:xfrm>
            <a:off x="540366" y="4745086"/>
            <a:ext cx="33773" cy="709230"/>
          </a:xfrm>
          <a:custGeom>
            <a:avLst/>
            <a:gdLst/>
            <a:ahLst/>
            <a:cxnLst/>
            <a:rect l="l" t="t" r="r" b="b"/>
            <a:pathLst>
              <a:path w="33773" h="709230">
                <a:moveTo>
                  <a:pt x="33773" y="0"/>
                </a:moveTo>
                <a:lnTo>
                  <a:pt x="33773" y="0"/>
                </a:lnTo>
                <a:lnTo>
                  <a:pt x="33773" y="709230"/>
                </a:lnTo>
                <a:lnTo>
                  <a:pt x="33773" y="709230"/>
                </a:lnTo>
                <a:cubicBezTo>
                  <a:pt x="15121" y="709230"/>
                  <a:pt x="0" y="694109"/>
                  <a:pt x="0" y="675457"/>
                </a:cubicBezTo>
                <a:lnTo>
                  <a:pt x="0" y="33773"/>
                </a:lnTo>
                <a:cubicBezTo>
                  <a:pt x="0" y="15121"/>
                  <a:pt x="15121" y="0"/>
                  <a:pt x="33773" y="0"/>
                </a:cubicBezTo>
                <a:close/>
              </a:path>
            </a:pathLst>
          </a:custGeom>
          <a:solidFill>
            <a:srgbClr val="C9A86A"/>
          </a:solidFill>
          <a:ln/>
        </p:spPr>
        <p:txBody>
          <a:bodyPr/>
          <a:lstStyle/>
          <a:p>
            <a:endParaRPr lang="en-GB"/>
          </a:p>
        </p:txBody>
      </p:sp>
      <p:sp>
        <p:nvSpPr>
          <p:cNvPr id="26" name="Shape 24"/>
          <p:cNvSpPr/>
          <p:nvPr/>
        </p:nvSpPr>
        <p:spPr>
          <a:xfrm>
            <a:off x="713452" y="4897064"/>
            <a:ext cx="168864" cy="168864"/>
          </a:xfrm>
          <a:custGeom>
            <a:avLst/>
            <a:gdLst/>
            <a:ahLst/>
            <a:cxnLst/>
            <a:rect l="l" t="t" r="r" b="b"/>
            <a:pathLst>
              <a:path w="168864" h="168864">
                <a:moveTo>
                  <a:pt x="168864" y="15831"/>
                </a:moveTo>
                <a:cubicBezTo>
                  <a:pt x="168864" y="12170"/>
                  <a:pt x="166984" y="8773"/>
                  <a:pt x="163851" y="6860"/>
                </a:cubicBezTo>
                <a:cubicBezTo>
                  <a:pt x="160718" y="4947"/>
                  <a:pt x="156859" y="4749"/>
                  <a:pt x="153594" y="6398"/>
                </a:cubicBezTo>
                <a:lnTo>
                  <a:pt x="115270" y="25561"/>
                </a:lnTo>
                <a:lnTo>
                  <a:pt x="56101" y="5805"/>
                </a:lnTo>
                <a:cubicBezTo>
                  <a:pt x="53430" y="4914"/>
                  <a:pt x="50560" y="5112"/>
                  <a:pt x="48054" y="6365"/>
                </a:cubicBezTo>
                <a:lnTo>
                  <a:pt x="5838" y="27473"/>
                </a:lnTo>
                <a:cubicBezTo>
                  <a:pt x="2243" y="29287"/>
                  <a:pt x="0" y="32948"/>
                  <a:pt x="0" y="36939"/>
                </a:cubicBezTo>
                <a:lnTo>
                  <a:pt x="0" y="153033"/>
                </a:lnTo>
                <a:cubicBezTo>
                  <a:pt x="0" y="156694"/>
                  <a:pt x="1880" y="160091"/>
                  <a:pt x="5013" y="162004"/>
                </a:cubicBezTo>
                <a:cubicBezTo>
                  <a:pt x="8146" y="163917"/>
                  <a:pt x="12005" y="164115"/>
                  <a:pt x="15270" y="162466"/>
                </a:cubicBezTo>
                <a:lnTo>
                  <a:pt x="53562" y="143304"/>
                </a:lnTo>
                <a:lnTo>
                  <a:pt x="112730" y="163027"/>
                </a:lnTo>
                <a:cubicBezTo>
                  <a:pt x="115402" y="163917"/>
                  <a:pt x="118271" y="163719"/>
                  <a:pt x="120778" y="162466"/>
                </a:cubicBezTo>
                <a:lnTo>
                  <a:pt x="162994" y="141358"/>
                </a:lnTo>
                <a:cubicBezTo>
                  <a:pt x="166556" y="139577"/>
                  <a:pt x="168831" y="135916"/>
                  <a:pt x="168831" y="131925"/>
                </a:cubicBezTo>
                <a:lnTo>
                  <a:pt x="168831" y="15831"/>
                </a:lnTo>
                <a:close/>
                <a:moveTo>
                  <a:pt x="63324" y="124307"/>
                </a:moveTo>
                <a:lnTo>
                  <a:pt x="63324" y="30475"/>
                </a:lnTo>
                <a:lnTo>
                  <a:pt x="105540" y="44558"/>
                </a:lnTo>
                <a:lnTo>
                  <a:pt x="105540" y="138390"/>
                </a:lnTo>
                <a:lnTo>
                  <a:pt x="63324" y="124307"/>
                </a:lnTo>
                <a:close/>
              </a:path>
            </a:pathLst>
          </a:custGeom>
          <a:solidFill>
            <a:srgbClr val="C9A86A"/>
          </a:solidFill>
          <a:ln/>
        </p:spPr>
        <p:txBody>
          <a:bodyPr/>
          <a:lstStyle/>
          <a:p>
            <a:endParaRPr lang="en-GB"/>
          </a:p>
        </p:txBody>
      </p:sp>
      <p:sp>
        <p:nvSpPr>
          <p:cNvPr id="27" name="Text 25"/>
          <p:cNvSpPr/>
          <p:nvPr/>
        </p:nvSpPr>
        <p:spPr>
          <a:xfrm>
            <a:off x="1004742" y="4880177"/>
            <a:ext cx="1038515" cy="202637"/>
          </a:xfrm>
          <a:prstGeom prst="rect">
            <a:avLst/>
          </a:prstGeom>
          <a:noFill/>
          <a:ln/>
        </p:spPr>
        <p:txBody>
          <a:bodyPr wrap="square" lIns="0" tIns="0" rIns="0" bIns="0" rtlCol="0" anchor="ctr"/>
          <a:lstStyle/>
          <a:p>
            <a:pPr>
              <a:lnSpc>
                <a:spcPct val="130000"/>
              </a:lnSpc>
            </a:pPr>
            <a:r>
              <a:rPr lang="en-US" sz="1064" b="1" dirty="0">
                <a:solidFill>
                  <a:srgbClr val="EDF2F4"/>
                </a:solidFill>
                <a:latin typeface="Quattrocento Sans" pitchFamily="34" charset="0"/>
                <a:ea typeface="Quattrocento Sans" pitchFamily="34" charset="-122"/>
                <a:cs typeface="Quattrocento Sans" pitchFamily="34" charset="-120"/>
              </a:rPr>
              <a:t>Map Information</a:t>
            </a:r>
            <a:endParaRPr lang="en-US" sz="1600" dirty="0"/>
          </a:p>
        </p:txBody>
      </p:sp>
      <p:sp>
        <p:nvSpPr>
          <p:cNvPr id="28" name="Text 26"/>
          <p:cNvSpPr/>
          <p:nvPr/>
        </p:nvSpPr>
        <p:spPr>
          <a:xfrm>
            <a:off x="692343" y="5150360"/>
            <a:ext cx="3107102" cy="168864"/>
          </a:xfrm>
          <a:prstGeom prst="rect">
            <a:avLst/>
          </a:prstGeom>
          <a:noFill/>
          <a:ln/>
        </p:spPr>
        <p:txBody>
          <a:bodyPr wrap="square" lIns="0" tIns="0" rIns="0" bIns="0" rtlCol="0" anchor="ctr"/>
          <a:lstStyle/>
          <a:p>
            <a:pPr>
              <a:lnSpc>
                <a:spcPct val="120000"/>
              </a:lnSpc>
            </a:pPr>
            <a:r>
              <a:rPr lang="en-US" sz="931" dirty="0">
                <a:solidFill>
                  <a:srgbClr val="8D99AE"/>
                </a:solidFill>
                <a:latin typeface="Quattrocento Sans" pitchFamily="34" charset="0"/>
                <a:ea typeface="Quattrocento Sans" pitchFamily="34" charset="-122"/>
                <a:cs typeface="Quattrocento Sans" pitchFamily="34" charset="-120"/>
              </a:rPr>
              <a:t>SLAM-based environment mapping and localization</a:t>
            </a:r>
            <a:endParaRPr lang="en-US" sz="1600" dirty="0"/>
          </a:p>
        </p:txBody>
      </p:sp>
      <p:sp>
        <p:nvSpPr>
          <p:cNvPr id="29" name="Shape 27"/>
          <p:cNvSpPr/>
          <p:nvPr/>
        </p:nvSpPr>
        <p:spPr>
          <a:xfrm>
            <a:off x="4239944" y="1258039"/>
            <a:ext cx="3706571" cy="4609994"/>
          </a:xfrm>
          <a:custGeom>
            <a:avLst/>
            <a:gdLst/>
            <a:ahLst/>
            <a:cxnLst/>
            <a:rect l="l" t="t" r="r" b="b"/>
            <a:pathLst>
              <a:path w="3706571" h="4609994">
                <a:moveTo>
                  <a:pt x="101301" y="0"/>
                </a:moveTo>
                <a:lnTo>
                  <a:pt x="3605270" y="0"/>
                </a:lnTo>
                <a:cubicBezTo>
                  <a:pt x="3661217" y="0"/>
                  <a:pt x="3706571" y="45354"/>
                  <a:pt x="3706571" y="101301"/>
                </a:cubicBezTo>
                <a:lnTo>
                  <a:pt x="3706571" y="4508694"/>
                </a:lnTo>
                <a:cubicBezTo>
                  <a:pt x="3706571" y="4564641"/>
                  <a:pt x="3661217" y="4609994"/>
                  <a:pt x="3605270" y="4609994"/>
                </a:cubicBezTo>
                <a:lnTo>
                  <a:pt x="101301" y="4609994"/>
                </a:lnTo>
                <a:cubicBezTo>
                  <a:pt x="45354" y="4609994"/>
                  <a:pt x="0" y="4564641"/>
                  <a:pt x="0" y="4508694"/>
                </a:cubicBezTo>
                <a:lnTo>
                  <a:pt x="0" y="101301"/>
                </a:lnTo>
                <a:cubicBezTo>
                  <a:pt x="0" y="45354"/>
                  <a:pt x="45354" y="0"/>
                  <a:pt x="101301" y="0"/>
                </a:cubicBezTo>
                <a:close/>
              </a:path>
            </a:pathLst>
          </a:custGeom>
          <a:gradFill flip="none" rotWithShape="1">
            <a:gsLst>
              <a:gs pos="0">
                <a:srgbClr val="C9A86A">
                  <a:alpha val="30000"/>
                </a:srgbClr>
              </a:gs>
              <a:gs pos="100000">
                <a:srgbClr val="C9A86A">
                  <a:alpha val="10000"/>
                </a:srgbClr>
              </a:gs>
            </a:gsLst>
            <a:lin ang="5400000" scaled="1"/>
          </a:gradFill>
          <a:ln w="25400">
            <a:solidFill>
              <a:srgbClr val="C9A86A"/>
            </a:solidFill>
            <a:prstDash val="solid"/>
          </a:ln>
        </p:spPr>
        <p:txBody>
          <a:bodyPr/>
          <a:lstStyle/>
          <a:p>
            <a:endParaRPr lang="en-GB"/>
          </a:p>
        </p:txBody>
      </p:sp>
      <p:sp>
        <p:nvSpPr>
          <p:cNvPr id="30" name="Shape 28"/>
          <p:cNvSpPr/>
          <p:nvPr/>
        </p:nvSpPr>
        <p:spPr>
          <a:xfrm>
            <a:off x="4417252" y="1435346"/>
            <a:ext cx="405274" cy="405274"/>
          </a:xfrm>
          <a:custGeom>
            <a:avLst/>
            <a:gdLst/>
            <a:ahLst/>
            <a:cxnLst/>
            <a:rect l="l" t="t" r="r" b="b"/>
            <a:pathLst>
              <a:path w="405274" h="405274">
                <a:moveTo>
                  <a:pt x="202637" y="0"/>
                </a:moveTo>
                <a:lnTo>
                  <a:pt x="202637" y="0"/>
                </a:lnTo>
                <a:cubicBezTo>
                  <a:pt x="314476" y="0"/>
                  <a:pt x="405274" y="90799"/>
                  <a:pt x="405274" y="202637"/>
                </a:cubicBezTo>
                <a:lnTo>
                  <a:pt x="405274" y="202637"/>
                </a:lnTo>
                <a:cubicBezTo>
                  <a:pt x="405274" y="314476"/>
                  <a:pt x="314476" y="405274"/>
                  <a:pt x="202637" y="405274"/>
                </a:cubicBezTo>
                <a:lnTo>
                  <a:pt x="202637" y="405274"/>
                </a:lnTo>
                <a:cubicBezTo>
                  <a:pt x="90799" y="405274"/>
                  <a:pt x="0" y="314476"/>
                  <a:pt x="0" y="202637"/>
                </a:cubicBezTo>
                <a:lnTo>
                  <a:pt x="0" y="202637"/>
                </a:lnTo>
                <a:cubicBezTo>
                  <a:pt x="0" y="90799"/>
                  <a:pt x="90799" y="0"/>
                  <a:pt x="202637" y="0"/>
                </a:cubicBezTo>
                <a:close/>
              </a:path>
            </a:pathLst>
          </a:custGeom>
          <a:solidFill>
            <a:srgbClr val="C9A86A"/>
          </a:solidFill>
          <a:ln/>
        </p:spPr>
        <p:txBody>
          <a:bodyPr/>
          <a:lstStyle/>
          <a:p>
            <a:endParaRPr lang="en-GB"/>
          </a:p>
        </p:txBody>
      </p:sp>
      <p:sp>
        <p:nvSpPr>
          <p:cNvPr id="31" name="Shape 29"/>
          <p:cNvSpPr/>
          <p:nvPr/>
        </p:nvSpPr>
        <p:spPr>
          <a:xfrm>
            <a:off x="4514349" y="1553551"/>
            <a:ext cx="211080" cy="168864"/>
          </a:xfrm>
          <a:custGeom>
            <a:avLst/>
            <a:gdLst/>
            <a:ahLst/>
            <a:cxnLst/>
            <a:rect l="l" t="t" r="r" b="b"/>
            <a:pathLst>
              <a:path w="211080" h="168864">
                <a:moveTo>
                  <a:pt x="137169" y="69426"/>
                </a:moveTo>
                <a:cubicBezTo>
                  <a:pt x="141193" y="68337"/>
                  <a:pt x="145415" y="70250"/>
                  <a:pt x="147229" y="73977"/>
                </a:cubicBezTo>
                <a:lnTo>
                  <a:pt x="153363" y="86378"/>
                </a:lnTo>
                <a:cubicBezTo>
                  <a:pt x="156760" y="86840"/>
                  <a:pt x="160091" y="87763"/>
                  <a:pt x="163224" y="89050"/>
                </a:cubicBezTo>
                <a:lnTo>
                  <a:pt x="174768" y="81365"/>
                </a:lnTo>
                <a:cubicBezTo>
                  <a:pt x="178231" y="79056"/>
                  <a:pt x="182815" y="79518"/>
                  <a:pt x="185751" y="82453"/>
                </a:cubicBezTo>
                <a:lnTo>
                  <a:pt x="192083" y="88786"/>
                </a:lnTo>
                <a:cubicBezTo>
                  <a:pt x="195018" y="91721"/>
                  <a:pt x="195480" y="96338"/>
                  <a:pt x="193171" y="99768"/>
                </a:cubicBezTo>
                <a:lnTo>
                  <a:pt x="185487" y="111279"/>
                </a:lnTo>
                <a:cubicBezTo>
                  <a:pt x="186113" y="112829"/>
                  <a:pt x="186674" y="114445"/>
                  <a:pt x="187136" y="116127"/>
                </a:cubicBezTo>
                <a:cubicBezTo>
                  <a:pt x="187598" y="117809"/>
                  <a:pt x="187894" y="119458"/>
                  <a:pt x="188125" y="121140"/>
                </a:cubicBezTo>
                <a:lnTo>
                  <a:pt x="200559" y="127275"/>
                </a:lnTo>
                <a:cubicBezTo>
                  <a:pt x="204286" y="129122"/>
                  <a:pt x="206199" y="133343"/>
                  <a:pt x="205111" y="137334"/>
                </a:cubicBezTo>
                <a:lnTo>
                  <a:pt x="202802" y="145975"/>
                </a:lnTo>
                <a:cubicBezTo>
                  <a:pt x="201714" y="149966"/>
                  <a:pt x="197987" y="152670"/>
                  <a:pt x="193831" y="152407"/>
                </a:cubicBezTo>
                <a:lnTo>
                  <a:pt x="179979" y="151516"/>
                </a:lnTo>
                <a:cubicBezTo>
                  <a:pt x="177901" y="154188"/>
                  <a:pt x="175494" y="156661"/>
                  <a:pt x="172756" y="158772"/>
                </a:cubicBezTo>
                <a:lnTo>
                  <a:pt x="173647" y="172591"/>
                </a:lnTo>
                <a:cubicBezTo>
                  <a:pt x="173910" y="176747"/>
                  <a:pt x="171206" y="180507"/>
                  <a:pt x="167215" y="181562"/>
                </a:cubicBezTo>
                <a:lnTo>
                  <a:pt x="158574" y="183871"/>
                </a:lnTo>
                <a:cubicBezTo>
                  <a:pt x="154550" y="184959"/>
                  <a:pt x="150362" y="183046"/>
                  <a:pt x="148515" y="179319"/>
                </a:cubicBezTo>
                <a:lnTo>
                  <a:pt x="142380" y="166918"/>
                </a:lnTo>
                <a:cubicBezTo>
                  <a:pt x="138983" y="166457"/>
                  <a:pt x="135652" y="165533"/>
                  <a:pt x="132519" y="164247"/>
                </a:cubicBezTo>
                <a:lnTo>
                  <a:pt x="120975" y="171932"/>
                </a:lnTo>
                <a:cubicBezTo>
                  <a:pt x="117512" y="174240"/>
                  <a:pt x="112928" y="173778"/>
                  <a:pt x="109993" y="170843"/>
                </a:cubicBezTo>
                <a:lnTo>
                  <a:pt x="103660" y="164511"/>
                </a:lnTo>
                <a:cubicBezTo>
                  <a:pt x="100725" y="161575"/>
                  <a:pt x="100263" y="156991"/>
                  <a:pt x="102572" y="153528"/>
                </a:cubicBezTo>
                <a:lnTo>
                  <a:pt x="110256" y="141985"/>
                </a:lnTo>
                <a:cubicBezTo>
                  <a:pt x="109630" y="140434"/>
                  <a:pt x="109069" y="138818"/>
                  <a:pt x="108607" y="137136"/>
                </a:cubicBezTo>
                <a:cubicBezTo>
                  <a:pt x="108146" y="135454"/>
                  <a:pt x="107849" y="133772"/>
                  <a:pt x="107618" y="132123"/>
                </a:cubicBezTo>
                <a:lnTo>
                  <a:pt x="95184" y="125989"/>
                </a:lnTo>
                <a:cubicBezTo>
                  <a:pt x="91457" y="124142"/>
                  <a:pt x="89577" y="119920"/>
                  <a:pt x="90633" y="115929"/>
                </a:cubicBezTo>
                <a:lnTo>
                  <a:pt x="92941" y="107288"/>
                </a:lnTo>
                <a:cubicBezTo>
                  <a:pt x="94030" y="103297"/>
                  <a:pt x="97757" y="100593"/>
                  <a:pt x="101912" y="100857"/>
                </a:cubicBezTo>
                <a:lnTo>
                  <a:pt x="115731" y="101747"/>
                </a:lnTo>
                <a:cubicBezTo>
                  <a:pt x="117809" y="99076"/>
                  <a:pt x="120217" y="96602"/>
                  <a:pt x="122954" y="94491"/>
                </a:cubicBezTo>
                <a:lnTo>
                  <a:pt x="122064" y="80705"/>
                </a:lnTo>
                <a:cubicBezTo>
                  <a:pt x="121800" y="76550"/>
                  <a:pt x="124504" y="72790"/>
                  <a:pt x="128495" y="71734"/>
                </a:cubicBezTo>
                <a:lnTo>
                  <a:pt x="137136" y="69426"/>
                </a:lnTo>
                <a:close/>
                <a:moveTo>
                  <a:pt x="147888" y="112136"/>
                </a:moveTo>
                <a:cubicBezTo>
                  <a:pt x="139879" y="112146"/>
                  <a:pt x="133384" y="118655"/>
                  <a:pt x="133393" y="126665"/>
                </a:cubicBezTo>
                <a:cubicBezTo>
                  <a:pt x="133402" y="134674"/>
                  <a:pt x="139912" y="141169"/>
                  <a:pt x="147921" y="141160"/>
                </a:cubicBezTo>
                <a:cubicBezTo>
                  <a:pt x="155930" y="141151"/>
                  <a:pt x="162426" y="134641"/>
                  <a:pt x="162416" y="126632"/>
                </a:cubicBezTo>
                <a:cubicBezTo>
                  <a:pt x="162407" y="118622"/>
                  <a:pt x="155897" y="112127"/>
                  <a:pt x="147888" y="112136"/>
                </a:cubicBezTo>
                <a:close/>
                <a:moveTo>
                  <a:pt x="74175" y="-15006"/>
                </a:moveTo>
                <a:lnTo>
                  <a:pt x="82816" y="-12698"/>
                </a:lnTo>
                <a:cubicBezTo>
                  <a:pt x="86807" y="-11609"/>
                  <a:pt x="89511" y="-7850"/>
                  <a:pt x="89247" y="-3727"/>
                </a:cubicBezTo>
                <a:lnTo>
                  <a:pt x="88357" y="10059"/>
                </a:lnTo>
                <a:cubicBezTo>
                  <a:pt x="91094" y="12170"/>
                  <a:pt x="93502" y="14611"/>
                  <a:pt x="95580" y="17315"/>
                </a:cubicBezTo>
                <a:lnTo>
                  <a:pt x="109432" y="16425"/>
                </a:lnTo>
                <a:cubicBezTo>
                  <a:pt x="113555" y="16161"/>
                  <a:pt x="117314" y="18865"/>
                  <a:pt x="118403" y="22856"/>
                </a:cubicBezTo>
                <a:lnTo>
                  <a:pt x="120712" y="31497"/>
                </a:lnTo>
                <a:cubicBezTo>
                  <a:pt x="121767" y="35488"/>
                  <a:pt x="119887" y="39709"/>
                  <a:pt x="116160" y="41556"/>
                </a:cubicBezTo>
                <a:lnTo>
                  <a:pt x="103726" y="47691"/>
                </a:lnTo>
                <a:cubicBezTo>
                  <a:pt x="103495" y="49373"/>
                  <a:pt x="103166" y="51055"/>
                  <a:pt x="102737" y="52704"/>
                </a:cubicBezTo>
                <a:cubicBezTo>
                  <a:pt x="102308" y="54353"/>
                  <a:pt x="101714" y="56002"/>
                  <a:pt x="101088" y="57552"/>
                </a:cubicBezTo>
                <a:lnTo>
                  <a:pt x="108772" y="69096"/>
                </a:lnTo>
                <a:cubicBezTo>
                  <a:pt x="111081" y="72559"/>
                  <a:pt x="110619" y="77143"/>
                  <a:pt x="107684" y="80079"/>
                </a:cubicBezTo>
                <a:lnTo>
                  <a:pt x="101352" y="86411"/>
                </a:lnTo>
                <a:cubicBezTo>
                  <a:pt x="98416" y="89346"/>
                  <a:pt x="93832" y="89808"/>
                  <a:pt x="90369" y="87499"/>
                </a:cubicBezTo>
                <a:lnTo>
                  <a:pt x="78825" y="79815"/>
                </a:lnTo>
                <a:cubicBezTo>
                  <a:pt x="75692" y="81101"/>
                  <a:pt x="72361" y="82024"/>
                  <a:pt x="68964" y="82486"/>
                </a:cubicBezTo>
                <a:lnTo>
                  <a:pt x="62829" y="94887"/>
                </a:lnTo>
                <a:cubicBezTo>
                  <a:pt x="60982" y="98614"/>
                  <a:pt x="56761" y="100494"/>
                  <a:pt x="52770" y="99439"/>
                </a:cubicBezTo>
                <a:lnTo>
                  <a:pt x="44129" y="97130"/>
                </a:lnTo>
                <a:cubicBezTo>
                  <a:pt x="40105" y="96042"/>
                  <a:pt x="37434" y="92282"/>
                  <a:pt x="37698" y="88159"/>
                </a:cubicBezTo>
                <a:lnTo>
                  <a:pt x="38588" y="74340"/>
                </a:lnTo>
                <a:cubicBezTo>
                  <a:pt x="35851" y="72229"/>
                  <a:pt x="33443" y="69788"/>
                  <a:pt x="31365" y="67084"/>
                </a:cubicBezTo>
                <a:lnTo>
                  <a:pt x="17513" y="67974"/>
                </a:lnTo>
                <a:cubicBezTo>
                  <a:pt x="13390" y="68238"/>
                  <a:pt x="9631" y="65534"/>
                  <a:pt x="8542" y="61543"/>
                </a:cubicBezTo>
                <a:lnTo>
                  <a:pt x="6233" y="52902"/>
                </a:lnTo>
                <a:cubicBezTo>
                  <a:pt x="5178" y="48911"/>
                  <a:pt x="7058" y="44690"/>
                  <a:pt x="10785" y="42843"/>
                </a:cubicBezTo>
                <a:lnTo>
                  <a:pt x="23219" y="36708"/>
                </a:lnTo>
                <a:cubicBezTo>
                  <a:pt x="23450" y="35026"/>
                  <a:pt x="23780" y="33377"/>
                  <a:pt x="24208" y="31695"/>
                </a:cubicBezTo>
                <a:cubicBezTo>
                  <a:pt x="24670" y="30013"/>
                  <a:pt x="25198" y="28397"/>
                  <a:pt x="25857" y="26847"/>
                </a:cubicBezTo>
                <a:lnTo>
                  <a:pt x="18173" y="15336"/>
                </a:lnTo>
                <a:cubicBezTo>
                  <a:pt x="15864" y="11873"/>
                  <a:pt x="16326" y="7289"/>
                  <a:pt x="19261" y="4354"/>
                </a:cubicBezTo>
                <a:lnTo>
                  <a:pt x="25593" y="-1979"/>
                </a:lnTo>
                <a:cubicBezTo>
                  <a:pt x="28529" y="-4914"/>
                  <a:pt x="33113" y="-5376"/>
                  <a:pt x="36576" y="-3067"/>
                </a:cubicBezTo>
                <a:lnTo>
                  <a:pt x="48120" y="4617"/>
                </a:lnTo>
                <a:cubicBezTo>
                  <a:pt x="51253" y="3331"/>
                  <a:pt x="54584" y="2408"/>
                  <a:pt x="57981" y="1946"/>
                </a:cubicBezTo>
                <a:lnTo>
                  <a:pt x="64116" y="-10455"/>
                </a:lnTo>
                <a:cubicBezTo>
                  <a:pt x="65963" y="-14182"/>
                  <a:pt x="70151" y="-16062"/>
                  <a:pt x="74175" y="-15006"/>
                </a:cubicBezTo>
                <a:close/>
                <a:moveTo>
                  <a:pt x="63456" y="27704"/>
                </a:moveTo>
                <a:cubicBezTo>
                  <a:pt x="55447" y="27704"/>
                  <a:pt x="48944" y="34207"/>
                  <a:pt x="48944" y="42216"/>
                </a:cubicBezTo>
                <a:cubicBezTo>
                  <a:pt x="48944" y="50225"/>
                  <a:pt x="55447" y="56728"/>
                  <a:pt x="63456" y="56728"/>
                </a:cubicBezTo>
                <a:cubicBezTo>
                  <a:pt x="71465" y="56728"/>
                  <a:pt x="77968" y="50225"/>
                  <a:pt x="77968" y="42216"/>
                </a:cubicBezTo>
                <a:cubicBezTo>
                  <a:pt x="77968" y="34207"/>
                  <a:pt x="71465" y="27704"/>
                  <a:pt x="63456" y="27704"/>
                </a:cubicBezTo>
                <a:close/>
              </a:path>
            </a:pathLst>
          </a:custGeom>
          <a:solidFill>
            <a:srgbClr val="1A1D24"/>
          </a:solidFill>
          <a:ln/>
        </p:spPr>
        <p:txBody>
          <a:bodyPr/>
          <a:lstStyle/>
          <a:p>
            <a:endParaRPr lang="en-GB"/>
          </a:p>
        </p:txBody>
      </p:sp>
      <p:sp>
        <p:nvSpPr>
          <p:cNvPr id="32" name="Text 30"/>
          <p:cNvSpPr/>
          <p:nvPr/>
        </p:nvSpPr>
        <p:spPr>
          <a:xfrm>
            <a:off x="4923845" y="1519778"/>
            <a:ext cx="650127" cy="236410"/>
          </a:xfrm>
          <a:prstGeom prst="rect">
            <a:avLst/>
          </a:prstGeom>
          <a:noFill/>
          <a:ln/>
        </p:spPr>
        <p:txBody>
          <a:bodyPr wrap="square" lIns="0" tIns="0" rIns="0" bIns="0" rtlCol="0" anchor="ctr"/>
          <a:lstStyle/>
          <a:p>
            <a:pPr>
              <a:lnSpc>
                <a:spcPct val="120000"/>
              </a:lnSpc>
            </a:pPr>
            <a:r>
              <a:rPr lang="en-US" sz="1330" b="1" dirty="0">
                <a:solidFill>
                  <a:srgbClr val="EDF2F4"/>
                </a:solidFill>
                <a:latin typeface="Liter" pitchFamily="34" charset="0"/>
                <a:ea typeface="Liter" pitchFamily="34" charset="-122"/>
                <a:cs typeface="Liter" pitchFamily="34" charset="-120"/>
              </a:rPr>
              <a:t>Actions</a:t>
            </a:r>
            <a:endParaRPr lang="en-US" sz="1600" dirty="0"/>
          </a:p>
        </p:txBody>
      </p:sp>
      <p:sp>
        <p:nvSpPr>
          <p:cNvPr id="33" name="Shape 31"/>
          <p:cNvSpPr/>
          <p:nvPr/>
        </p:nvSpPr>
        <p:spPr>
          <a:xfrm>
            <a:off x="4434138" y="1975712"/>
            <a:ext cx="3335069" cy="709230"/>
          </a:xfrm>
          <a:custGeom>
            <a:avLst/>
            <a:gdLst/>
            <a:ahLst/>
            <a:cxnLst/>
            <a:rect l="l" t="t" r="r" b="b"/>
            <a:pathLst>
              <a:path w="3335069" h="709230">
                <a:moveTo>
                  <a:pt x="33773" y="0"/>
                </a:moveTo>
                <a:lnTo>
                  <a:pt x="3267522" y="0"/>
                </a:lnTo>
                <a:cubicBezTo>
                  <a:pt x="3304827" y="0"/>
                  <a:pt x="3335069" y="30242"/>
                  <a:pt x="3335069" y="67547"/>
                </a:cubicBezTo>
                <a:lnTo>
                  <a:pt x="3335069" y="641683"/>
                </a:lnTo>
                <a:cubicBezTo>
                  <a:pt x="3335069" y="678988"/>
                  <a:pt x="3304827" y="709230"/>
                  <a:pt x="3267522" y="709230"/>
                </a:cubicBezTo>
                <a:lnTo>
                  <a:pt x="33773" y="709230"/>
                </a:lnTo>
                <a:cubicBezTo>
                  <a:pt x="15121" y="709230"/>
                  <a:pt x="0" y="694109"/>
                  <a:pt x="0" y="675457"/>
                </a:cubicBezTo>
                <a:lnTo>
                  <a:pt x="0" y="33773"/>
                </a:lnTo>
                <a:cubicBezTo>
                  <a:pt x="0" y="15121"/>
                  <a:pt x="15121" y="0"/>
                  <a:pt x="33773" y="0"/>
                </a:cubicBezTo>
                <a:close/>
              </a:path>
            </a:pathLst>
          </a:custGeom>
          <a:solidFill>
            <a:srgbClr val="1A1D24">
              <a:alpha val="60000"/>
            </a:srgbClr>
          </a:solidFill>
          <a:ln/>
        </p:spPr>
        <p:txBody>
          <a:bodyPr/>
          <a:lstStyle/>
          <a:p>
            <a:endParaRPr lang="en-GB"/>
          </a:p>
        </p:txBody>
      </p:sp>
      <p:sp>
        <p:nvSpPr>
          <p:cNvPr id="34" name="Shape 32"/>
          <p:cNvSpPr/>
          <p:nvPr/>
        </p:nvSpPr>
        <p:spPr>
          <a:xfrm>
            <a:off x="4434138" y="1975712"/>
            <a:ext cx="33773" cy="709230"/>
          </a:xfrm>
          <a:custGeom>
            <a:avLst/>
            <a:gdLst/>
            <a:ahLst/>
            <a:cxnLst/>
            <a:rect l="l" t="t" r="r" b="b"/>
            <a:pathLst>
              <a:path w="33773" h="709230">
                <a:moveTo>
                  <a:pt x="33773" y="0"/>
                </a:moveTo>
                <a:lnTo>
                  <a:pt x="33773" y="0"/>
                </a:lnTo>
                <a:lnTo>
                  <a:pt x="33773" y="709230"/>
                </a:lnTo>
                <a:lnTo>
                  <a:pt x="33773" y="709230"/>
                </a:lnTo>
                <a:cubicBezTo>
                  <a:pt x="15121" y="709230"/>
                  <a:pt x="0" y="694109"/>
                  <a:pt x="0" y="675457"/>
                </a:cubicBezTo>
                <a:lnTo>
                  <a:pt x="0" y="33773"/>
                </a:lnTo>
                <a:cubicBezTo>
                  <a:pt x="0" y="15121"/>
                  <a:pt x="15121" y="0"/>
                  <a:pt x="33773" y="0"/>
                </a:cubicBezTo>
                <a:close/>
              </a:path>
            </a:pathLst>
          </a:custGeom>
          <a:solidFill>
            <a:srgbClr val="4A6C8C"/>
          </a:solidFill>
          <a:ln/>
        </p:spPr>
        <p:txBody>
          <a:bodyPr/>
          <a:lstStyle/>
          <a:p>
            <a:endParaRPr lang="en-GB"/>
          </a:p>
        </p:txBody>
      </p:sp>
      <p:sp>
        <p:nvSpPr>
          <p:cNvPr id="35" name="Shape 33"/>
          <p:cNvSpPr/>
          <p:nvPr/>
        </p:nvSpPr>
        <p:spPr>
          <a:xfrm>
            <a:off x="4607224" y="2127690"/>
            <a:ext cx="168864" cy="168864"/>
          </a:xfrm>
          <a:custGeom>
            <a:avLst/>
            <a:gdLst/>
            <a:ahLst/>
            <a:cxnLst/>
            <a:rect l="l" t="t" r="r" b="b"/>
            <a:pathLst>
              <a:path w="168864" h="168864">
                <a:moveTo>
                  <a:pt x="91886" y="3100"/>
                </a:moveTo>
                <a:cubicBezTo>
                  <a:pt x="87763" y="-1022"/>
                  <a:pt x="81068" y="-1022"/>
                  <a:pt x="76945" y="3100"/>
                </a:cubicBezTo>
                <a:lnTo>
                  <a:pt x="55837" y="24208"/>
                </a:lnTo>
                <a:cubicBezTo>
                  <a:pt x="52803" y="27243"/>
                  <a:pt x="51913" y="31761"/>
                  <a:pt x="53562" y="35719"/>
                </a:cubicBezTo>
                <a:cubicBezTo>
                  <a:pt x="55211" y="39677"/>
                  <a:pt x="59070" y="42216"/>
                  <a:pt x="63324" y="42216"/>
                </a:cubicBezTo>
                <a:lnTo>
                  <a:pt x="73878" y="42216"/>
                </a:lnTo>
                <a:lnTo>
                  <a:pt x="73878" y="73878"/>
                </a:lnTo>
                <a:lnTo>
                  <a:pt x="42216" y="73878"/>
                </a:lnTo>
                <a:lnTo>
                  <a:pt x="42216" y="63324"/>
                </a:lnTo>
                <a:cubicBezTo>
                  <a:pt x="42216" y="59070"/>
                  <a:pt x="39644" y="55211"/>
                  <a:pt x="35686" y="53562"/>
                </a:cubicBezTo>
                <a:cubicBezTo>
                  <a:pt x="31728" y="51913"/>
                  <a:pt x="27210" y="52836"/>
                  <a:pt x="24175" y="55837"/>
                </a:cubicBezTo>
                <a:lnTo>
                  <a:pt x="3067" y="76945"/>
                </a:lnTo>
                <a:cubicBezTo>
                  <a:pt x="-1055" y="81068"/>
                  <a:pt x="-1055" y="87763"/>
                  <a:pt x="3067" y="91886"/>
                </a:cubicBezTo>
                <a:lnTo>
                  <a:pt x="24175" y="112994"/>
                </a:lnTo>
                <a:cubicBezTo>
                  <a:pt x="27210" y="116028"/>
                  <a:pt x="31728" y="116919"/>
                  <a:pt x="35686" y="115270"/>
                </a:cubicBezTo>
                <a:cubicBezTo>
                  <a:pt x="39644" y="113621"/>
                  <a:pt x="42216" y="109795"/>
                  <a:pt x="42216" y="105540"/>
                </a:cubicBezTo>
                <a:lnTo>
                  <a:pt x="42216" y="94986"/>
                </a:lnTo>
                <a:lnTo>
                  <a:pt x="73878" y="94986"/>
                </a:lnTo>
                <a:lnTo>
                  <a:pt x="73878" y="126648"/>
                </a:lnTo>
                <a:lnTo>
                  <a:pt x="63324" y="126648"/>
                </a:lnTo>
                <a:cubicBezTo>
                  <a:pt x="59070" y="126648"/>
                  <a:pt x="55211" y="129221"/>
                  <a:pt x="53562" y="133178"/>
                </a:cubicBezTo>
                <a:cubicBezTo>
                  <a:pt x="51913" y="137136"/>
                  <a:pt x="52836" y="141655"/>
                  <a:pt x="55837" y="144689"/>
                </a:cubicBezTo>
                <a:lnTo>
                  <a:pt x="76945" y="165797"/>
                </a:lnTo>
                <a:cubicBezTo>
                  <a:pt x="81068" y="169920"/>
                  <a:pt x="87763" y="169920"/>
                  <a:pt x="91886" y="165797"/>
                </a:cubicBezTo>
                <a:lnTo>
                  <a:pt x="112994" y="144689"/>
                </a:lnTo>
                <a:cubicBezTo>
                  <a:pt x="116028" y="141655"/>
                  <a:pt x="116919" y="137136"/>
                  <a:pt x="115270" y="133178"/>
                </a:cubicBezTo>
                <a:cubicBezTo>
                  <a:pt x="113621" y="129221"/>
                  <a:pt x="109795" y="126648"/>
                  <a:pt x="105540" y="126648"/>
                </a:cubicBezTo>
                <a:lnTo>
                  <a:pt x="94986" y="126648"/>
                </a:lnTo>
                <a:lnTo>
                  <a:pt x="94986" y="94986"/>
                </a:lnTo>
                <a:lnTo>
                  <a:pt x="126648" y="94986"/>
                </a:lnTo>
                <a:lnTo>
                  <a:pt x="126648" y="105540"/>
                </a:lnTo>
                <a:cubicBezTo>
                  <a:pt x="126648" y="109795"/>
                  <a:pt x="129221" y="113654"/>
                  <a:pt x="133178" y="115303"/>
                </a:cubicBezTo>
                <a:cubicBezTo>
                  <a:pt x="137136" y="116952"/>
                  <a:pt x="141655" y="116028"/>
                  <a:pt x="144689" y="113027"/>
                </a:cubicBezTo>
                <a:lnTo>
                  <a:pt x="165797" y="91919"/>
                </a:lnTo>
                <a:cubicBezTo>
                  <a:pt x="169920" y="87796"/>
                  <a:pt x="169920" y="81101"/>
                  <a:pt x="165797" y="76978"/>
                </a:cubicBezTo>
                <a:lnTo>
                  <a:pt x="144689" y="55870"/>
                </a:lnTo>
                <a:cubicBezTo>
                  <a:pt x="141655" y="52836"/>
                  <a:pt x="137136" y="51946"/>
                  <a:pt x="133178" y="53595"/>
                </a:cubicBezTo>
                <a:cubicBezTo>
                  <a:pt x="129221" y="55244"/>
                  <a:pt x="126648" y="59070"/>
                  <a:pt x="126648" y="63324"/>
                </a:cubicBezTo>
                <a:lnTo>
                  <a:pt x="126648" y="73878"/>
                </a:lnTo>
                <a:lnTo>
                  <a:pt x="94986" y="73878"/>
                </a:lnTo>
                <a:lnTo>
                  <a:pt x="94986" y="42216"/>
                </a:lnTo>
                <a:lnTo>
                  <a:pt x="105540" y="42216"/>
                </a:lnTo>
                <a:cubicBezTo>
                  <a:pt x="109795" y="42216"/>
                  <a:pt x="113654" y="39644"/>
                  <a:pt x="115303" y="35686"/>
                </a:cubicBezTo>
                <a:cubicBezTo>
                  <a:pt x="116952" y="31728"/>
                  <a:pt x="116028" y="27210"/>
                  <a:pt x="113027" y="24175"/>
                </a:cubicBezTo>
                <a:lnTo>
                  <a:pt x="91919" y="3067"/>
                </a:lnTo>
                <a:close/>
              </a:path>
            </a:pathLst>
          </a:custGeom>
          <a:solidFill>
            <a:srgbClr val="4A6C8C"/>
          </a:solidFill>
          <a:ln/>
        </p:spPr>
        <p:txBody>
          <a:bodyPr/>
          <a:lstStyle/>
          <a:p>
            <a:endParaRPr lang="en-GB"/>
          </a:p>
        </p:txBody>
      </p:sp>
      <p:sp>
        <p:nvSpPr>
          <p:cNvPr id="36" name="Text 34"/>
          <p:cNvSpPr/>
          <p:nvPr/>
        </p:nvSpPr>
        <p:spPr>
          <a:xfrm>
            <a:off x="4898515" y="2110803"/>
            <a:ext cx="1030072" cy="202637"/>
          </a:xfrm>
          <a:prstGeom prst="rect">
            <a:avLst/>
          </a:prstGeom>
          <a:noFill/>
          <a:ln/>
        </p:spPr>
        <p:txBody>
          <a:bodyPr wrap="square" lIns="0" tIns="0" rIns="0" bIns="0" rtlCol="0" anchor="ctr"/>
          <a:lstStyle/>
          <a:p>
            <a:pPr>
              <a:lnSpc>
                <a:spcPct val="130000"/>
              </a:lnSpc>
            </a:pPr>
            <a:r>
              <a:rPr lang="en-US" sz="1064" b="1" dirty="0">
                <a:solidFill>
                  <a:srgbClr val="EDF2F4"/>
                </a:solidFill>
                <a:latin typeface="Quattrocento Sans" pitchFamily="34" charset="0"/>
                <a:ea typeface="Quattrocento Sans" pitchFamily="34" charset="-122"/>
                <a:cs typeface="Quattrocento Sans" pitchFamily="34" charset="-120"/>
              </a:rPr>
              <a:t>Move / Navigate</a:t>
            </a:r>
            <a:endParaRPr lang="en-US" sz="1600" dirty="0"/>
          </a:p>
        </p:txBody>
      </p:sp>
      <p:sp>
        <p:nvSpPr>
          <p:cNvPr id="37" name="Text 35"/>
          <p:cNvSpPr/>
          <p:nvPr/>
        </p:nvSpPr>
        <p:spPr>
          <a:xfrm>
            <a:off x="4586116" y="2380986"/>
            <a:ext cx="3107102" cy="168864"/>
          </a:xfrm>
          <a:prstGeom prst="rect">
            <a:avLst/>
          </a:prstGeom>
          <a:noFill/>
          <a:ln/>
        </p:spPr>
        <p:txBody>
          <a:bodyPr wrap="square" lIns="0" tIns="0" rIns="0" bIns="0" rtlCol="0" anchor="ctr"/>
          <a:lstStyle/>
          <a:p>
            <a:pPr>
              <a:lnSpc>
                <a:spcPct val="120000"/>
              </a:lnSpc>
            </a:pPr>
            <a:r>
              <a:rPr lang="en-US" sz="931" dirty="0">
                <a:solidFill>
                  <a:srgbClr val="8D99AE"/>
                </a:solidFill>
                <a:latin typeface="Quattrocento Sans" pitchFamily="34" charset="0"/>
                <a:ea typeface="Quattrocento Sans" pitchFamily="34" charset="-122"/>
                <a:cs typeface="Quattrocento Sans" pitchFamily="34" charset="-120"/>
              </a:rPr>
              <a:t>Autonomous movement towards targets and waypoints</a:t>
            </a:r>
            <a:endParaRPr lang="en-US" sz="1600" dirty="0"/>
          </a:p>
        </p:txBody>
      </p:sp>
      <p:sp>
        <p:nvSpPr>
          <p:cNvPr id="38" name="Shape 36"/>
          <p:cNvSpPr/>
          <p:nvPr/>
        </p:nvSpPr>
        <p:spPr>
          <a:xfrm>
            <a:off x="4434138" y="2786260"/>
            <a:ext cx="3335069" cy="709230"/>
          </a:xfrm>
          <a:custGeom>
            <a:avLst/>
            <a:gdLst/>
            <a:ahLst/>
            <a:cxnLst/>
            <a:rect l="l" t="t" r="r" b="b"/>
            <a:pathLst>
              <a:path w="3335069" h="709230">
                <a:moveTo>
                  <a:pt x="33773" y="0"/>
                </a:moveTo>
                <a:lnTo>
                  <a:pt x="3267522" y="0"/>
                </a:lnTo>
                <a:cubicBezTo>
                  <a:pt x="3304827" y="0"/>
                  <a:pt x="3335069" y="30242"/>
                  <a:pt x="3335069" y="67547"/>
                </a:cubicBezTo>
                <a:lnTo>
                  <a:pt x="3335069" y="641683"/>
                </a:lnTo>
                <a:cubicBezTo>
                  <a:pt x="3335069" y="678988"/>
                  <a:pt x="3304827" y="709230"/>
                  <a:pt x="3267522" y="709230"/>
                </a:cubicBezTo>
                <a:lnTo>
                  <a:pt x="33773" y="709230"/>
                </a:lnTo>
                <a:cubicBezTo>
                  <a:pt x="15121" y="709230"/>
                  <a:pt x="0" y="694109"/>
                  <a:pt x="0" y="675457"/>
                </a:cubicBezTo>
                <a:lnTo>
                  <a:pt x="0" y="33773"/>
                </a:lnTo>
                <a:cubicBezTo>
                  <a:pt x="0" y="15121"/>
                  <a:pt x="15121" y="0"/>
                  <a:pt x="33773" y="0"/>
                </a:cubicBezTo>
                <a:close/>
              </a:path>
            </a:pathLst>
          </a:custGeom>
          <a:solidFill>
            <a:srgbClr val="1A1D24">
              <a:alpha val="60000"/>
            </a:srgbClr>
          </a:solidFill>
          <a:ln/>
        </p:spPr>
        <p:txBody>
          <a:bodyPr/>
          <a:lstStyle/>
          <a:p>
            <a:endParaRPr lang="en-GB"/>
          </a:p>
        </p:txBody>
      </p:sp>
      <p:sp>
        <p:nvSpPr>
          <p:cNvPr id="39" name="Shape 37"/>
          <p:cNvSpPr/>
          <p:nvPr/>
        </p:nvSpPr>
        <p:spPr>
          <a:xfrm>
            <a:off x="4434138" y="2786260"/>
            <a:ext cx="33773" cy="709230"/>
          </a:xfrm>
          <a:custGeom>
            <a:avLst/>
            <a:gdLst/>
            <a:ahLst/>
            <a:cxnLst/>
            <a:rect l="l" t="t" r="r" b="b"/>
            <a:pathLst>
              <a:path w="33773" h="709230">
                <a:moveTo>
                  <a:pt x="33773" y="0"/>
                </a:moveTo>
                <a:lnTo>
                  <a:pt x="33773" y="0"/>
                </a:lnTo>
                <a:lnTo>
                  <a:pt x="33773" y="709230"/>
                </a:lnTo>
                <a:lnTo>
                  <a:pt x="33773" y="709230"/>
                </a:lnTo>
                <a:cubicBezTo>
                  <a:pt x="15121" y="709230"/>
                  <a:pt x="0" y="694109"/>
                  <a:pt x="0" y="675457"/>
                </a:cubicBezTo>
                <a:lnTo>
                  <a:pt x="0" y="33773"/>
                </a:lnTo>
                <a:cubicBezTo>
                  <a:pt x="0" y="15121"/>
                  <a:pt x="15121" y="0"/>
                  <a:pt x="33773" y="0"/>
                </a:cubicBezTo>
                <a:close/>
              </a:path>
            </a:pathLst>
          </a:custGeom>
          <a:solidFill>
            <a:srgbClr val="4A6C8C"/>
          </a:solidFill>
          <a:ln/>
        </p:spPr>
        <p:txBody>
          <a:bodyPr/>
          <a:lstStyle/>
          <a:p>
            <a:endParaRPr lang="en-GB"/>
          </a:p>
        </p:txBody>
      </p:sp>
      <p:sp>
        <p:nvSpPr>
          <p:cNvPr id="40" name="Shape 38"/>
          <p:cNvSpPr/>
          <p:nvPr/>
        </p:nvSpPr>
        <p:spPr>
          <a:xfrm>
            <a:off x="4607224" y="2938238"/>
            <a:ext cx="168864" cy="168864"/>
          </a:xfrm>
          <a:custGeom>
            <a:avLst/>
            <a:gdLst/>
            <a:ahLst/>
            <a:cxnLst/>
            <a:rect l="l" t="t" r="r" b="b"/>
            <a:pathLst>
              <a:path w="168864" h="168864">
                <a:moveTo>
                  <a:pt x="84432" y="0"/>
                </a:moveTo>
                <a:cubicBezTo>
                  <a:pt x="85949" y="0"/>
                  <a:pt x="87466" y="330"/>
                  <a:pt x="88852" y="956"/>
                </a:cubicBezTo>
                <a:lnTo>
                  <a:pt x="150988" y="27309"/>
                </a:lnTo>
                <a:cubicBezTo>
                  <a:pt x="158244" y="30376"/>
                  <a:pt x="163653" y="37533"/>
                  <a:pt x="163620" y="46174"/>
                </a:cubicBezTo>
                <a:cubicBezTo>
                  <a:pt x="163455" y="78891"/>
                  <a:pt x="149999" y="138752"/>
                  <a:pt x="93172" y="165962"/>
                </a:cubicBezTo>
                <a:cubicBezTo>
                  <a:pt x="87664" y="168600"/>
                  <a:pt x="81266" y="168600"/>
                  <a:pt x="75758" y="165962"/>
                </a:cubicBezTo>
                <a:cubicBezTo>
                  <a:pt x="18898" y="138752"/>
                  <a:pt x="5475" y="78891"/>
                  <a:pt x="5310" y="46174"/>
                </a:cubicBezTo>
                <a:cubicBezTo>
                  <a:pt x="5277" y="37533"/>
                  <a:pt x="10686" y="30376"/>
                  <a:pt x="17942" y="27309"/>
                </a:cubicBezTo>
                <a:lnTo>
                  <a:pt x="80046" y="956"/>
                </a:lnTo>
                <a:cubicBezTo>
                  <a:pt x="81431" y="330"/>
                  <a:pt x="82915" y="0"/>
                  <a:pt x="84432" y="0"/>
                </a:cubicBezTo>
                <a:close/>
                <a:moveTo>
                  <a:pt x="84432" y="22032"/>
                </a:moveTo>
                <a:lnTo>
                  <a:pt x="84432" y="146734"/>
                </a:lnTo>
                <a:cubicBezTo>
                  <a:pt x="129946" y="124702"/>
                  <a:pt x="142182" y="75890"/>
                  <a:pt x="142479" y="46669"/>
                </a:cubicBezTo>
                <a:lnTo>
                  <a:pt x="84432" y="22064"/>
                </a:lnTo>
                <a:lnTo>
                  <a:pt x="84432" y="22064"/>
                </a:lnTo>
                <a:close/>
              </a:path>
            </a:pathLst>
          </a:custGeom>
          <a:solidFill>
            <a:srgbClr val="4A6C8C"/>
          </a:solidFill>
          <a:ln/>
        </p:spPr>
        <p:txBody>
          <a:bodyPr/>
          <a:lstStyle/>
          <a:p>
            <a:endParaRPr lang="en-GB"/>
          </a:p>
        </p:txBody>
      </p:sp>
      <p:sp>
        <p:nvSpPr>
          <p:cNvPr id="41" name="Text 39"/>
          <p:cNvSpPr/>
          <p:nvPr/>
        </p:nvSpPr>
        <p:spPr>
          <a:xfrm>
            <a:off x="4898515" y="2921352"/>
            <a:ext cx="1021629" cy="202637"/>
          </a:xfrm>
          <a:prstGeom prst="rect">
            <a:avLst/>
          </a:prstGeom>
          <a:noFill/>
          <a:ln/>
        </p:spPr>
        <p:txBody>
          <a:bodyPr wrap="square" lIns="0" tIns="0" rIns="0" bIns="0" rtlCol="0" anchor="ctr"/>
          <a:lstStyle/>
          <a:p>
            <a:pPr>
              <a:lnSpc>
                <a:spcPct val="130000"/>
              </a:lnSpc>
            </a:pPr>
            <a:r>
              <a:rPr lang="en-US" sz="1064" b="1" dirty="0">
                <a:solidFill>
                  <a:srgbClr val="EDF2F4"/>
                </a:solidFill>
                <a:latin typeface="Quattrocento Sans" pitchFamily="34" charset="0"/>
                <a:ea typeface="Quattrocento Sans" pitchFamily="34" charset="-122"/>
                <a:cs typeface="Quattrocento Sans" pitchFamily="34" charset="-120"/>
              </a:rPr>
              <a:t>Avoid Obstacles</a:t>
            </a:r>
            <a:endParaRPr lang="en-US" sz="1600" dirty="0"/>
          </a:p>
        </p:txBody>
      </p:sp>
      <p:sp>
        <p:nvSpPr>
          <p:cNvPr id="42" name="Text 40"/>
          <p:cNvSpPr/>
          <p:nvPr/>
        </p:nvSpPr>
        <p:spPr>
          <a:xfrm>
            <a:off x="4586116" y="3191535"/>
            <a:ext cx="3107102" cy="168864"/>
          </a:xfrm>
          <a:prstGeom prst="rect">
            <a:avLst/>
          </a:prstGeom>
          <a:noFill/>
          <a:ln/>
        </p:spPr>
        <p:txBody>
          <a:bodyPr wrap="square" lIns="0" tIns="0" rIns="0" bIns="0" rtlCol="0" anchor="ctr"/>
          <a:lstStyle/>
          <a:p>
            <a:pPr>
              <a:lnSpc>
                <a:spcPct val="120000"/>
              </a:lnSpc>
            </a:pPr>
            <a:r>
              <a:rPr lang="en-US" sz="931" dirty="0">
                <a:solidFill>
                  <a:srgbClr val="8D99AE"/>
                </a:solidFill>
                <a:latin typeface="Quattrocento Sans" pitchFamily="34" charset="0"/>
                <a:ea typeface="Quattrocento Sans" pitchFamily="34" charset="-122"/>
                <a:cs typeface="Quattrocento Sans" pitchFamily="34" charset="-120"/>
              </a:rPr>
              <a:t>Real-time collision avoidance and path replanning</a:t>
            </a:r>
            <a:endParaRPr lang="en-US" sz="1600" dirty="0"/>
          </a:p>
        </p:txBody>
      </p:sp>
      <p:sp>
        <p:nvSpPr>
          <p:cNvPr id="43" name="Shape 41"/>
          <p:cNvSpPr/>
          <p:nvPr/>
        </p:nvSpPr>
        <p:spPr>
          <a:xfrm>
            <a:off x="4434138" y="3596809"/>
            <a:ext cx="3335069" cy="709230"/>
          </a:xfrm>
          <a:custGeom>
            <a:avLst/>
            <a:gdLst/>
            <a:ahLst/>
            <a:cxnLst/>
            <a:rect l="l" t="t" r="r" b="b"/>
            <a:pathLst>
              <a:path w="3335069" h="709230">
                <a:moveTo>
                  <a:pt x="33773" y="0"/>
                </a:moveTo>
                <a:lnTo>
                  <a:pt x="3267522" y="0"/>
                </a:lnTo>
                <a:cubicBezTo>
                  <a:pt x="3304827" y="0"/>
                  <a:pt x="3335069" y="30242"/>
                  <a:pt x="3335069" y="67547"/>
                </a:cubicBezTo>
                <a:lnTo>
                  <a:pt x="3335069" y="641683"/>
                </a:lnTo>
                <a:cubicBezTo>
                  <a:pt x="3335069" y="678988"/>
                  <a:pt x="3304827" y="709230"/>
                  <a:pt x="3267522" y="709230"/>
                </a:cubicBezTo>
                <a:lnTo>
                  <a:pt x="33773" y="709230"/>
                </a:lnTo>
                <a:cubicBezTo>
                  <a:pt x="15121" y="709230"/>
                  <a:pt x="0" y="694109"/>
                  <a:pt x="0" y="675457"/>
                </a:cubicBezTo>
                <a:lnTo>
                  <a:pt x="0" y="33773"/>
                </a:lnTo>
                <a:cubicBezTo>
                  <a:pt x="0" y="15121"/>
                  <a:pt x="15121" y="0"/>
                  <a:pt x="33773" y="0"/>
                </a:cubicBezTo>
                <a:close/>
              </a:path>
            </a:pathLst>
          </a:custGeom>
          <a:solidFill>
            <a:srgbClr val="1A1D24">
              <a:alpha val="60000"/>
            </a:srgbClr>
          </a:solidFill>
          <a:ln/>
        </p:spPr>
        <p:txBody>
          <a:bodyPr/>
          <a:lstStyle/>
          <a:p>
            <a:endParaRPr lang="en-GB"/>
          </a:p>
        </p:txBody>
      </p:sp>
      <p:sp>
        <p:nvSpPr>
          <p:cNvPr id="44" name="Shape 42"/>
          <p:cNvSpPr/>
          <p:nvPr/>
        </p:nvSpPr>
        <p:spPr>
          <a:xfrm>
            <a:off x="4434138" y="3596809"/>
            <a:ext cx="33773" cy="709230"/>
          </a:xfrm>
          <a:custGeom>
            <a:avLst/>
            <a:gdLst/>
            <a:ahLst/>
            <a:cxnLst/>
            <a:rect l="l" t="t" r="r" b="b"/>
            <a:pathLst>
              <a:path w="33773" h="709230">
                <a:moveTo>
                  <a:pt x="33773" y="0"/>
                </a:moveTo>
                <a:lnTo>
                  <a:pt x="33773" y="0"/>
                </a:lnTo>
                <a:lnTo>
                  <a:pt x="33773" y="709230"/>
                </a:lnTo>
                <a:lnTo>
                  <a:pt x="33773" y="709230"/>
                </a:lnTo>
                <a:cubicBezTo>
                  <a:pt x="15121" y="709230"/>
                  <a:pt x="0" y="694109"/>
                  <a:pt x="0" y="675457"/>
                </a:cubicBezTo>
                <a:lnTo>
                  <a:pt x="0" y="33773"/>
                </a:lnTo>
                <a:cubicBezTo>
                  <a:pt x="0" y="15121"/>
                  <a:pt x="15121" y="0"/>
                  <a:pt x="33773" y="0"/>
                </a:cubicBezTo>
                <a:close/>
              </a:path>
            </a:pathLst>
          </a:custGeom>
          <a:solidFill>
            <a:srgbClr val="4A6C8C"/>
          </a:solidFill>
          <a:ln/>
        </p:spPr>
        <p:txBody>
          <a:bodyPr/>
          <a:lstStyle/>
          <a:p>
            <a:endParaRPr lang="en-GB"/>
          </a:p>
        </p:txBody>
      </p:sp>
      <p:sp>
        <p:nvSpPr>
          <p:cNvPr id="45" name="Shape 43"/>
          <p:cNvSpPr/>
          <p:nvPr/>
        </p:nvSpPr>
        <p:spPr>
          <a:xfrm>
            <a:off x="4628332" y="3748787"/>
            <a:ext cx="126648" cy="168864"/>
          </a:xfrm>
          <a:custGeom>
            <a:avLst/>
            <a:gdLst/>
            <a:ahLst/>
            <a:cxnLst/>
            <a:rect l="l" t="t" r="r" b="b"/>
            <a:pathLst>
              <a:path w="126648" h="168864">
                <a:moveTo>
                  <a:pt x="2441" y="83641"/>
                </a:moveTo>
                <a:cubicBezTo>
                  <a:pt x="858" y="81101"/>
                  <a:pt x="0" y="78199"/>
                  <a:pt x="0" y="75197"/>
                </a:cubicBezTo>
                <a:lnTo>
                  <a:pt x="0" y="63324"/>
                </a:lnTo>
                <a:cubicBezTo>
                  <a:pt x="0" y="54584"/>
                  <a:pt x="7091" y="47493"/>
                  <a:pt x="15831" y="47493"/>
                </a:cubicBezTo>
                <a:lnTo>
                  <a:pt x="21108" y="47493"/>
                </a:lnTo>
                <a:lnTo>
                  <a:pt x="21108" y="21108"/>
                </a:lnTo>
                <a:cubicBezTo>
                  <a:pt x="21108" y="12368"/>
                  <a:pt x="28199" y="5277"/>
                  <a:pt x="36939" y="5277"/>
                </a:cubicBezTo>
                <a:cubicBezTo>
                  <a:pt x="42645" y="5277"/>
                  <a:pt x="47625" y="8278"/>
                  <a:pt x="50428" y="12797"/>
                </a:cubicBezTo>
                <a:cubicBezTo>
                  <a:pt x="51847" y="5508"/>
                  <a:pt x="58278" y="0"/>
                  <a:pt x="65963" y="0"/>
                </a:cubicBezTo>
                <a:cubicBezTo>
                  <a:pt x="73680" y="0"/>
                  <a:pt x="80112" y="5541"/>
                  <a:pt x="81497" y="12830"/>
                </a:cubicBezTo>
                <a:cubicBezTo>
                  <a:pt x="83904" y="11379"/>
                  <a:pt x="86708" y="10554"/>
                  <a:pt x="89709" y="10554"/>
                </a:cubicBezTo>
                <a:cubicBezTo>
                  <a:pt x="96998" y="10554"/>
                  <a:pt x="103166" y="15501"/>
                  <a:pt x="104979" y="22229"/>
                </a:cubicBezTo>
                <a:cubicBezTo>
                  <a:pt x="106793" y="21504"/>
                  <a:pt x="108739" y="21108"/>
                  <a:pt x="110817" y="21108"/>
                </a:cubicBezTo>
                <a:cubicBezTo>
                  <a:pt x="119557" y="21108"/>
                  <a:pt x="126648" y="28199"/>
                  <a:pt x="126648" y="36939"/>
                </a:cubicBezTo>
                <a:lnTo>
                  <a:pt x="126648" y="68898"/>
                </a:lnTo>
                <a:cubicBezTo>
                  <a:pt x="126648" y="72163"/>
                  <a:pt x="125890" y="75395"/>
                  <a:pt x="124405" y="78331"/>
                </a:cubicBezTo>
                <a:lnTo>
                  <a:pt x="111345" y="104419"/>
                </a:lnTo>
                <a:cubicBezTo>
                  <a:pt x="107783" y="111576"/>
                  <a:pt x="100461" y="116094"/>
                  <a:pt x="92480" y="116094"/>
                </a:cubicBezTo>
                <a:lnTo>
                  <a:pt x="31662" y="116094"/>
                </a:lnTo>
                <a:cubicBezTo>
                  <a:pt x="26220" y="116094"/>
                  <a:pt x="21174" y="113324"/>
                  <a:pt x="18272" y="108706"/>
                </a:cubicBezTo>
                <a:lnTo>
                  <a:pt x="2441" y="83641"/>
                </a:lnTo>
                <a:close/>
                <a:moveTo>
                  <a:pt x="10554" y="158310"/>
                </a:moveTo>
                <a:lnTo>
                  <a:pt x="10554" y="142479"/>
                </a:lnTo>
                <a:cubicBezTo>
                  <a:pt x="10554" y="136642"/>
                  <a:pt x="15270" y="131925"/>
                  <a:pt x="21108" y="131925"/>
                </a:cubicBezTo>
                <a:lnTo>
                  <a:pt x="105540" y="131925"/>
                </a:lnTo>
                <a:cubicBezTo>
                  <a:pt x="111378" y="131925"/>
                  <a:pt x="116094" y="136642"/>
                  <a:pt x="116094" y="142479"/>
                </a:cubicBezTo>
                <a:lnTo>
                  <a:pt x="116094" y="158310"/>
                </a:lnTo>
                <a:cubicBezTo>
                  <a:pt x="116094" y="164148"/>
                  <a:pt x="111378" y="168864"/>
                  <a:pt x="105540" y="168864"/>
                </a:cubicBezTo>
                <a:lnTo>
                  <a:pt x="21108" y="168864"/>
                </a:lnTo>
                <a:cubicBezTo>
                  <a:pt x="15270" y="168864"/>
                  <a:pt x="10554" y="164148"/>
                  <a:pt x="10554" y="158310"/>
                </a:cubicBezTo>
                <a:close/>
              </a:path>
            </a:pathLst>
          </a:custGeom>
          <a:solidFill>
            <a:srgbClr val="4A6C8C"/>
          </a:solidFill>
          <a:ln/>
        </p:spPr>
        <p:txBody>
          <a:bodyPr/>
          <a:lstStyle/>
          <a:p>
            <a:endParaRPr lang="en-GB"/>
          </a:p>
        </p:txBody>
      </p:sp>
      <p:sp>
        <p:nvSpPr>
          <p:cNvPr id="46" name="Text 44"/>
          <p:cNvSpPr/>
          <p:nvPr/>
        </p:nvSpPr>
        <p:spPr>
          <a:xfrm>
            <a:off x="4898515" y="3731900"/>
            <a:ext cx="1122947" cy="202637"/>
          </a:xfrm>
          <a:prstGeom prst="rect">
            <a:avLst/>
          </a:prstGeom>
          <a:noFill/>
          <a:ln/>
        </p:spPr>
        <p:txBody>
          <a:bodyPr wrap="square" lIns="0" tIns="0" rIns="0" bIns="0" rtlCol="0" anchor="ctr"/>
          <a:lstStyle/>
          <a:p>
            <a:pPr>
              <a:lnSpc>
                <a:spcPct val="130000"/>
              </a:lnSpc>
            </a:pPr>
            <a:r>
              <a:rPr lang="en-US" sz="1064" b="1" dirty="0">
                <a:solidFill>
                  <a:srgbClr val="EDF2F4"/>
                </a:solidFill>
                <a:latin typeface="Quattrocento Sans" pitchFamily="34" charset="0"/>
                <a:ea typeface="Quattrocento Sans" pitchFamily="34" charset="-122"/>
                <a:cs typeface="Quattrocento Sans" pitchFamily="34" charset="-120"/>
              </a:rPr>
              <a:t>Pick or Push Trash</a:t>
            </a:r>
            <a:endParaRPr lang="en-US" sz="1600" dirty="0"/>
          </a:p>
        </p:txBody>
      </p:sp>
      <p:sp>
        <p:nvSpPr>
          <p:cNvPr id="47" name="Text 45"/>
          <p:cNvSpPr/>
          <p:nvPr/>
        </p:nvSpPr>
        <p:spPr>
          <a:xfrm>
            <a:off x="4586116" y="4002083"/>
            <a:ext cx="3107102" cy="168864"/>
          </a:xfrm>
          <a:prstGeom prst="rect">
            <a:avLst/>
          </a:prstGeom>
          <a:noFill/>
          <a:ln/>
        </p:spPr>
        <p:txBody>
          <a:bodyPr wrap="square" lIns="0" tIns="0" rIns="0" bIns="0" rtlCol="0" anchor="ctr"/>
          <a:lstStyle/>
          <a:p>
            <a:pPr>
              <a:lnSpc>
                <a:spcPct val="120000"/>
              </a:lnSpc>
            </a:pPr>
            <a:r>
              <a:rPr lang="en-US" sz="931" dirty="0">
                <a:solidFill>
                  <a:srgbClr val="8D99AE"/>
                </a:solidFill>
                <a:latin typeface="Quattrocento Sans" pitchFamily="34" charset="0"/>
                <a:ea typeface="Quattrocento Sans" pitchFamily="34" charset="-122"/>
                <a:cs typeface="Quattrocento Sans" pitchFamily="34" charset="-120"/>
              </a:rPr>
              <a:t>Mechanical manipulation for waste collection</a:t>
            </a:r>
            <a:endParaRPr lang="en-US" sz="1600" dirty="0"/>
          </a:p>
        </p:txBody>
      </p:sp>
      <p:sp>
        <p:nvSpPr>
          <p:cNvPr id="48" name="Shape 46"/>
          <p:cNvSpPr/>
          <p:nvPr/>
        </p:nvSpPr>
        <p:spPr>
          <a:xfrm>
            <a:off x="4434138" y="4407357"/>
            <a:ext cx="3335069" cy="709230"/>
          </a:xfrm>
          <a:custGeom>
            <a:avLst/>
            <a:gdLst/>
            <a:ahLst/>
            <a:cxnLst/>
            <a:rect l="l" t="t" r="r" b="b"/>
            <a:pathLst>
              <a:path w="3335069" h="709230">
                <a:moveTo>
                  <a:pt x="33773" y="0"/>
                </a:moveTo>
                <a:lnTo>
                  <a:pt x="3267522" y="0"/>
                </a:lnTo>
                <a:cubicBezTo>
                  <a:pt x="3304827" y="0"/>
                  <a:pt x="3335069" y="30242"/>
                  <a:pt x="3335069" y="67547"/>
                </a:cubicBezTo>
                <a:lnTo>
                  <a:pt x="3335069" y="641683"/>
                </a:lnTo>
                <a:cubicBezTo>
                  <a:pt x="3335069" y="678988"/>
                  <a:pt x="3304827" y="709230"/>
                  <a:pt x="3267522" y="709230"/>
                </a:cubicBezTo>
                <a:lnTo>
                  <a:pt x="33773" y="709230"/>
                </a:lnTo>
                <a:cubicBezTo>
                  <a:pt x="15121" y="709230"/>
                  <a:pt x="0" y="694109"/>
                  <a:pt x="0" y="675457"/>
                </a:cubicBezTo>
                <a:lnTo>
                  <a:pt x="0" y="33773"/>
                </a:lnTo>
                <a:cubicBezTo>
                  <a:pt x="0" y="15121"/>
                  <a:pt x="15121" y="0"/>
                  <a:pt x="33773" y="0"/>
                </a:cubicBezTo>
                <a:close/>
              </a:path>
            </a:pathLst>
          </a:custGeom>
          <a:solidFill>
            <a:srgbClr val="1A1D24">
              <a:alpha val="60000"/>
            </a:srgbClr>
          </a:solidFill>
          <a:ln/>
        </p:spPr>
        <p:txBody>
          <a:bodyPr/>
          <a:lstStyle/>
          <a:p>
            <a:endParaRPr lang="en-GB"/>
          </a:p>
        </p:txBody>
      </p:sp>
      <p:sp>
        <p:nvSpPr>
          <p:cNvPr id="49" name="Shape 47"/>
          <p:cNvSpPr/>
          <p:nvPr/>
        </p:nvSpPr>
        <p:spPr>
          <a:xfrm>
            <a:off x="4434138" y="4407357"/>
            <a:ext cx="33773" cy="709230"/>
          </a:xfrm>
          <a:custGeom>
            <a:avLst/>
            <a:gdLst/>
            <a:ahLst/>
            <a:cxnLst/>
            <a:rect l="l" t="t" r="r" b="b"/>
            <a:pathLst>
              <a:path w="33773" h="709230">
                <a:moveTo>
                  <a:pt x="33773" y="0"/>
                </a:moveTo>
                <a:lnTo>
                  <a:pt x="33773" y="0"/>
                </a:lnTo>
                <a:lnTo>
                  <a:pt x="33773" y="709230"/>
                </a:lnTo>
                <a:lnTo>
                  <a:pt x="33773" y="709230"/>
                </a:lnTo>
                <a:cubicBezTo>
                  <a:pt x="15121" y="709230"/>
                  <a:pt x="0" y="694109"/>
                  <a:pt x="0" y="675457"/>
                </a:cubicBezTo>
                <a:lnTo>
                  <a:pt x="0" y="33773"/>
                </a:lnTo>
                <a:cubicBezTo>
                  <a:pt x="0" y="15121"/>
                  <a:pt x="15121" y="0"/>
                  <a:pt x="33773" y="0"/>
                </a:cubicBezTo>
                <a:close/>
              </a:path>
            </a:pathLst>
          </a:custGeom>
          <a:solidFill>
            <a:srgbClr val="4A6C8C"/>
          </a:solidFill>
          <a:ln/>
        </p:spPr>
        <p:txBody>
          <a:bodyPr/>
          <a:lstStyle/>
          <a:p>
            <a:endParaRPr lang="en-GB"/>
          </a:p>
        </p:txBody>
      </p:sp>
      <p:sp>
        <p:nvSpPr>
          <p:cNvPr id="50" name="Shape 48"/>
          <p:cNvSpPr/>
          <p:nvPr/>
        </p:nvSpPr>
        <p:spPr>
          <a:xfrm>
            <a:off x="4607224" y="4559335"/>
            <a:ext cx="168864" cy="168864"/>
          </a:xfrm>
          <a:custGeom>
            <a:avLst/>
            <a:gdLst/>
            <a:ahLst/>
            <a:cxnLst/>
            <a:rect l="l" t="t" r="r" b="b"/>
            <a:pathLst>
              <a:path w="168864" h="168864">
                <a:moveTo>
                  <a:pt x="91622" y="2836"/>
                </a:moveTo>
                <a:cubicBezTo>
                  <a:pt x="87565" y="-923"/>
                  <a:pt x="81299" y="-923"/>
                  <a:pt x="77275" y="2836"/>
                </a:cubicBezTo>
                <a:lnTo>
                  <a:pt x="3397" y="71438"/>
                </a:lnTo>
                <a:cubicBezTo>
                  <a:pt x="231" y="74406"/>
                  <a:pt x="-825" y="78990"/>
                  <a:pt x="759" y="83014"/>
                </a:cubicBezTo>
                <a:cubicBezTo>
                  <a:pt x="2342" y="87038"/>
                  <a:pt x="6200" y="89709"/>
                  <a:pt x="10554" y="89709"/>
                </a:cubicBezTo>
                <a:lnTo>
                  <a:pt x="15831" y="89709"/>
                </a:lnTo>
                <a:lnTo>
                  <a:pt x="15831" y="147756"/>
                </a:lnTo>
                <a:cubicBezTo>
                  <a:pt x="15831" y="159399"/>
                  <a:pt x="25297" y="168864"/>
                  <a:pt x="36939" y="168864"/>
                </a:cubicBezTo>
                <a:lnTo>
                  <a:pt x="131925" y="168864"/>
                </a:lnTo>
                <a:cubicBezTo>
                  <a:pt x="143568" y="168864"/>
                  <a:pt x="153033" y="159399"/>
                  <a:pt x="153033" y="147756"/>
                </a:cubicBezTo>
                <a:lnTo>
                  <a:pt x="153033" y="89709"/>
                </a:lnTo>
                <a:lnTo>
                  <a:pt x="158310" y="89709"/>
                </a:lnTo>
                <a:cubicBezTo>
                  <a:pt x="162664" y="89709"/>
                  <a:pt x="166556" y="87038"/>
                  <a:pt x="168139" y="83014"/>
                </a:cubicBezTo>
                <a:cubicBezTo>
                  <a:pt x="169722" y="78990"/>
                  <a:pt x="168666" y="74373"/>
                  <a:pt x="165500" y="71438"/>
                </a:cubicBezTo>
                <a:lnTo>
                  <a:pt x="91622" y="2836"/>
                </a:lnTo>
                <a:close/>
                <a:moveTo>
                  <a:pt x="79155" y="105540"/>
                </a:moveTo>
                <a:lnTo>
                  <a:pt x="89709" y="105540"/>
                </a:lnTo>
                <a:cubicBezTo>
                  <a:pt x="98449" y="105540"/>
                  <a:pt x="105540" y="112631"/>
                  <a:pt x="105540" y="121371"/>
                </a:cubicBezTo>
                <a:lnTo>
                  <a:pt x="105540" y="153033"/>
                </a:lnTo>
                <a:lnTo>
                  <a:pt x="63324" y="153033"/>
                </a:lnTo>
                <a:lnTo>
                  <a:pt x="63324" y="121371"/>
                </a:lnTo>
                <a:cubicBezTo>
                  <a:pt x="63324" y="112631"/>
                  <a:pt x="70415" y="105540"/>
                  <a:pt x="79155" y="105540"/>
                </a:cubicBezTo>
                <a:close/>
              </a:path>
            </a:pathLst>
          </a:custGeom>
          <a:solidFill>
            <a:srgbClr val="4A6C8C"/>
          </a:solidFill>
          <a:ln/>
        </p:spPr>
        <p:txBody>
          <a:bodyPr/>
          <a:lstStyle/>
          <a:p>
            <a:endParaRPr lang="en-GB"/>
          </a:p>
        </p:txBody>
      </p:sp>
      <p:sp>
        <p:nvSpPr>
          <p:cNvPr id="51" name="Text 49"/>
          <p:cNvSpPr/>
          <p:nvPr/>
        </p:nvSpPr>
        <p:spPr>
          <a:xfrm>
            <a:off x="4898515" y="4542449"/>
            <a:ext cx="911867" cy="202637"/>
          </a:xfrm>
          <a:prstGeom prst="rect">
            <a:avLst/>
          </a:prstGeom>
          <a:noFill/>
          <a:ln/>
        </p:spPr>
        <p:txBody>
          <a:bodyPr wrap="square" lIns="0" tIns="0" rIns="0" bIns="0" rtlCol="0" anchor="ctr"/>
          <a:lstStyle/>
          <a:p>
            <a:pPr>
              <a:lnSpc>
                <a:spcPct val="130000"/>
              </a:lnSpc>
            </a:pPr>
            <a:r>
              <a:rPr lang="en-US" sz="1064" b="1" dirty="0">
                <a:solidFill>
                  <a:srgbClr val="EDF2F4"/>
                </a:solidFill>
                <a:latin typeface="Quattrocento Sans" pitchFamily="34" charset="0"/>
                <a:ea typeface="Quattrocento Sans" pitchFamily="34" charset="-122"/>
                <a:cs typeface="Quattrocento Sans" pitchFamily="34" charset="-120"/>
              </a:rPr>
              <a:t>Return to Base</a:t>
            </a:r>
            <a:endParaRPr lang="en-US" sz="1600" dirty="0"/>
          </a:p>
        </p:txBody>
      </p:sp>
      <p:sp>
        <p:nvSpPr>
          <p:cNvPr id="52" name="Text 50"/>
          <p:cNvSpPr/>
          <p:nvPr/>
        </p:nvSpPr>
        <p:spPr>
          <a:xfrm>
            <a:off x="4586116" y="4812632"/>
            <a:ext cx="3107102" cy="168864"/>
          </a:xfrm>
          <a:prstGeom prst="rect">
            <a:avLst/>
          </a:prstGeom>
          <a:noFill/>
          <a:ln/>
        </p:spPr>
        <p:txBody>
          <a:bodyPr wrap="square" lIns="0" tIns="0" rIns="0" bIns="0" rtlCol="0" anchor="ctr"/>
          <a:lstStyle/>
          <a:p>
            <a:pPr>
              <a:lnSpc>
                <a:spcPct val="120000"/>
              </a:lnSpc>
            </a:pPr>
            <a:r>
              <a:rPr lang="en-US" sz="931" dirty="0">
                <a:solidFill>
                  <a:srgbClr val="8D99AE"/>
                </a:solidFill>
                <a:latin typeface="Quattrocento Sans" pitchFamily="34" charset="0"/>
                <a:ea typeface="Quattrocento Sans" pitchFamily="34" charset="-122"/>
                <a:cs typeface="Quattrocento Sans" pitchFamily="34" charset="-120"/>
              </a:rPr>
              <a:t>Autonomous return for charging or emptying</a:t>
            </a:r>
            <a:endParaRPr lang="en-US" sz="1600" dirty="0"/>
          </a:p>
        </p:txBody>
      </p:sp>
      <p:sp>
        <p:nvSpPr>
          <p:cNvPr id="53" name="Shape 51"/>
          <p:cNvSpPr/>
          <p:nvPr/>
        </p:nvSpPr>
        <p:spPr>
          <a:xfrm>
            <a:off x="8133849" y="1258039"/>
            <a:ext cx="3706571" cy="4609994"/>
          </a:xfrm>
          <a:custGeom>
            <a:avLst/>
            <a:gdLst/>
            <a:ahLst/>
            <a:cxnLst/>
            <a:rect l="l" t="t" r="r" b="b"/>
            <a:pathLst>
              <a:path w="3706571" h="4609994">
                <a:moveTo>
                  <a:pt x="101301" y="0"/>
                </a:moveTo>
                <a:lnTo>
                  <a:pt x="3605270" y="0"/>
                </a:lnTo>
                <a:cubicBezTo>
                  <a:pt x="3661217" y="0"/>
                  <a:pt x="3706571" y="45354"/>
                  <a:pt x="3706571" y="101301"/>
                </a:cubicBezTo>
                <a:lnTo>
                  <a:pt x="3706571" y="4508694"/>
                </a:lnTo>
                <a:cubicBezTo>
                  <a:pt x="3706571" y="4564641"/>
                  <a:pt x="3661217" y="4609994"/>
                  <a:pt x="3605270" y="4609994"/>
                </a:cubicBezTo>
                <a:lnTo>
                  <a:pt x="101301" y="4609994"/>
                </a:lnTo>
                <a:cubicBezTo>
                  <a:pt x="45354" y="4609994"/>
                  <a:pt x="0" y="4564641"/>
                  <a:pt x="0" y="4508694"/>
                </a:cubicBezTo>
                <a:lnTo>
                  <a:pt x="0" y="101301"/>
                </a:lnTo>
                <a:cubicBezTo>
                  <a:pt x="0" y="45354"/>
                  <a:pt x="45354" y="0"/>
                  <a:pt x="101301" y="0"/>
                </a:cubicBezTo>
                <a:close/>
              </a:path>
            </a:pathLst>
          </a:custGeom>
          <a:gradFill flip="none" rotWithShape="1">
            <a:gsLst>
              <a:gs pos="0">
                <a:srgbClr val="4A6C8C">
                  <a:alpha val="30000"/>
                </a:srgbClr>
              </a:gs>
              <a:gs pos="100000">
                <a:srgbClr val="4A6C8C">
                  <a:alpha val="10000"/>
                </a:srgbClr>
              </a:gs>
            </a:gsLst>
            <a:lin ang="5400000" scaled="1"/>
          </a:gradFill>
          <a:ln w="25400">
            <a:solidFill>
              <a:srgbClr val="4A6C8C"/>
            </a:solidFill>
            <a:prstDash val="solid"/>
          </a:ln>
        </p:spPr>
        <p:txBody>
          <a:bodyPr/>
          <a:lstStyle/>
          <a:p>
            <a:endParaRPr lang="en-GB"/>
          </a:p>
        </p:txBody>
      </p:sp>
      <p:sp>
        <p:nvSpPr>
          <p:cNvPr id="54" name="Shape 52"/>
          <p:cNvSpPr/>
          <p:nvPr/>
        </p:nvSpPr>
        <p:spPr>
          <a:xfrm>
            <a:off x="8311156" y="1435346"/>
            <a:ext cx="405274" cy="405274"/>
          </a:xfrm>
          <a:custGeom>
            <a:avLst/>
            <a:gdLst/>
            <a:ahLst/>
            <a:cxnLst/>
            <a:rect l="l" t="t" r="r" b="b"/>
            <a:pathLst>
              <a:path w="405274" h="405274">
                <a:moveTo>
                  <a:pt x="202637" y="0"/>
                </a:moveTo>
                <a:lnTo>
                  <a:pt x="202637" y="0"/>
                </a:lnTo>
                <a:cubicBezTo>
                  <a:pt x="314476" y="0"/>
                  <a:pt x="405274" y="90799"/>
                  <a:pt x="405274" y="202637"/>
                </a:cubicBezTo>
                <a:lnTo>
                  <a:pt x="405274" y="202637"/>
                </a:lnTo>
                <a:cubicBezTo>
                  <a:pt x="405274" y="314476"/>
                  <a:pt x="314476" y="405274"/>
                  <a:pt x="202637" y="405274"/>
                </a:cubicBezTo>
                <a:lnTo>
                  <a:pt x="202637" y="405274"/>
                </a:lnTo>
                <a:cubicBezTo>
                  <a:pt x="90799" y="405274"/>
                  <a:pt x="0" y="314476"/>
                  <a:pt x="0" y="202637"/>
                </a:cubicBezTo>
                <a:lnTo>
                  <a:pt x="0" y="202637"/>
                </a:lnTo>
                <a:cubicBezTo>
                  <a:pt x="0" y="90799"/>
                  <a:pt x="90799" y="0"/>
                  <a:pt x="202637" y="0"/>
                </a:cubicBezTo>
                <a:close/>
              </a:path>
            </a:pathLst>
          </a:custGeom>
          <a:solidFill>
            <a:srgbClr val="4A6C8C"/>
          </a:solidFill>
          <a:ln/>
        </p:spPr>
        <p:txBody>
          <a:bodyPr/>
          <a:lstStyle/>
          <a:p>
            <a:endParaRPr lang="en-GB"/>
          </a:p>
        </p:txBody>
      </p:sp>
      <p:sp>
        <p:nvSpPr>
          <p:cNvPr id="55" name="Shape 53"/>
          <p:cNvSpPr/>
          <p:nvPr/>
        </p:nvSpPr>
        <p:spPr>
          <a:xfrm>
            <a:off x="8429361" y="1553551"/>
            <a:ext cx="168864" cy="168864"/>
          </a:xfrm>
          <a:custGeom>
            <a:avLst/>
            <a:gdLst/>
            <a:ahLst/>
            <a:cxnLst/>
            <a:rect l="l" t="t" r="r" b="b"/>
            <a:pathLst>
              <a:path w="168864" h="168864">
                <a:moveTo>
                  <a:pt x="47592" y="0"/>
                </a:moveTo>
                <a:lnTo>
                  <a:pt x="121470" y="0"/>
                </a:lnTo>
                <a:cubicBezTo>
                  <a:pt x="130210" y="0"/>
                  <a:pt x="137334" y="7190"/>
                  <a:pt x="137004" y="15897"/>
                </a:cubicBezTo>
                <a:cubicBezTo>
                  <a:pt x="136938" y="17645"/>
                  <a:pt x="136872" y="19393"/>
                  <a:pt x="136773" y="21108"/>
                </a:cubicBezTo>
                <a:lnTo>
                  <a:pt x="153132" y="21108"/>
                </a:lnTo>
                <a:cubicBezTo>
                  <a:pt x="161740" y="21108"/>
                  <a:pt x="169326" y="28232"/>
                  <a:pt x="168666" y="37533"/>
                </a:cubicBezTo>
                <a:cubicBezTo>
                  <a:pt x="166193" y="71734"/>
                  <a:pt x="148713" y="90534"/>
                  <a:pt x="129748" y="100362"/>
                </a:cubicBezTo>
                <a:cubicBezTo>
                  <a:pt x="124537" y="103067"/>
                  <a:pt x="119227" y="105078"/>
                  <a:pt x="114181" y="106563"/>
                </a:cubicBezTo>
                <a:cubicBezTo>
                  <a:pt x="107519" y="115995"/>
                  <a:pt x="100593" y="120975"/>
                  <a:pt x="95085" y="123647"/>
                </a:cubicBezTo>
                <a:lnTo>
                  <a:pt x="95085" y="147756"/>
                </a:lnTo>
                <a:lnTo>
                  <a:pt x="116193" y="147756"/>
                </a:lnTo>
                <a:cubicBezTo>
                  <a:pt x="122031" y="147756"/>
                  <a:pt x="126747" y="152473"/>
                  <a:pt x="126747" y="158310"/>
                </a:cubicBezTo>
                <a:cubicBezTo>
                  <a:pt x="126747" y="164148"/>
                  <a:pt x="122031" y="168864"/>
                  <a:pt x="116193" y="168864"/>
                </a:cubicBezTo>
                <a:lnTo>
                  <a:pt x="52869" y="168864"/>
                </a:lnTo>
                <a:cubicBezTo>
                  <a:pt x="47031" y="168864"/>
                  <a:pt x="42315" y="164148"/>
                  <a:pt x="42315" y="158310"/>
                </a:cubicBezTo>
                <a:cubicBezTo>
                  <a:pt x="42315" y="152473"/>
                  <a:pt x="47031" y="147756"/>
                  <a:pt x="52869" y="147756"/>
                </a:cubicBezTo>
                <a:lnTo>
                  <a:pt x="73977" y="147756"/>
                </a:lnTo>
                <a:lnTo>
                  <a:pt x="73977" y="123647"/>
                </a:lnTo>
                <a:cubicBezTo>
                  <a:pt x="68700" y="121107"/>
                  <a:pt x="62137" y="116391"/>
                  <a:pt x="55738" y="107717"/>
                </a:cubicBezTo>
                <a:cubicBezTo>
                  <a:pt x="49670" y="106134"/>
                  <a:pt x="43074" y="103726"/>
                  <a:pt x="36642" y="100098"/>
                </a:cubicBezTo>
                <a:cubicBezTo>
                  <a:pt x="18799" y="90105"/>
                  <a:pt x="2704" y="71273"/>
                  <a:pt x="396" y="37467"/>
                </a:cubicBezTo>
                <a:cubicBezTo>
                  <a:pt x="-231" y="28199"/>
                  <a:pt x="7322" y="21075"/>
                  <a:pt x="15930" y="21075"/>
                </a:cubicBezTo>
                <a:lnTo>
                  <a:pt x="32289" y="21075"/>
                </a:lnTo>
                <a:cubicBezTo>
                  <a:pt x="32190" y="19360"/>
                  <a:pt x="32124" y="17645"/>
                  <a:pt x="32058" y="15864"/>
                </a:cubicBezTo>
                <a:cubicBezTo>
                  <a:pt x="31728" y="7124"/>
                  <a:pt x="38852" y="-33"/>
                  <a:pt x="47592" y="-33"/>
                </a:cubicBezTo>
                <a:close/>
                <a:moveTo>
                  <a:pt x="33476" y="36939"/>
                </a:moveTo>
                <a:lnTo>
                  <a:pt x="16194" y="36939"/>
                </a:lnTo>
                <a:cubicBezTo>
                  <a:pt x="18239" y="64874"/>
                  <a:pt x="31068" y="78858"/>
                  <a:pt x="44294" y="86279"/>
                </a:cubicBezTo>
                <a:cubicBezTo>
                  <a:pt x="39545" y="73977"/>
                  <a:pt x="35620" y="57915"/>
                  <a:pt x="33476" y="36939"/>
                </a:cubicBezTo>
                <a:close/>
                <a:moveTo>
                  <a:pt x="125329" y="84696"/>
                </a:moveTo>
                <a:cubicBezTo>
                  <a:pt x="138686" y="76846"/>
                  <a:pt x="150758" y="62895"/>
                  <a:pt x="152802" y="36939"/>
                </a:cubicBezTo>
                <a:lnTo>
                  <a:pt x="135553" y="36939"/>
                </a:lnTo>
                <a:cubicBezTo>
                  <a:pt x="133508" y="57025"/>
                  <a:pt x="129814" y="72625"/>
                  <a:pt x="125329" y="84696"/>
                </a:cubicBezTo>
                <a:close/>
              </a:path>
            </a:pathLst>
          </a:custGeom>
          <a:solidFill>
            <a:srgbClr val="EDF2F4"/>
          </a:solidFill>
          <a:ln/>
        </p:spPr>
        <p:txBody>
          <a:bodyPr/>
          <a:lstStyle/>
          <a:p>
            <a:endParaRPr lang="en-GB"/>
          </a:p>
        </p:txBody>
      </p:sp>
      <p:sp>
        <p:nvSpPr>
          <p:cNvPr id="56" name="Text 54"/>
          <p:cNvSpPr/>
          <p:nvPr/>
        </p:nvSpPr>
        <p:spPr>
          <a:xfrm>
            <a:off x="8817749" y="1519778"/>
            <a:ext cx="1046958" cy="236410"/>
          </a:xfrm>
          <a:prstGeom prst="rect">
            <a:avLst/>
          </a:prstGeom>
          <a:noFill/>
          <a:ln/>
        </p:spPr>
        <p:txBody>
          <a:bodyPr wrap="square" lIns="0" tIns="0" rIns="0" bIns="0" rtlCol="0" anchor="ctr"/>
          <a:lstStyle/>
          <a:p>
            <a:pPr>
              <a:lnSpc>
                <a:spcPct val="120000"/>
              </a:lnSpc>
            </a:pPr>
            <a:r>
              <a:rPr lang="en-US" sz="1330" b="1" dirty="0">
                <a:solidFill>
                  <a:srgbClr val="EDF2F4"/>
                </a:solidFill>
                <a:latin typeface="Liter" pitchFamily="34" charset="0"/>
                <a:ea typeface="Liter" pitchFamily="34" charset="-122"/>
                <a:cs typeface="Liter" pitchFamily="34" charset="-120"/>
              </a:rPr>
              <a:t>Performance</a:t>
            </a:r>
            <a:endParaRPr lang="en-US" sz="1600" dirty="0"/>
          </a:p>
        </p:txBody>
      </p:sp>
      <p:sp>
        <p:nvSpPr>
          <p:cNvPr id="57" name="Shape 55"/>
          <p:cNvSpPr/>
          <p:nvPr/>
        </p:nvSpPr>
        <p:spPr>
          <a:xfrm>
            <a:off x="8328043" y="1975712"/>
            <a:ext cx="3335069" cy="709230"/>
          </a:xfrm>
          <a:custGeom>
            <a:avLst/>
            <a:gdLst/>
            <a:ahLst/>
            <a:cxnLst/>
            <a:rect l="l" t="t" r="r" b="b"/>
            <a:pathLst>
              <a:path w="3335069" h="709230">
                <a:moveTo>
                  <a:pt x="33773" y="0"/>
                </a:moveTo>
                <a:lnTo>
                  <a:pt x="3267522" y="0"/>
                </a:lnTo>
                <a:cubicBezTo>
                  <a:pt x="3304827" y="0"/>
                  <a:pt x="3335069" y="30242"/>
                  <a:pt x="3335069" y="67547"/>
                </a:cubicBezTo>
                <a:lnTo>
                  <a:pt x="3335069" y="641683"/>
                </a:lnTo>
                <a:cubicBezTo>
                  <a:pt x="3335069" y="678988"/>
                  <a:pt x="3304827" y="709230"/>
                  <a:pt x="3267522" y="709230"/>
                </a:cubicBezTo>
                <a:lnTo>
                  <a:pt x="33773" y="709230"/>
                </a:lnTo>
                <a:cubicBezTo>
                  <a:pt x="15121" y="709230"/>
                  <a:pt x="0" y="694109"/>
                  <a:pt x="0" y="675457"/>
                </a:cubicBezTo>
                <a:lnTo>
                  <a:pt x="0" y="33773"/>
                </a:lnTo>
                <a:cubicBezTo>
                  <a:pt x="0" y="15121"/>
                  <a:pt x="15121" y="0"/>
                  <a:pt x="33773" y="0"/>
                </a:cubicBezTo>
                <a:close/>
              </a:path>
            </a:pathLst>
          </a:custGeom>
          <a:solidFill>
            <a:srgbClr val="1A1D24">
              <a:alpha val="60000"/>
            </a:srgbClr>
          </a:solidFill>
          <a:ln/>
        </p:spPr>
        <p:txBody>
          <a:bodyPr/>
          <a:lstStyle/>
          <a:p>
            <a:endParaRPr lang="en-GB"/>
          </a:p>
        </p:txBody>
      </p:sp>
      <p:sp>
        <p:nvSpPr>
          <p:cNvPr id="58" name="Shape 56"/>
          <p:cNvSpPr/>
          <p:nvPr/>
        </p:nvSpPr>
        <p:spPr>
          <a:xfrm>
            <a:off x="8328043" y="1975712"/>
            <a:ext cx="33773" cy="709230"/>
          </a:xfrm>
          <a:custGeom>
            <a:avLst/>
            <a:gdLst/>
            <a:ahLst/>
            <a:cxnLst/>
            <a:rect l="l" t="t" r="r" b="b"/>
            <a:pathLst>
              <a:path w="33773" h="709230">
                <a:moveTo>
                  <a:pt x="33773" y="0"/>
                </a:moveTo>
                <a:lnTo>
                  <a:pt x="33773" y="0"/>
                </a:lnTo>
                <a:lnTo>
                  <a:pt x="33773" y="709230"/>
                </a:lnTo>
                <a:lnTo>
                  <a:pt x="33773" y="709230"/>
                </a:lnTo>
                <a:cubicBezTo>
                  <a:pt x="15121" y="709230"/>
                  <a:pt x="0" y="694109"/>
                  <a:pt x="0" y="675457"/>
                </a:cubicBezTo>
                <a:lnTo>
                  <a:pt x="0" y="33773"/>
                </a:lnTo>
                <a:cubicBezTo>
                  <a:pt x="0" y="15121"/>
                  <a:pt x="15121" y="0"/>
                  <a:pt x="33773" y="0"/>
                </a:cubicBezTo>
                <a:close/>
              </a:path>
            </a:pathLst>
          </a:custGeom>
          <a:solidFill>
            <a:srgbClr val="C9A86A"/>
          </a:solidFill>
          <a:ln/>
        </p:spPr>
        <p:txBody>
          <a:bodyPr/>
          <a:lstStyle/>
          <a:p>
            <a:endParaRPr lang="en-GB"/>
          </a:p>
        </p:txBody>
      </p:sp>
      <p:sp>
        <p:nvSpPr>
          <p:cNvPr id="59" name="Shape 57"/>
          <p:cNvSpPr/>
          <p:nvPr/>
        </p:nvSpPr>
        <p:spPr>
          <a:xfrm>
            <a:off x="8511682" y="2127690"/>
            <a:ext cx="147756" cy="168864"/>
          </a:xfrm>
          <a:custGeom>
            <a:avLst/>
            <a:gdLst/>
            <a:ahLst/>
            <a:cxnLst/>
            <a:rect l="l" t="t" r="r" b="b"/>
            <a:pathLst>
              <a:path w="147756" h="168864">
                <a:moveTo>
                  <a:pt x="45085" y="1946"/>
                </a:moveTo>
                <a:lnTo>
                  <a:pt x="42216" y="10554"/>
                </a:lnTo>
                <a:lnTo>
                  <a:pt x="10554" y="10554"/>
                </a:lnTo>
                <a:cubicBezTo>
                  <a:pt x="4716" y="10554"/>
                  <a:pt x="0" y="15270"/>
                  <a:pt x="0" y="21108"/>
                </a:cubicBezTo>
                <a:cubicBezTo>
                  <a:pt x="0" y="26946"/>
                  <a:pt x="4716" y="31662"/>
                  <a:pt x="10554" y="31662"/>
                </a:cubicBezTo>
                <a:lnTo>
                  <a:pt x="137202" y="31662"/>
                </a:lnTo>
                <a:cubicBezTo>
                  <a:pt x="143040" y="31662"/>
                  <a:pt x="147756" y="26946"/>
                  <a:pt x="147756" y="21108"/>
                </a:cubicBezTo>
                <a:cubicBezTo>
                  <a:pt x="147756" y="15270"/>
                  <a:pt x="143040" y="10554"/>
                  <a:pt x="137202" y="10554"/>
                </a:cubicBezTo>
                <a:lnTo>
                  <a:pt x="105540" y="10554"/>
                </a:lnTo>
                <a:lnTo>
                  <a:pt x="102671" y="1946"/>
                </a:lnTo>
                <a:cubicBezTo>
                  <a:pt x="101220" y="-2375"/>
                  <a:pt x="97196" y="-5277"/>
                  <a:pt x="92644" y="-5277"/>
                </a:cubicBezTo>
                <a:lnTo>
                  <a:pt x="55112" y="-5277"/>
                </a:lnTo>
                <a:cubicBezTo>
                  <a:pt x="50560" y="-5277"/>
                  <a:pt x="46537" y="-2375"/>
                  <a:pt x="45085" y="1946"/>
                </a:cubicBezTo>
                <a:close/>
                <a:moveTo>
                  <a:pt x="137202" y="47493"/>
                </a:moveTo>
                <a:lnTo>
                  <a:pt x="10554" y="47493"/>
                </a:lnTo>
                <a:lnTo>
                  <a:pt x="17513" y="154056"/>
                </a:lnTo>
                <a:cubicBezTo>
                  <a:pt x="18041" y="162400"/>
                  <a:pt x="24967" y="168864"/>
                  <a:pt x="33311" y="168864"/>
                </a:cubicBezTo>
                <a:lnTo>
                  <a:pt x="114445" y="168864"/>
                </a:lnTo>
                <a:cubicBezTo>
                  <a:pt x="122789" y="168864"/>
                  <a:pt x="129715" y="162400"/>
                  <a:pt x="130243" y="154056"/>
                </a:cubicBezTo>
                <a:lnTo>
                  <a:pt x="137202" y="47493"/>
                </a:lnTo>
                <a:close/>
              </a:path>
            </a:pathLst>
          </a:custGeom>
          <a:solidFill>
            <a:srgbClr val="C9A86A"/>
          </a:solidFill>
          <a:ln/>
        </p:spPr>
        <p:txBody>
          <a:bodyPr/>
          <a:lstStyle/>
          <a:p>
            <a:endParaRPr lang="en-GB"/>
          </a:p>
        </p:txBody>
      </p:sp>
      <p:sp>
        <p:nvSpPr>
          <p:cNvPr id="60" name="Text 58"/>
          <p:cNvSpPr/>
          <p:nvPr/>
        </p:nvSpPr>
        <p:spPr>
          <a:xfrm>
            <a:off x="8792419" y="2110803"/>
            <a:ext cx="979413" cy="202637"/>
          </a:xfrm>
          <a:prstGeom prst="rect">
            <a:avLst/>
          </a:prstGeom>
          <a:noFill/>
          <a:ln/>
        </p:spPr>
        <p:txBody>
          <a:bodyPr wrap="square" lIns="0" tIns="0" rIns="0" bIns="0" rtlCol="0" anchor="ctr"/>
          <a:lstStyle/>
          <a:p>
            <a:pPr>
              <a:lnSpc>
                <a:spcPct val="130000"/>
              </a:lnSpc>
            </a:pPr>
            <a:r>
              <a:rPr lang="en-US" sz="1064" b="1" dirty="0">
                <a:solidFill>
                  <a:srgbClr val="EDF2F4"/>
                </a:solidFill>
                <a:latin typeface="Quattrocento Sans" pitchFamily="34" charset="0"/>
                <a:ea typeface="Quattrocento Sans" pitchFamily="34" charset="-122"/>
                <a:cs typeface="Quattrocento Sans" pitchFamily="34" charset="-120"/>
              </a:rPr>
              <a:t>Trash Collected</a:t>
            </a:r>
            <a:endParaRPr lang="en-US" sz="1600" dirty="0"/>
          </a:p>
        </p:txBody>
      </p:sp>
      <p:sp>
        <p:nvSpPr>
          <p:cNvPr id="61" name="Text 59"/>
          <p:cNvSpPr/>
          <p:nvPr/>
        </p:nvSpPr>
        <p:spPr>
          <a:xfrm>
            <a:off x="8480020" y="2380986"/>
            <a:ext cx="3107102" cy="168864"/>
          </a:xfrm>
          <a:prstGeom prst="rect">
            <a:avLst/>
          </a:prstGeom>
          <a:noFill/>
          <a:ln/>
        </p:spPr>
        <p:txBody>
          <a:bodyPr wrap="square" lIns="0" tIns="0" rIns="0" bIns="0" rtlCol="0" anchor="ctr"/>
          <a:lstStyle/>
          <a:p>
            <a:pPr>
              <a:lnSpc>
                <a:spcPct val="120000"/>
              </a:lnSpc>
            </a:pPr>
            <a:r>
              <a:rPr lang="en-US" sz="931" dirty="0">
                <a:solidFill>
                  <a:srgbClr val="8D99AE"/>
                </a:solidFill>
                <a:latin typeface="Quattrocento Sans" pitchFamily="34" charset="0"/>
                <a:ea typeface="Quattrocento Sans" pitchFamily="34" charset="-122"/>
                <a:cs typeface="Quattrocento Sans" pitchFamily="34" charset="-120"/>
              </a:rPr>
              <a:t>Total waste items successfully collected per mission</a:t>
            </a:r>
            <a:endParaRPr lang="en-US" sz="1600" dirty="0"/>
          </a:p>
        </p:txBody>
      </p:sp>
      <p:sp>
        <p:nvSpPr>
          <p:cNvPr id="62" name="Shape 60"/>
          <p:cNvSpPr/>
          <p:nvPr/>
        </p:nvSpPr>
        <p:spPr>
          <a:xfrm>
            <a:off x="8328043" y="2786260"/>
            <a:ext cx="3335069" cy="709230"/>
          </a:xfrm>
          <a:custGeom>
            <a:avLst/>
            <a:gdLst/>
            <a:ahLst/>
            <a:cxnLst/>
            <a:rect l="l" t="t" r="r" b="b"/>
            <a:pathLst>
              <a:path w="3335069" h="709230">
                <a:moveTo>
                  <a:pt x="33773" y="0"/>
                </a:moveTo>
                <a:lnTo>
                  <a:pt x="3267522" y="0"/>
                </a:lnTo>
                <a:cubicBezTo>
                  <a:pt x="3304827" y="0"/>
                  <a:pt x="3335069" y="30242"/>
                  <a:pt x="3335069" y="67547"/>
                </a:cubicBezTo>
                <a:lnTo>
                  <a:pt x="3335069" y="641683"/>
                </a:lnTo>
                <a:cubicBezTo>
                  <a:pt x="3335069" y="678988"/>
                  <a:pt x="3304827" y="709230"/>
                  <a:pt x="3267522" y="709230"/>
                </a:cubicBezTo>
                <a:lnTo>
                  <a:pt x="33773" y="709230"/>
                </a:lnTo>
                <a:cubicBezTo>
                  <a:pt x="15121" y="709230"/>
                  <a:pt x="0" y="694109"/>
                  <a:pt x="0" y="675457"/>
                </a:cubicBezTo>
                <a:lnTo>
                  <a:pt x="0" y="33773"/>
                </a:lnTo>
                <a:cubicBezTo>
                  <a:pt x="0" y="15121"/>
                  <a:pt x="15121" y="0"/>
                  <a:pt x="33773" y="0"/>
                </a:cubicBezTo>
                <a:close/>
              </a:path>
            </a:pathLst>
          </a:custGeom>
          <a:solidFill>
            <a:srgbClr val="1A1D24">
              <a:alpha val="60000"/>
            </a:srgbClr>
          </a:solidFill>
          <a:ln/>
        </p:spPr>
        <p:txBody>
          <a:bodyPr/>
          <a:lstStyle/>
          <a:p>
            <a:endParaRPr lang="en-GB"/>
          </a:p>
        </p:txBody>
      </p:sp>
      <p:sp>
        <p:nvSpPr>
          <p:cNvPr id="63" name="Shape 61"/>
          <p:cNvSpPr/>
          <p:nvPr/>
        </p:nvSpPr>
        <p:spPr>
          <a:xfrm>
            <a:off x="8328043" y="2786260"/>
            <a:ext cx="33773" cy="709230"/>
          </a:xfrm>
          <a:custGeom>
            <a:avLst/>
            <a:gdLst/>
            <a:ahLst/>
            <a:cxnLst/>
            <a:rect l="l" t="t" r="r" b="b"/>
            <a:pathLst>
              <a:path w="33773" h="709230">
                <a:moveTo>
                  <a:pt x="33773" y="0"/>
                </a:moveTo>
                <a:lnTo>
                  <a:pt x="33773" y="0"/>
                </a:lnTo>
                <a:lnTo>
                  <a:pt x="33773" y="709230"/>
                </a:lnTo>
                <a:lnTo>
                  <a:pt x="33773" y="709230"/>
                </a:lnTo>
                <a:cubicBezTo>
                  <a:pt x="15121" y="709230"/>
                  <a:pt x="0" y="694109"/>
                  <a:pt x="0" y="675457"/>
                </a:cubicBezTo>
                <a:lnTo>
                  <a:pt x="0" y="33773"/>
                </a:lnTo>
                <a:cubicBezTo>
                  <a:pt x="0" y="15121"/>
                  <a:pt x="15121" y="0"/>
                  <a:pt x="33773" y="0"/>
                </a:cubicBezTo>
                <a:close/>
              </a:path>
            </a:pathLst>
          </a:custGeom>
          <a:solidFill>
            <a:srgbClr val="C9A86A"/>
          </a:solidFill>
          <a:ln/>
        </p:spPr>
        <p:txBody>
          <a:bodyPr/>
          <a:lstStyle/>
          <a:p>
            <a:endParaRPr lang="en-GB"/>
          </a:p>
        </p:txBody>
      </p:sp>
      <p:sp>
        <p:nvSpPr>
          <p:cNvPr id="64" name="Shape 62"/>
          <p:cNvSpPr/>
          <p:nvPr/>
        </p:nvSpPr>
        <p:spPr>
          <a:xfrm>
            <a:off x="8511682" y="2938238"/>
            <a:ext cx="147756" cy="168864"/>
          </a:xfrm>
          <a:custGeom>
            <a:avLst/>
            <a:gdLst/>
            <a:ahLst/>
            <a:cxnLst/>
            <a:rect l="l" t="t" r="r" b="b"/>
            <a:pathLst>
              <a:path w="147756" h="168864">
                <a:moveTo>
                  <a:pt x="111741" y="-3265"/>
                </a:moveTo>
                <a:cubicBezTo>
                  <a:pt x="115665" y="-429"/>
                  <a:pt x="117117" y="4716"/>
                  <a:pt x="115336" y="9202"/>
                </a:cubicBezTo>
                <a:lnTo>
                  <a:pt x="89478" y="73878"/>
                </a:lnTo>
                <a:lnTo>
                  <a:pt x="137202" y="73878"/>
                </a:lnTo>
                <a:cubicBezTo>
                  <a:pt x="141655" y="73878"/>
                  <a:pt x="145612" y="76649"/>
                  <a:pt x="147130" y="80837"/>
                </a:cubicBezTo>
                <a:cubicBezTo>
                  <a:pt x="148647" y="85026"/>
                  <a:pt x="147360" y="89709"/>
                  <a:pt x="143963" y="92546"/>
                </a:cubicBezTo>
                <a:lnTo>
                  <a:pt x="48977" y="171701"/>
                </a:lnTo>
                <a:cubicBezTo>
                  <a:pt x="45250" y="174801"/>
                  <a:pt x="39940" y="174966"/>
                  <a:pt x="36016" y="172129"/>
                </a:cubicBezTo>
                <a:cubicBezTo>
                  <a:pt x="32091" y="169293"/>
                  <a:pt x="30640" y="164148"/>
                  <a:pt x="32421" y="159662"/>
                </a:cubicBezTo>
                <a:lnTo>
                  <a:pt x="58278" y="94986"/>
                </a:lnTo>
                <a:lnTo>
                  <a:pt x="10554" y="94986"/>
                </a:lnTo>
                <a:cubicBezTo>
                  <a:pt x="6102" y="94986"/>
                  <a:pt x="2144" y="92216"/>
                  <a:pt x="627" y="88027"/>
                </a:cubicBezTo>
                <a:cubicBezTo>
                  <a:pt x="-890" y="83838"/>
                  <a:pt x="396" y="79155"/>
                  <a:pt x="3793" y="76319"/>
                </a:cubicBezTo>
                <a:lnTo>
                  <a:pt x="98779" y="-2836"/>
                </a:lnTo>
                <a:cubicBezTo>
                  <a:pt x="102506" y="-5937"/>
                  <a:pt x="107816" y="-6102"/>
                  <a:pt x="111741" y="-3265"/>
                </a:cubicBezTo>
                <a:close/>
              </a:path>
            </a:pathLst>
          </a:custGeom>
          <a:solidFill>
            <a:srgbClr val="C9A86A"/>
          </a:solidFill>
          <a:ln/>
        </p:spPr>
        <p:txBody>
          <a:bodyPr/>
          <a:lstStyle/>
          <a:p>
            <a:endParaRPr lang="en-GB"/>
          </a:p>
        </p:txBody>
      </p:sp>
      <p:sp>
        <p:nvSpPr>
          <p:cNvPr id="65" name="Text 63"/>
          <p:cNvSpPr/>
          <p:nvPr/>
        </p:nvSpPr>
        <p:spPr>
          <a:xfrm>
            <a:off x="8792419" y="2921352"/>
            <a:ext cx="1063845" cy="202637"/>
          </a:xfrm>
          <a:prstGeom prst="rect">
            <a:avLst/>
          </a:prstGeom>
          <a:noFill/>
          <a:ln/>
        </p:spPr>
        <p:txBody>
          <a:bodyPr wrap="square" lIns="0" tIns="0" rIns="0" bIns="0" rtlCol="0" anchor="ctr"/>
          <a:lstStyle/>
          <a:p>
            <a:pPr>
              <a:lnSpc>
                <a:spcPct val="130000"/>
              </a:lnSpc>
            </a:pPr>
            <a:r>
              <a:rPr lang="en-US" sz="1064" b="1" dirty="0">
                <a:solidFill>
                  <a:srgbClr val="EDF2F4"/>
                </a:solidFill>
                <a:latin typeface="Quattrocento Sans" pitchFamily="34" charset="0"/>
                <a:ea typeface="Quattrocento Sans" pitchFamily="34" charset="-122"/>
                <a:cs typeface="Quattrocento Sans" pitchFamily="34" charset="-120"/>
              </a:rPr>
              <a:t>Energy Efficiency</a:t>
            </a:r>
            <a:endParaRPr lang="en-US" sz="1600" dirty="0"/>
          </a:p>
        </p:txBody>
      </p:sp>
      <p:sp>
        <p:nvSpPr>
          <p:cNvPr id="66" name="Text 64"/>
          <p:cNvSpPr/>
          <p:nvPr/>
        </p:nvSpPr>
        <p:spPr>
          <a:xfrm>
            <a:off x="8480020" y="3191535"/>
            <a:ext cx="3107102" cy="168864"/>
          </a:xfrm>
          <a:prstGeom prst="rect">
            <a:avLst/>
          </a:prstGeom>
          <a:noFill/>
          <a:ln/>
        </p:spPr>
        <p:txBody>
          <a:bodyPr wrap="square" lIns="0" tIns="0" rIns="0" bIns="0" rtlCol="0" anchor="ctr"/>
          <a:lstStyle/>
          <a:p>
            <a:pPr>
              <a:lnSpc>
                <a:spcPct val="120000"/>
              </a:lnSpc>
            </a:pPr>
            <a:r>
              <a:rPr lang="en-US" sz="931" dirty="0">
                <a:solidFill>
                  <a:srgbClr val="8D99AE"/>
                </a:solidFill>
                <a:latin typeface="Quattrocento Sans" pitchFamily="34" charset="0"/>
                <a:ea typeface="Quattrocento Sans" pitchFamily="34" charset="-122"/>
                <a:cs typeface="Quattrocento Sans" pitchFamily="34" charset="-120"/>
              </a:rPr>
              <a:t>Battery consumption per collection task</a:t>
            </a:r>
            <a:endParaRPr lang="en-US" sz="1600" dirty="0"/>
          </a:p>
        </p:txBody>
      </p:sp>
      <p:sp>
        <p:nvSpPr>
          <p:cNvPr id="67" name="Shape 65"/>
          <p:cNvSpPr/>
          <p:nvPr/>
        </p:nvSpPr>
        <p:spPr>
          <a:xfrm>
            <a:off x="8328043" y="3596809"/>
            <a:ext cx="3335069" cy="709230"/>
          </a:xfrm>
          <a:custGeom>
            <a:avLst/>
            <a:gdLst/>
            <a:ahLst/>
            <a:cxnLst/>
            <a:rect l="l" t="t" r="r" b="b"/>
            <a:pathLst>
              <a:path w="3335069" h="709230">
                <a:moveTo>
                  <a:pt x="33773" y="0"/>
                </a:moveTo>
                <a:lnTo>
                  <a:pt x="3267522" y="0"/>
                </a:lnTo>
                <a:cubicBezTo>
                  <a:pt x="3304827" y="0"/>
                  <a:pt x="3335069" y="30242"/>
                  <a:pt x="3335069" y="67547"/>
                </a:cubicBezTo>
                <a:lnTo>
                  <a:pt x="3335069" y="641683"/>
                </a:lnTo>
                <a:cubicBezTo>
                  <a:pt x="3335069" y="678988"/>
                  <a:pt x="3304827" y="709230"/>
                  <a:pt x="3267522" y="709230"/>
                </a:cubicBezTo>
                <a:lnTo>
                  <a:pt x="33773" y="709230"/>
                </a:lnTo>
                <a:cubicBezTo>
                  <a:pt x="15121" y="709230"/>
                  <a:pt x="0" y="694109"/>
                  <a:pt x="0" y="675457"/>
                </a:cubicBezTo>
                <a:lnTo>
                  <a:pt x="0" y="33773"/>
                </a:lnTo>
                <a:cubicBezTo>
                  <a:pt x="0" y="15121"/>
                  <a:pt x="15121" y="0"/>
                  <a:pt x="33773" y="0"/>
                </a:cubicBezTo>
                <a:close/>
              </a:path>
            </a:pathLst>
          </a:custGeom>
          <a:solidFill>
            <a:srgbClr val="1A1D24">
              <a:alpha val="60000"/>
            </a:srgbClr>
          </a:solidFill>
          <a:ln/>
        </p:spPr>
        <p:txBody>
          <a:bodyPr/>
          <a:lstStyle/>
          <a:p>
            <a:endParaRPr lang="en-GB"/>
          </a:p>
        </p:txBody>
      </p:sp>
      <p:sp>
        <p:nvSpPr>
          <p:cNvPr id="68" name="Shape 66"/>
          <p:cNvSpPr/>
          <p:nvPr/>
        </p:nvSpPr>
        <p:spPr>
          <a:xfrm>
            <a:off x="8328043" y="3596809"/>
            <a:ext cx="33773" cy="709230"/>
          </a:xfrm>
          <a:custGeom>
            <a:avLst/>
            <a:gdLst/>
            <a:ahLst/>
            <a:cxnLst/>
            <a:rect l="l" t="t" r="r" b="b"/>
            <a:pathLst>
              <a:path w="33773" h="709230">
                <a:moveTo>
                  <a:pt x="33773" y="0"/>
                </a:moveTo>
                <a:lnTo>
                  <a:pt x="33773" y="0"/>
                </a:lnTo>
                <a:lnTo>
                  <a:pt x="33773" y="709230"/>
                </a:lnTo>
                <a:lnTo>
                  <a:pt x="33773" y="709230"/>
                </a:lnTo>
                <a:cubicBezTo>
                  <a:pt x="15121" y="709230"/>
                  <a:pt x="0" y="694109"/>
                  <a:pt x="0" y="675457"/>
                </a:cubicBezTo>
                <a:lnTo>
                  <a:pt x="0" y="33773"/>
                </a:lnTo>
                <a:cubicBezTo>
                  <a:pt x="0" y="15121"/>
                  <a:pt x="15121" y="0"/>
                  <a:pt x="33773" y="0"/>
                </a:cubicBezTo>
                <a:close/>
              </a:path>
            </a:pathLst>
          </a:custGeom>
          <a:solidFill>
            <a:srgbClr val="C9A86A"/>
          </a:solidFill>
          <a:ln/>
        </p:spPr>
        <p:txBody>
          <a:bodyPr/>
          <a:lstStyle/>
          <a:p>
            <a:endParaRPr lang="en-GB"/>
          </a:p>
        </p:txBody>
      </p:sp>
      <p:sp>
        <p:nvSpPr>
          <p:cNvPr id="69" name="Shape 67"/>
          <p:cNvSpPr/>
          <p:nvPr/>
        </p:nvSpPr>
        <p:spPr>
          <a:xfrm>
            <a:off x="8511682" y="3748787"/>
            <a:ext cx="147756" cy="168864"/>
          </a:xfrm>
          <a:custGeom>
            <a:avLst/>
            <a:gdLst/>
            <a:ahLst/>
            <a:cxnLst/>
            <a:rect l="l" t="t" r="r" b="b"/>
            <a:pathLst>
              <a:path w="147756" h="168864">
                <a:moveTo>
                  <a:pt x="55573" y="0"/>
                </a:moveTo>
                <a:cubicBezTo>
                  <a:pt x="51187" y="0"/>
                  <a:pt x="47658" y="3529"/>
                  <a:pt x="47658" y="7916"/>
                </a:cubicBezTo>
                <a:cubicBezTo>
                  <a:pt x="47658" y="12302"/>
                  <a:pt x="51187" y="15831"/>
                  <a:pt x="55573" y="15831"/>
                </a:cubicBezTo>
                <a:lnTo>
                  <a:pt x="66128" y="15831"/>
                </a:lnTo>
                <a:lnTo>
                  <a:pt x="66128" y="24175"/>
                </a:lnTo>
                <a:cubicBezTo>
                  <a:pt x="30508" y="28100"/>
                  <a:pt x="2803" y="58311"/>
                  <a:pt x="2803" y="94986"/>
                </a:cubicBezTo>
                <a:cubicBezTo>
                  <a:pt x="2803" y="134333"/>
                  <a:pt x="34696" y="166226"/>
                  <a:pt x="74043" y="166226"/>
                </a:cubicBezTo>
                <a:cubicBezTo>
                  <a:pt x="113390" y="166226"/>
                  <a:pt x="145283" y="134333"/>
                  <a:pt x="145283" y="94986"/>
                </a:cubicBezTo>
                <a:cubicBezTo>
                  <a:pt x="145283" y="81860"/>
                  <a:pt x="141721" y="69558"/>
                  <a:pt x="135520" y="58971"/>
                </a:cubicBezTo>
                <a:lnTo>
                  <a:pt x="144821" y="49670"/>
                </a:lnTo>
                <a:cubicBezTo>
                  <a:pt x="148944" y="45547"/>
                  <a:pt x="148944" y="38852"/>
                  <a:pt x="144821" y="34729"/>
                </a:cubicBezTo>
                <a:cubicBezTo>
                  <a:pt x="140698" y="30607"/>
                  <a:pt x="134003" y="30607"/>
                  <a:pt x="129880" y="34729"/>
                </a:cubicBezTo>
                <a:lnTo>
                  <a:pt x="122163" y="42447"/>
                </a:lnTo>
                <a:cubicBezTo>
                  <a:pt x="111312" y="32487"/>
                  <a:pt x="97361" y="25857"/>
                  <a:pt x="81926" y="24142"/>
                </a:cubicBezTo>
                <a:lnTo>
                  <a:pt x="81926" y="15798"/>
                </a:lnTo>
                <a:lnTo>
                  <a:pt x="92480" y="15798"/>
                </a:lnTo>
                <a:cubicBezTo>
                  <a:pt x="96866" y="15798"/>
                  <a:pt x="100395" y="12269"/>
                  <a:pt x="100395" y="7883"/>
                </a:cubicBezTo>
                <a:cubicBezTo>
                  <a:pt x="100395" y="3496"/>
                  <a:pt x="96866" y="-33"/>
                  <a:pt x="92480" y="-33"/>
                </a:cubicBezTo>
                <a:lnTo>
                  <a:pt x="55541" y="-33"/>
                </a:lnTo>
                <a:close/>
                <a:moveTo>
                  <a:pt x="81959" y="60686"/>
                </a:moveTo>
                <a:lnTo>
                  <a:pt x="81959" y="94986"/>
                </a:lnTo>
                <a:cubicBezTo>
                  <a:pt x="81959" y="99373"/>
                  <a:pt x="78430" y="102902"/>
                  <a:pt x="74043" y="102902"/>
                </a:cubicBezTo>
                <a:cubicBezTo>
                  <a:pt x="69657" y="102902"/>
                  <a:pt x="66128" y="99373"/>
                  <a:pt x="66128" y="94986"/>
                </a:cubicBezTo>
                <a:lnTo>
                  <a:pt x="66128" y="60686"/>
                </a:lnTo>
                <a:cubicBezTo>
                  <a:pt x="66128" y="56299"/>
                  <a:pt x="69657" y="52770"/>
                  <a:pt x="74043" y="52770"/>
                </a:cubicBezTo>
                <a:cubicBezTo>
                  <a:pt x="78430" y="52770"/>
                  <a:pt x="81959" y="56299"/>
                  <a:pt x="81959" y="60686"/>
                </a:cubicBezTo>
                <a:close/>
              </a:path>
            </a:pathLst>
          </a:custGeom>
          <a:solidFill>
            <a:srgbClr val="C9A86A"/>
          </a:solidFill>
          <a:ln/>
        </p:spPr>
        <p:txBody>
          <a:bodyPr/>
          <a:lstStyle/>
          <a:p>
            <a:endParaRPr lang="en-GB"/>
          </a:p>
        </p:txBody>
      </p:sp>
      <p:sp>
        <p:nvSpPr>
          <p:cNvPr id="70" name="Text 68"/>
          <p:cNvSpPr/>
          <p:nvPr/>
        </p:nvSpPr>
        <p:spPr>
          <a:xfrm>
            <a:off x="8792419" y="3731900"/>
            <a:ext cx="945640" cy="202637"/>
          </a:xfrm>
          <a:prstGeom prst="rect">
            <a:avLst/>
          </a:prstGeom>
          <a:noFill/>
          <a:ln/>
        </p:spPr>
        <p:txBody>
          <a:bodyPr wrap="square" lIns="0" tIns="0" rIns="0" bIns="0" rtlCol="0" anchor="ctr"/>
          <a:lstStyle/>
          <a:p>
            <a:pPr>
              <a:lnSpc>
                <a:spcPct val="130000"/>
              </a:lnSpc>
            </a:pPr>
            <a:r>
              <a:rPr lang="en-US" sz="1064" b="1" dirty="0">
                <a:solidFill>
                  <a:srgbClr val="EDF2F4"/>
                </a:solidFill>
                <a:latin typeface="Quattrocento Sans" pitchFamily="34" charset="0"/>
                <a:ea typeface="Quattrocento Sans" pitchFamily="34" charset="-122"/>
                <a:cs typeface="Quattrocento Sans" pitchFamily="34" charset="-120"/>
              </a:rPr>
              <a:t>Time Efficiency</a:t>
            </a:r>
            <a:endParaRPr lang="en-US" sz="1600" dirty="0"/>
          </a:p>
        </p:txBody>
      </p:sp>
      <p:sp>
        <p:nvSpPr>
          <p:cNvPr id="71" name="Text 69"/>
          <p:cNvSpPr/>
          <p:nvPr/>
        </p:nvSpPr>
        <p:spPr>
          <a:xfrm>
            <a:off x="8480020" y="4002083"/>
            <a:ext cx="3107102" cy="168864"/>
          </a:xfrm>
          <a:prstGeom prst="rect">
            <a:avLst/>
          </a:prstGeom>
          <a:noFill/>
          <a:ln/>
        </p:spPr>
        <p:txBody>
          <a:bodyPr wrap="square" lIns="0" tIns="0" rIns="0" bIns="0" rtlCol="0" anchor="ctr"/>
          <a:lstStyle/>
          <a:p>
            <a:pPr>
              <a:lnSpc>
                <a:spcPct val="120000"/>
              </a:lnSpc>
            </a:pPr>
            <a:r>
              <a:rPr lang="en-US" sz="931" dirty="0">
                <a:solidFill>
                  <a:srgbClr val="8D99AE"/>
                </a:solidFill>
                <a:latin typeface="Quattrocento Sans" pitchFamily="34" charset="0"/>
                <a:ea typeface="Quattrocento Sans" pitchFamily="34" charset="-122"/>
                <a:cs typeface="Quattrocento Sans" pitchFamily="34" charset="-120"/>
              </a:rPr>
              <a:t>Average time to complete collection missions</a:t>
            </a:r>
            <a:endParaRPr lang="en-US" sz="1600" dirty="0"/>
          </a:p>
        </p:txBody>
      </p:sp>
      <p:sp>
        <p:nvSpPr>
          <p:cNvPr id="72" name="Shape 70"/>
          <p:cNvSpPr/>
          <p:nvPr/>
        </p:nvSpPr>
        <p:spPr>
          <a:xfrm>
            <a:off x="8328043" y="4407357"/>
            <a:ext cx="3335069" cy="709230"/>
          </a:xfrm>
          <a:custGeom>
            <a:avLst/>
            <a:gdLst/>
            <a:ahLst/>
            <a:cxnLst/>
            <a:rect l="l" t="t" r="r" b="b"/>
            <a:pathLst>
              <a:path w="3335069" h="709230">
                <a:moveTo>
                  <a:pt x="33773" y="0"/>
                </a:moveTo>
                <a:lnTo>
                  <a:pt x="3267522" y="0"/>
                </a:lnTo>
                <a:cubicBezTo>
                  <a:pt x="3304827" y="0"/>
                  <a:pt x="3335069" y="30242"/>
                  <a:pt x="3335069" y="67547"/>
                </a:cubicBezTo>
                <a:lnTo>
                  <a:pt x="3335069" y="641683"/>
                </a:lnTo>
                <a:cubicBezTo>
                  <a:pt x="3335069" y="678988"/>
                  <a:pt x="3304827" y="709230"/>
                  <a:pt x="3267522" y="709230"/>
                </a:cubicBezTo>
                <a:lnTo>
                  <a:pt x="33773" y="709230"/>
                </a:lnTo>
                <a:cubicBezTo>
                  <a:pt x="15121" y="709230"/>
                  <a:pt x="0" y="694109"/>
                  <a:pt x="0" y="675457"/>
                </a:cubicBezTo>
                <a:lnTo>
                  <a:pt x="0" y="33773"/>
                </a:lnTo>
                <a:cubicBezTo>
                  <a:pt x="0" y="15121"/>
                  <a:pt x="15121" y="0"/>
                  <a:pt x="33773" y="0"/>
                </a:cubicBezTo>
                <a:close/>
              </a:path>
            </a:pathLst>
          </a:custGeom>
          <a:solidFill>
            <a:srgbClr val="1A1D24">
              <a:alpha val="60000"/>
            </a:srgbClr>
          </a:solidFill>
          <a:ln/>
        </p:spPr>
        <p:txBody>
          <a:bodyPr/>
          <a:lstStyle/>
          <a:p>
            <a:endParaRPr lang="en-GB"/>
          </a:p>
        </p:txBody>
      </p:sp>
      <p:sp>
        <p:nvSpPr>
          <p:cNvPr id="73" name="Shape 71"/>
          <p:cNvSpPr/>
          <p:nvPr/>
        </p:nvSpPr>
        <p:spPr>
          <a:xfrm>
            <a:off x="8328043" y="4407357"/>
            <a:ext cx="33773" cy="709230"/>
          </a:xfrm>
          <a:custGeom>
            <a:avLst/>
            <a:gdLst/>
            <a:ahLst/>
            <a:cxnLst/>
            <a:rect l="l" t="t" r="r" b="b"/>
            <a:pathLst>
              <a:path w="33773" h="709230">
                <a:moveTo>
                  <a:pt x="33773" y="0"/>
                </a:moveTo>
                <a:lnTo>
                  <a:pt x="33773" y="0"/>
                </a:lnTo>
                <a:lnTo>
                  <a:pt x="33773" y="709230"/>
                </a:lnTo>
                <a:lnTo>
                  <a:pt x="33773" y="709230"/>
                </a:lnTo>
                <a:cubicBezTo>
                  <a:pt x="15121" y="709230"/>
                  <a:pt x="0" y="694109"/>
                  <a:pt x="0" y="675457"/>
                </a:cubicBezTo>
                <a:lnTo>
                  <a:pt x="0" y="33773"/>
                </a:lnTo>
                <a:cubicBezTo>
                  <a:pt x="0" y="15121"/>
                  <a:pt x="15121" y="0"/>
                  <a:pt x="33773" y="0"/>
                </a:cubicBezTo>
                <a:close/>
              </a:path>
            </a:pathLst>
          </a:custGeom>
          <a:solidFill>
            <a:srgbClr val="C9A86A"/>
          </a:solidFill>
          <a:ln/>
        </p:spPr>
        <p:txBody>
          <a:bodyPr/>
          <a:lstStyle/>
          <a:p>
            <a:endParaRPr lang="en-GB"/>
          </a:p>
        </p:txBody>
      </p:sp>
      <p:sp>
        <p:nvSpPr>
          <p:cNvPr id="74" name="Shape 72"/>
          <p:cNvSpPr/>
          <p:nvPr/>
        </p:nvSpPr>
        <p:spPr>
          <a:xfrm>
            <a:off x="8501128" y="4559335"/>
            <a:ext cx="168864" cy="168864"/>
          </a:xfrm>
          <a:custGeom>
            <a:avLst/>
            <a:gdLst/>
            <a:ahLst/>
            <a:cxnLst/>
            <a:rect l="l" t="t" r="r" b="b"/>
            <a:pathLst>
              <a:path w="168864" h="168864">
                <a:moveTo>
                  <a:pt x="84432" y="168864"/>
                </a:moveTo>
                <a:cubicBezTo>
                  <a:pt x="131031" y="168864"/>
                  <a:pt x="168864" y="131031"/>
                  <a:pt x="168864" y="84432"/>
                </a:cubicBezTo>
                <a:cubicBezTo>
                  <a:pt x="168864" y="37833"/>
                  <a:pt x="131031" y="0"/>
                  <a:pt x="84432" y="0"/>
                </a:cubicBezTo>
                <a:cubicBezTo>
                  <a:pt x="37833" y="0"/>
                  <a:pt x="0" y="37833"/>
                  <a:pt x="0" y="84432"/>
                </a:cubicBezTo>
                <a:cubicBezTo>
                  <a:pt x="0" y="131031"/>
                  <a:pt x="37833" y="168864"/>
                  <a:pt x="84432" y="168864"/>
                </a:cubicBezTo>
                <a:close/>
                <a:moveTo>
                  <a:pt x="112268" y="70151"/>
                </a:moveTo>
                <a:lnTo>
                  <a:pt x="85883" y="112367"/>
                </a:lnTo>
                <a:cubicBezTo>
                  <a:pt x="84498" y="114577"/>
                  <a:pt x="82123" y="115962"/>
                  <a:pt x="79518" y="116094"/>
                </a:cubicBezTo>
                <a:cubicBezTo>
                  <a:pt x="76912" y="116226"/>
                  <a:pt x="74406" y="115039"/>
                  <a:pt x="72856" y="112928"/>
                </a:cubicBezTo>
                <a:lnTo>
                  <a:pt x="57025" y="91820"/>
                </a:lnTo>
                <a:cubicBezTo>
                  <a:pt x="54386" y="88324"/>
                  <a:pt x="55112" y="83377"/>
                  <a:pt x="58608" y="80738"/>
                </a:cubicBezTo>
                <a:cubicBezTo>
                  <a:pt x="62104" y="78100"/>
                  <a:pt x="67051" y="78825"/>
                  <a:pt x="69689" y="82321"/>
                </a:cubicBezTo>
                <a:lnTo>
                  <a:pt x="78594" y="94195"/>
                </a:lnTo>
                <a:lnTo>
                  <a:pt x="98845" y="61774"/>
                </a:lnTo>
                <a:cubicBezTo>
                  <a:pt x="101154" y="58080"/>
                  <a:pt x="106035" y="56926"/>
                  <a:pt x="109762" y="59267"/>
                </a:cubicBezTo>
                <a:cubicBezTo>
                  <a:pt x="113489" y="61609"/>
                  <a:pt x="114610" y="66457"/>
                  <a:pt x="112268" y="70184"/>
                </a:cubicBezTo>
                <a:close/>
              </a:path>
            </a:pathLst>
          </a:custGeom>
          <a:solidFill>
            <a:srgbClr val="C9A86A"/>
          </a:solidFill>
          <a:ln/>
        </p:spPr>
        <p:txBody>
          <a:bodyPr/>
          <a:lstStyle/>
          <a:p>
            <a:endParaRPr lang="en-GB"/>
          </a:p>
        </p:txBody>
      </p:sp>
      <p:sp>
        <p:nvSpPr>
          <p:cNvPr id="75" name="Text 73"/>
          <p:cNvSpPr/>
          <p:nvPr/>
        </p:nvSpPr>
        <p:spPr>
          <a:xfrm>
            <a:off x="8792419" y="4542449"/>
            <a:ext cx="827435" cy="202637"/>
          </a:xfrm>
          <a:prstGeom prst="rect">
            <a:avLst/>
          </a:prstGeom>
          <a:noFill/>
          <a:ln/>
        </p:spPr>
        <p:txBody>
          <a:bodyPr wrap="square" lIns="0" tIns="0" rIns="0" bIns="0" rtlCol="0" anchor="ctr"/>
          <a:lstStyle/>
          <a:p>
            <a:pPr>
              <a:lnSpc>
                <a:spcPct val="130000"/>
              </a:lnSpc>
            </a:pPr>
            <a:r>
              <a:rPr lang="en-US" sz="1064" b="1" dirty="0">
                <a:solidFill>
                  <a:srgbClr val="EDF2F4"/>
                </a:solidFill>
                <a:latin typeface="Quattrocento Sans" pitchFamily="34" charset="0"/>
                <a:ea typeface="Quattrocento Sans" pitchFamily="34" charset="-122"/>
                <a:cs typeface="Quattrocento Sans" pitchFamily="34" charset="-120"/>
              </a:rPr>
              <a:t>No Collisions</a:t>
            </a:r>
            <a:endParaRPr lang="en-US" sz="1600" dirty="0"/>
          </a:p>
        </p:txBody>
      </p:sp>
      <p:sp>
        <p:nvSpPr>
          <p:cNvPr id="76" name="Text 74"/>
          <p:cNvSpPr/>
          <p:nvPr/>
        </p:nvSpPr>
        <p:spPr>
          <a:xfrm>
            <a:off x="8480020" y="4812632"/>
            <a:ext cx="3107102" cy="168864"/>
          </a:xfrm>
          <a:prstGeom prst="rect">
            <a:avLst/>
          </a:prstGeom>
          <a:noFill/>
          <a:ln/>
        </p:spPr>
        <p:txBody>
          <a:bodyPr wrap="square" lIns="0" tIns="0" rIns="0" bIns="0" rtlCol="0" anchor="ctr"/>
          <a:lstStyle/>
          <a:p>
            <a:pPr>
              <a:lnSpc>
                <a:spcPct val="120000"/>
              </a:lnSpc>
            </a:pPr>
            <a:r>
              <a:rPr lang="en-US" sz="931" dirty="0">
                <a:solidFill>
                  <a:srgbClr val="8D99AE"/>
                </a:solidFill>
                <a:latin typeface="Quattrocento Sans" pitchFamily="34" charset="0"/>
                <a:ea typeface="Quattrocento Sans" pitchFamily="34" charset="-122"/>
                <a:cs typeface="Quattrocento Sans" pitchFamily="34" charset="-120"/>
              </a:rPr>
              <a:t>Safety metric: zero collision incidents</a:t>
            </a:r>
            <a:endParaRPr lang="en-US" sz="1600" dirty="0"/>
          </a:p>
        </p:txBody>
      </p:sp>
      <p:sp>
        <p:nvSpPr>
          <p:cNvPr id="77" name="Shape 75"/>
          <p:cNvSpPr/>
          <p:nvPr/>
        </p:nvSpPr>
        <p:spPr>
          <a:xfrm>
            <a:off x="354615" y="6011568"/>
            <a:ext cx="11499657" cy="506593"/>
          </a:xfrm>
          <a:custGeom>
            <a:avLst/>
            <a:gdLst/>
            <a:ahLst/>
            <a:cxnLst/>
            <a:rect l="l" t="t" r="r" b="b"/>
            <a:pathLst>
              <a:path w="11499657" h="506593">
                <a:moveTo>
                  <a:pt x="33773" y="0"/>
                </a:moveTo>
                <a:lnTo>
                  <a:pt x="11432112" y="0"/>
                </a:lnTo>
                <a:cubicBezTo>
                  <a:pt x="11469416" y="0"/>
                  <a:pt x="11499657" y="30240"/>
                  <a:pt x="11499657" y="67544"/>
                </a:cubicBezTo>
                <a:lnTo>
                  <a:pt x="11499657" y="439049"/>
                </a:lnTo>
                <a:cubicBezTo>
                  <a:pt x="11499657" y="476352"/>
                  <a:pt x="11469416" y="506593"/>
                  <a:pt x="11432112" y="506593"/>
                </a:cubicBezTo>
                <a:lnTo>
                  <a:pt x="33773" y="506593"/>
                </a:lnTo>
                <a:cubicBezTo>
                  <a:pt x="15121" y="506593"/>
                  <a:pt x="0" y="491472"/>
                  <a:pt x="0" y="472820"/>
                </a:cubicBezTo>
                <a:lnTo>
                  <a:pt x="0" y="33773"/>
                </a:lnTo>
                <a:cubicBezTo>
                  <a:pt x="0" y="15133"/>
                  <a:pt x="15133" y="0"/>
                  <a:pt x="33773" y="0"/>
                </a:cubicBezTo>
                <a:close/>
              </a:path>
            </a:pathLst>
          </a:custGeom>
          <a:gradFill flip="none" rotWithShape="1">
            <a:gsLst>
              <a:gs pos="0">
                <a:srgbClr val="C9A86A">
                  <a:alpha val="30000"/>
                </a:srgbClr>
              </a:gs>
              <a:gs pos="100000">
                <a:srgbClr val="000000">
                  <a:alpha val="0"/>
                </a:srgbClr>
              </a:gs>
            </a:gsLst>
            <a:lin ang="0" scaled="1"/>
          </a:gradFill>
          <a:ln/>
        </p:spPr>
        <p:txBody>
          <a:bodyPr/>
          <a:lstStyle/>
          <a:p>
            <a:endParaRPr lang="en-GB"/>
          </a:p>
        </p:txBody>
      </p:sp>
      <p:sp>
        <p:nvSpPr>
          <p:cNvPr id="78" name="Shape 76"/>
          <p:cNvSpPr/>
          <p:nvPr/>
        </p:nvSpPr>
        <p:spPr>
          <a:xfrm>
            <a:off x="354615" y="6011568"/>
            <a:ext cx="33773" cy="506593"/>
          </a:xfrm>
          <a:custGeom>
            <a:avLst/>
            <a:gdLst/>
            <a:ahLst/>
            <a:cxnLst/>
            <a:rect l="l" t="t" r="r" b="b"/>
            <a:pathLst>
              <a:path w="33773" h="506593">
                <a:moveTo>
                  <a:pt x="33773" y="0"/>
                </a:moveTo>
                <a:lnTo>
                  <a:pt x="33773" y="0"/>
                </a:lnTo>
                <a:lnTo>
                  <a:pt x="33773" y="506593"/>
                </a:lnTo>
                <a:lnTo>
                  <a:pt x="33773" y="506593"/>
                </a:lnTo>
                <a:cubicBezTo>
                  <a:pt x="15121" y="506593"/>
                  <a:pt x="0" y="491472"/>
                  <a:pt x="0" y="472820"/>
                </a:cubicBezTo>
                <a:lnTo>
                  <a:pt x="0" y="33773"/>
                </a:lnTo>
                <a:cubicBezTo>
                  <a:pt x="0" y="15121"/>
                  <a:pt x="15121" y="0"/>
                  <a:pt x="33773" y="0"/>
                </a:cubicBezTo>
                <a:close/>
              </a:path>
            </a:pathLst>
          </a:custGeom>
          <a:solidFill>
            <a:srgbClr val="C9A86A"/>
          </a:solidFill>
          <a:ln/>
        </p:spPr>
        <p:txBody>
          <a:bodyPr/>
          <a:lstStyle/>
          <a:p>
            <a:endParaRPr lang="en-GB"/>
          </a:p>
        </p:txBody>
      </p:sp>
      <p:sp>
        <p:nvSpPr>
          <p:cNvPr id="79" name="Shape 77"/>
          <p:cNvSpPr/>
          <p:nvPr/>
        </p:nvSpPr>
        <p:spPr>
          <a:xfrm>
            <a:off x="527701" y="6180432"/>
            <a:ext cx="168864" cy="168864"/>
          </a:xfrm>
          <a:custGeom>
            <a:avLst/>
            <a:gdLst/>
            <a:ahLst/>
            <a:cxnLst/>
            <a:rect l="l" t="t" r="r" b="b"/>
            <a:pathLst>
              <a:path w="168864" h="168864">
                <a:moveTo>
                  <a:pt x="84432" y="168864"/>
                </a:moveTo>
                <a:cubicBezTo>
                  <a:pt x="131031" y="168864"/>
                  <a:pt x="168864" y="131031"/>
                  <a:pt x="168864" y="84432"/>
                </a:cubicBezTo>
                <a:cubicBezTo>
                  <a:pt x="168864" y="37833"/>
                  <a:pt x="131031" y="0"/>
                  <a:pt x="84432" y="0"/>
                </a:cubicBezTo>
                <a:cubicBezTo>
                  <a:pt x="37833" y="0"/>
                  <a:pt x="0" y="37833"/>
                  <a:pt x="0" y="84432"/>
                </a:cubicBezTo>
                <a:cubicBezTo>
                  <a:pt x="0" y="131031"/>
                  <a:pt x="37833" y="168864"/>
                  <a:pt x="84432" y="168864"/>
                </a:cubicBezTo>
                <a:close/>
                <a:moveTo>
                  <a:pt x="73878" y="52770"/>
                </a:moveTo>
                <a:cubicBezTo>
                  <a:pt x="73878" y="46945"/>
                  <a:pt x="78607" y="42216"/>
                  <a:pt x="84432" y="42216"/>
                </a:cubicBezTo>
                <a:cubicBezTo>
                  <a:pt x="90257" y="42216"/>
                  <a:pt x="94986" y="46945"/>
                  <a:pt x="94986" y="52770"/>
                </a:cubicBezTo>
                <a:cubicBezTo>
                  <a:pt x="94986" y="58595"/>
                  <a:pt x="90257" y="63324"/>
                  <a:pt x="84432" y="63324"/>
                </a:cubicBezTo>
                <a:cubicBezTo>
                  <a:pt x="78607" y="63324"/>
                  <a:pt x="73878" y="58595"/>
                  <a:pt x="73878" y="52770"/>
                </a:cubicBezTo>
                <a:close/>
                <a:moveTo>
                  <a:pt x="71240" y="73878"/>
                </a:moveTo>
                <a:lnTo>
                  <a:pt x="87071" y="73878"/>
                </a:lnTo>
                <a:cubicBezTo>
                  <a:pt x="91457" y="73878"/>
                  <a:pt x="94986" y="77407"/>
                  <a:pt x="94986" y="81794"/>
                </a:cubicBezTo>
                <a:lnTo>
                  <a:pt x="94986" y="110817"/>
                </a:lnTo>
                <a:lnTo>
                  <a:pt x="97625" y="110817"/>
                </a:lnTo>
                <a:cubicBezTo>
                  <a:pt x="102011" y="110817"/>
                  <a:pt x="105540" y="114346"/>
                  <a:pt x="105540" y="118733"/>
                </a:cubicBezTo>
                <a:cubicBezTo>
                  <a:pt x="105540" y="123119"/>
                  <a:pt x="102011" y="126648"/>
                  <a:pt x="97625" y="126648"/>
                </a:cubicBezTo>
                <a:lnTo>
                  <a:pt x="71240" y="126648"/>
                </a:lnTo>
                <a:cubicBezTo>
                  <a:pt x="66853" y="126648"/>
                  <a:pt x="63324" y="123119"/>
                  <a:pt x="63324" y="118733"/>
                </a:cubicBezTo>
                <a:cubicBezTo>
                  <a:pt x="63324" y="114346"/>
                  <a:pt x="66853" y="110817"/>
                  <a:pt x="71240" y="110817"/>
                </a:cubicBezTo>
                <a:lnTo>
                  <a:pt x="79155" y="110817"/>
                </a:lnTo>
                <a:lnTo>
                  <a:pt x="79155" y="89709"/>
                </a:lnTo>
                <a:lnTo>
                  <a:pt x="71240" y="89709"/>
                </a:lnTo>
                <a:cubicBezTo>
                  <a:pt x="66853" y="89709"/>
                  <a:pt x="63324" y="86180"/>
                  <a:pt x="63324" y="81794"/>
                </a:cubicBezTo>
                <a:cubicBezTo>
                  <a:pt x="63324" y="77407"/>
                  <a:pt x="66853" y="73878"/>
                  <a:pt x="71240" y="73878"/>
                </a:cubicBezTo>
                <a:close/>
              </a:path>
            </a:pathLst>
          </a:custGeom>
          <a:solidFill>
            <a:srgbClr val="C9A86A"/>
          </a:solidFill>
          <a:ln/>
        </p:spPr>
        <p:txBody>
          <a:bodyPr/>
          <a:lstStyle/>
          <a:p>
            <a:endParaRPr lang="en-GB"/>
          </a:p>
        </p:txBody>
      </p:sp>
      <p:sp>
        <p:nvSpPr>
          <p:cNvPr id="80" name="Text 78"/>
          <p:cNvSpPr/>
          <p:nvPr/>
        </p:nvSpPr>
        <p:spPr>
          <a:xfrm>
            <a:off x="717673" y="6146659"/>
            <a:ext cx="11077496" cy="236410"/>
          </a:xfrm>
          <a:prstGeom prst="rect">
            <a:avLst/>
          </a:prstGeom>
          <a:noFill/>
          <a:ln/>
        </p:spPr>
        <p:txBody>
          <a:bodyPr wrap="square" lIns="0" tIns="0" rIns="0" bIns="0" rtlCol="0" anchor="ctr"/>
          <a:lstStyle/>
          <a:p>
            <a:pPr>
              <a:lnSpc>
                <a:spcPct val="130000"/>
              </a:lnSpc>
            </a:pPr>
            <a:r>
              <a:rPr lang="en-US" sz="1197" b="1" dirty="0">
                <a:solidFill>
                  <a:srgbClr val="EDF2F4"/>
                </a:solidFill>
                <a:latin typeface="Quattrocento Sans" pitchFamily="34" charset="0"/>
                <a:ea typeface="Quattrocento Sans" pitchFamily="34" charset="-122"/>
                <a:cs typeface="Quattrocento Sans" pitchFamily="34" charset="-120"/>
              </a:rPr>
              <a:t>This is a sequential, partially observable environment — the agent must make decisions with incomplete information while considering future states</a:t>
            </a:r>
            <a:endParaRPr lang="en-US" sz="1600" dirty="0"/>
          </a:p>
        </p:txBody>
      </p:sp>
    </p:spTree>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A1D24"/>
        </a:solidFill>
        <a:effectLst/>
      </p:bgPr>
    </p:bg>
    <p:spTree>
      <p:nvGrpSpPr>
        <p:cNvPr id="1" name=""/>
        <p:cNvGrpSpPr/>
        <p:nvPr/>
      </p:nvGrpSpPr>
      <p:grpSpPr>
        <a:xfrm>
          <a:off x="0" y="0"/>
          <a:ext cx="0" cy="0"/>
          <a:chOff x="0" y="0"/>
          <a:chExt cx="0" cy="0"/>
        </a:xfrm>
      </p:grpSpPr>
      <p:sp>
        <p:nvSpPr>
          <p:cNvPr id="2" name="Text 0"/>
          <p:cNvSpPr/>
          <p:nvPr/>
        </p:nvSpPr>
        <p:spPr>
          <a:xfrm>
            <a:off x="381000" y="381000"/>
            <a:ext cx="11506200" cy="228600"/>
          </a:xfrm>
          <a:prstGeom prst="rect">
            <a:avLst/>
          </a:prstGeom>
          <a:noFill/>
          <a:ln/>
        </p:spPr>
        <p:txBody>
          <a:bodyPr wrap="square" lIns="0" tIns="0" rIns="0" bIns="0" rtlCol="0" anchor="ctr"/>
          <a:lstStyle/>
          <a:p>
            <a:pPr>
              <a:lnSpc>
                <a:spcPct val="130000"/>
              </a:lnSpc>
            </a:pPr>
            <a:r>
              <a:rPr lang="en-US" sz="1200" b="1" kern="0" spc="120" dirty="0">
                <a:solidFill>
                  <a:srgbClr val="C9A86A"/>
                </a:solidFill>
                <a:latin typeface="Quattrocento Sans" pitchFamily="34" charset="0"/>
                <a:ea typeface="Quattrocento Sans" pitchFamily="34" charset="-122"/>
                <a:cs typeface="Quattrocento Sans" pitchFamily="34" charset="-120"/>
              </a:rPr>
              <a:t>Project 2 Design</a:t>
            </a:r>
            <a:endParaRPr lang="en-US" sz="1600" dirty="0"/>
          </a:p>
        </p:txBody>
      </p:sp>
      <p:sp>
        <p:nvSpPr>
          <p:cNvPr id="3" name="Text 1"/>
          <p:cNvSpPr/>
          <p:nvPr/>
        </p:nvSpPr>
        <p:spPr>
          <a:xfrm>
            <a:off x="381000" y="685800"/>
            <a:ext cx="11601450" cy="381000"/>
          </a:xfrm>
          <a:prstGeom prst="rect">
            <a:avLst/>
          </a:prstGeom>
          <a:noFill/>
          <a:ln/>
        </p:spPr>
        <p:txBody>
          <a:bodyPr wrap="square" lIns="0" tIns="0" rIns="0" bIns="0" rtlCol="0" anchor="ctr"/>
          <a:lstStyle/>
          <a:p>
            <a:pPr>
              <a:lnSpc>
                <a:spcPct val="90000"/>
              </a:lnSpc>
            </a:pPr>
            <a:r>
              <a:rPr lang="en-US" sz="2700" b="1" dirty="0">
                <a:solidFill>
                  <a:srgbClr val="EDF2F4"/>
                </a:solidFill>
                <a:latin typeface="Liter" pitchFamily="34" charset="0"/>
                <a:ea typeface="Liter" pitchFamily="34" charset="-122"/>
                <a:cs typeface="Liter" pitchFamily="34" charset="-120"/>
              </a:rPr>
              <a:t>Proposed Architecture</a:t>
            </a:r>
            <a:endParaRPr lang="en-US" sz="1600" dirty="0"/>
          </a:p>
        </p:txBody>
      </p:sp>
      <p:sp>
        <p:nvSpPr>
          <p:cNvPr id="4" name="Shape 2"/>
          <p:cNvSpPr/>
          <p:nvPr/>
        </p:nvSpPr>
        <p:spPr>
          <a:xfrm>
            <a:off x="381000" y="1181100"/>
            <a:ext cx="914400" cy="38100"/>
          </a:xfrm>
          <a:custGeom>
            <a:avLst/>
            <a:gdLst/>
            <a:ahLst/>
            <a:cxnLst/>
            <a:rect l="l" t="t" r="r" b="b"/>
            <a:pathLst>
              <a:path w="914400" h="38100">
                <a:moveTo>
                  <a:pt x="0" y="0"/>
                </a:moveTo>
                <a:lnTo>
                  <a:pt x="914400" y="0"/>
                </a:lnTo>
                <a:lnTo>
                  <a:pt x="914400" y="38100"/>
                </a:lnTo>
                <a:lnTo>
                  <a:pt x="0" y="38100"/>
                </a:lnTo>
                <a:lnTo>
                  <a:pt x="0" y="0"/>
                </a:lnTo>
                <a:close/>
              </a:path>
            </a:pathLst>
          </a:custGeom>
          <a:solidFill>
            <a:srgbClr val="C9A86A"/>
          </a:solidFill>
          <a:ln/>
        </p:spPr>
        <p:txBody>
          <a:bodyPr/>
          <a:lstStyle/>
          <a:p>
            <a:endParaRPr lang="en-GB"/>
          </a:p>
        </p:txBody>
      </p:sp>
      <p:sp>
        <p:nvSpPr>
          <p:cNvPr id="5" name="Shape 3"/>
          <p:cNvSpPr/>
          <p:nvPr/>
        </p:nvSpPr>
        <p:spPr>
          <a:xfrm>
            <a:off x="1228725" y="1612106"/>
            <a:ext cx="2838450" cy="2743200"/>
          </a:xfrm>
          <a:custGeom>
            <a:avLst/>
            <a:gdLst/>
            <a:ahLst/>
            <a:cxnLst/>
            <a:rect l="l" t="t" r="r" b="b"/>
            <a:pathLst>
              <a:path w="2838450" h="2743200">
                <a:moveTo>
                  <a:pt x="114309" y="0"/>
                </a:moveTo>
                <a:lnTo>
                  <a:pt x="2724141" y="0"/>
                </a:lnTo>
                <a:cubicBezTo>
                  <a:pt x="2787272" y="0"/>
                  <a:pt x="2838450" y="51178"/>
                  <a:pt x="2838450" y="114309"/>
                </a:cubicBezTo>
                <a:lnTo>
                  <a:pt x="2838450" y="2628891"/>
                </a:lnTo>
                <a:cubicBezTo>
                  <a:pt x="2838450" y="2692022"/>
                  <a:pt x="2787272" y="2743200"/>
                  <a:pt x="2724141" y="2743200"/>
                </a:cubicBezTo>
                <a:lnTo>
                  <a:pt x="114309" y="2743200"/>
                </a:lnTo>
                <a:cubicBezTo>
                  <a:pt x="51178" y="2743200"/>
                  <a:pt x="0" y="2692022"/>
                  <a:pt x="0" y="2628891"/>
                </a:cubicBezTo>
                <a:lnTo>
                  <a:pt x="0" y="114309"/>
                </a:lnTo>
                <a:cubicBezTo>
                  <a:pt x="0" y="51220"/>
                  <a:pt x="51220" y="0"/>
                  <a:pt x="114309" y="0"/>
                </a:cubicBezTo>
                <a:close/>
              </a:path>
            </a:pathLst>
          </a:custGeom>
          <a:gradFill flip="none" rotWithShape="1">
            <a:gsLst>
              <a:gs pos="0">
                <a:srgbClr val="C9A86A">
                  <a:alpha val="30000"/>
                </a:srgbClr>
              </a:gs>
              <a:gs pos="100000">
                <a:srgbClr val="C9A86A">
                  <a:alpha val="10000"/>
                </a:srgbClr>
              </a:gs>
            </a:gsLst>
            <a:lin ang="2700000" scaled="1"/>
          </a:gradFill>
          <a:ln w="25400">
            <a:solidFill>
              <a:srgbClr val="C9A86A"/>
            </a:solidFill>
            <a:prstDash val="solid"/>
          </a:ln>
        </p:spPr>
        <p:txBody>
          <a:bodyPr/>
          <a:lstStyle/>
          <a:p>
            <a:endParaRPr lang="en-GB"/>
          </a:p>
        </p:txBody>
      </p:sp>
      <p:sp>
        <p:nvSpPr>
          <p:cNvPr id="6" name="Shape 4"/>
          <p:cNvSpPr/>
          <p:nvPr/>
        </p:nvSpPr>
        <p:spPr>
          <a:xfrm>
            <a:off x="2299543" y="1507331"/>
            <a:ext cx="695325" cy="304800"/>
          </a:xfrm>
          <a:custGeom>
            <a:avLst/>
            <a:gdLst/>
            <a:ahLst/>
            <a:cxnLst/>
            <a:rect l="l" t="t" r="r" b="b"/>
            <a:pathLst>
              <a:path w="695325" h="304800">
                <a:moveTo>
                  <a:pt x="152400" y="0"/>
                </a:moveTo>
                <a:lnTo>
                  <a:pt x="542925" y="0"/>
                </a:lnTo>
                <a:cubicBezTo>
                  <a:pt x="627037" y="0"/>
                  <a:pt x="695325" y="68288"/>
                  <a:pt x="695325" y="152400"/>
                </a:cubicBezTo>
                <a:lnTo>
                  <a:pt x="695325" y="152400"/>
                </a:lnTo>
                <a:cubicBezTo>
                  <a:pt x="695325" y="236512"/>
                  <a:pt x="627037" y="304800"/>
                  <a:pt x="542925" y="304800"/>
                </a:cubicBezTo>
                <a:lnTo>
                  <a:pt x="152400" y="304800"/>
                </a:lnTo>
                <a:cubicBezTo>
                  <a:pt x="68288" y="304800"/>
                  <a:pt x="0" y="236512"/>
                  <a:pt x="0" y="152400"/>
                </a:cubicBezTo>
                <a:lnTo>
                  <a:pt x="0" y="152400"/>
                </a:lnTo>
                <a:cubicBezTo>
                  <a:pt x="0" y="68288"/>
                  <a:pt x="68288" y="0"/>
                  <a:pt x="152400" y="0"/>
                </a:cubicBezTo>
                <a:close/>
              </a:path>
            </a:pathLst>
          </a:custGeom>
          <a:solidFill>
            <a:srgbClr val="C9A86A"/>
          </a:solidFill>
          <a:ln/>
        </p:spPr>
        <p:txBody>
          <a:bodyPr/>
          <a:lstStyle/>
          <a:p>
            <a:endParaRPr lang="en-GB"/>
          </a:p>
        </p:txBody>
      </p:sp>
      <p:sp>
        <p:nvSpPr>
          <p:cNvPr id="7" name="Text 5"/>
          <p:cNvSpPr/>
          <p:nvPr/>
        </p:nvSpPr>
        <p:spPr>
          <a:xfrm>
            <a:off x="2451943" y="1593056"/>
            <a:ext cx="458688" cy="152400"/>
          </a:xfrm>
          <a:prstGeom prst="rect">
            <a:avLst/>
          </a:prstGeom>
          <a:noFill/>
          <a:ln/>
        </p:spPr>
        <p:txBody>
          <a:bodyPr wrap="square" lIns="0" tIns="0" rIns="0" bIns="0" rtlCol="0" anchor="ctr"/>
          <a:lstStyle/>
          <a:p>
            <a:pPr>
              <a:lnSpc>
                <a:spcPct val="120000"/>
              </a:lnSpc>
            </a:pPr>
            <a:r>
              <a:rPr lang="en-US" sz="1050" b="1" dirty="0">
                <a:solidFill>
                  <a:srgbClr val="1A1D24"/>
                </a:solidFill>
                <a:latin typeface="Quattrocento Sans" pitchFamily="34" charset="0"/>
                <a:ea typeface="Quattrocento Sans" pitchFamily="34" charset="-122"/>
                <a:cs typeface="Quattrocento Sans" pitchFamily="34" charset="-120"/>
              </a:rPr>
              <a:t>Layer 1</a:t>
            </a:r>
            <a:endParaRPr lang="en-US" sz="1600" dirty="0"/>
          </a:p>
        </p:txBody>
      </p:sp>
      <p:sp>
        <p:nvSpPr>
          <p:cNvPr id="8" name="Shape 6"/>
          <p:cNvSpPr/>
          <p:nvPr/>
        </p:nvSpPr>
        <p:spPr>
          <a:xfrm>
            <a:off x="2343150" y="1964531"/>
            <a:ext cx="609600" cy="609600"/>
          </a:xfrm>
          <a:custGeom>
            <a:avLst/>
            <a:gdLst/>
            <a:ahLst/>
            <a:cxnLst/>
            <a:rect l="l" t="t" r="r" b="b"/>
            <a:pathLst>
              <a:path w="609600" h="609600">
                <a:moveTo>
                  <a:pt x="304800" y="0"/>
                </a:moveTo>
                <a:lnTo>
                  <a:pt x="304800" y="0"/>
                </a:lnTo>
                <a:cubicBezTo>
                  <a:pt x="473024" y="0"/>
                  <a:pt x="609600" y="136576"/>
                  <a:pt x="609600" y="304800"/>
                </a:cubicBezTo>
                <a:lnTo>
                  <a:pt x="609600" y="304800"/>
                </a:lnTo>
                <a:cubicBezTo>
                  <a:pt x="609600" y="473024"/>
                  <a:pt x="473024" y="609600"/>
                  <a:pt x="304800" y="609600"/>
                </a:cubicBezTo>
                <a:lnTo>
                  <a:pt x="304800" y="609600"/>
                </a:lnTo>
                <a:cubicBezTo>
                  <a:pt x="136576" y="609600"/>
                  <a:pt x="0" y="473024"/>
                  <a:pt x="0" y="304800"/>
                </a:cubicBezTo>
                <a:lnTo>
                  <a:pt x="0" y="304800"/>
                </a:lnTo>
                <a:cubicBezTo>
                  <a:pt x="0" y="136576"/>
                  <a:pt x="136576" y="0"/>
                  <a:pt x="304800" y="0"/>
                </a:cubicBezTo>
                <a:close/>
              </a:path>
            </a:pathLst>
          </a:custGeom>
          <a:solidFill>
            <a:srgbClr val="C9A86A"/>
          </a:solidFill>
          <a:ln/>
        </p:spPr>
        <p:txBody>
          <a:bodyPr/>
          <a:lstStyle/>
          <a:p>
            <a:endParaRPr lang="en-GB"/>
          </a:p>
        </p:txBody>
      </p:sp>
      <p:sp>
        <p:nvSpPr>
          <p:cNvPr id="9" name="Shape 7"/>
          <p:cNvSpPr/>
          <p:nvPr/>
        </p:nvSpPr>
        <p:spPr>
          <a:xfrm>
            <a:off x="2547938" y="2155031"/>
            <a:ext cx="200025" cy="228600"/>
          </a:xfrm>
          <a:custGeom>
            <a:avLst/>
            <a:gdLst/>
            <a:ahLst/>
            <a:cxnLst/>
            <a:rect l="l" t="t" r="r" b="b"/>
            <a:pathLst>
              <a:path w="200025" h="228600">
                <a:moveTo>
                  <a:pt x="151269" y="-4420"/>
                </a:moveTo>
                <a:cubicBezTo>
                  <a:pt x="156582" y="-580"/>
                  <a:pt x="158547" y="6385"/>
                  <a:pt x="156136" y="12457"/>
                </a:cubicBezTo>
                <a:lnTo>
                  <a:pt x="121131" y="100013"/>
                </a:lnTo>
                <a:lnTo>
                  <a:pt x="185738" y="100013"/>
                </a:lnTo>
                <a:cubicBezTo>
                  <a:pt x="191765" y="100013"/>
                  <a:pt x="197123" y="103763"/>
                  <a:pt x="199177" y="109433"/>
                </a:cubicBezTo>
                <a:cubicBezTo>
                  <a:pt x="201231" y="115104"/>
                  <a:pt x="199489" y="121444"/>
                  <a:pt x="194890" y="125284"/>
                </a:cubicBezTo>
                <a:lnTo>
                  <a:pt x="66303" y="232440"/>
                </a:lnTo>
                <a:cubicBezTo>
                  <a:pt x="61258" y="236637"/>
                  <a:pt x="54069" y="236860"/>
                  <a:pt x="48756" y="233020"/>
                </a:cubicBezTo>
                <a:cubicBezTo>
                  <a:pt x="43443" y="229180"/>
                  <a:pt x="41478" y="222215"/>
                  <a:pt x="43889" y="216143"/>
                </a:cubicBezTo>
                <a:lnTo>
                  <a:pt x="78894" y="128588"/>
                </a:lnTo>
                <a:lnTo>
                  <a:pt x="14288" y="128588"/>
                </a:lnTo>
                <a:cubicBezTo>
                  <a:pt x="8260" y="128588"/>
                  <a:pt x="2902" y="124837"/>
                  <a:pt x="848" y="119167"/>
                </a:cubicBezTo>
                <a:cubicBezTo>
                  <a:pt x="-1206" y="113496"/>
                  <a:pt x="536" y="107156"/>
                  <a:pt x="5135" y="103316"/>
                </a:cubicBezTo>
                <a:lnTo>
                  <a:pt x="133722" y="-3840"/>
                </a:lnTo>
                <a:cubicBezTo>
                  <a:pt x="138767" y="-8037"/>
                  <a:pt x="145956" y="-8260"/>
                  <a:pt x="151269" y="-4420"/>
                </a:cubicBezTo>
                <a:close/>
              </a:path>
            </a:pathLst>
          </a:custGeom>
          <a:solidFill>
            <a:srgbClr val="1A1D24"/>
          </a:solidFill>
          <a:ln/>
        </p:spPr>
        <p:txBody>
          <a:bodyPr/>
          <a:lstStyle/>
          <a:p>
            <a:endParaRPr lang="en-GB"/>
          </a:p>
        </p:txBody>
      </p:sp>
      <p:sp>
        <p:nvSpPr>
          <p:cNvPr id="10" name="Text 8"/>
          <p:cNvSpPr/>
          <p:nvPr/>
        </p:nvSpPr>
        <p:spPr>
          <a:xfrm>
            <a:off x="1381125" y="2688431"/>
            <a:ext cx="2533650" cy="266700"/>
          </a:xfrm>
          <a:prstGeom prst="rect">
            <a:avLst/>
          </a:prstGeom>
          <a:noFill/>
          <a:ln/>
        </p:spPr>
        <p:txBody>
          <a:bodyPr wrap="square" lIns="0" tIns="0" rIns="0" bIns="0" rtlCol="0" anchor="ctr"/>
          <a:lstStyle/>
          <a:p>
            <a:pPr algn="ctr">
              <a:lnSpc>
                <a:spcPct val="120000"/>
              </a:lnSpc>
            </a:pPr>
            <a:r>
              <a:rPr lang="en-US" sz="1500" b="1" dirty="0">
                <a:solidFill>
                  <a:srgbClr val="EDF2F4"/>
                </a:solidFill>
                <a:latin typeface="Liter" pitchFamily="34" charset="0"/>
                <a:ea typeface="Liter" pitchFamily="34" charset="-122"/>
                <a:cs typeface="Liter" pitchFamily="34" charset="-120"/>
              </a:rPr>
              <a:t>Reactive Layer</a:t>
            </a:r>
            <a:endParaRPr lang="en-US" sz="1600" dirty="0"/>
          </a:p>
        </p:txBody>
      </p:sp>
      <p:sp>
        <p:nvSpPr>
          <p:cNvPr id="11" name="Text 9"/>
          <p:cNvSpPr/>
          <p:nvPr/>
        </p:nvSpPr>
        <p:spPr>
          <a:xfrm>
            <a:off x="1395413" y="3031331"/>
            <a:ext cx="2505075" cy="438150"/>
          </a:xfrm>
          <a:prstGeom prst="rect">
            <a:avLst/>
          </a:prstGeom>
          <a:noFill/>
          <a:ln/>
        </p:spPr>
        <p:txBody>
          <a:bodyPr wrap="square" lIns="0" tIns="0" rIns="0" bIns="0" rtlCol="0" anchor="ctr"/>
          <a:lstStyle/>
          <a:p>
            <a:pPr algn="ctr">
              <a:lnSpc>
                <a:spcPct val="140000"/>
              </a:lnSpc>
            </a:pPr>
            <a:r>
              <a:rPr lang="en-US" sz="1050" dirty="0">
                <a:solidFill>
                  <a:srgbClr val="8D99AE"/>
                </a:solidFill>
                <a:latin typeface="Quattrocento Sans" pitchFamily="34" charset="0"/>
                <a:ea typeface="Quattrocento Sans" pitchFamily="34" charset="-122"/>
                <a:cs typeface="Quattrocento Sans" pitchFamily="34" charset="-120"/>
              </a:rPr>
              <a:t>Obstacle avoidance &amp; emergency response</a:t>
            </a:r>
            <a:endParaRPr lang="en-US" sz="1600" dirty="0"/>
          </a:p>
        </p:txBody>
      </p:sp>
      <p:sp>
        <p:nvSpPr>
          <p:cNvPr id="12" name="Shape 10"/>
          <p:cNvSpPr/>
          <p:nvPr/>
        </p:nvSpPr>
        <p:spPr>
          <a:xfrm>
            <a:off x="1428750" y="3617119"/>
            <a:ext cx="2438400" cy="533400"/>
          </a:xfrm>
          <a:custGeom>
            <a:avLst/>
            <a:gdLst/>
            <a:ahLst/>
            <a:cxnLst/>
            <a:rect l="l" t="t" r="r" b="b"/>
            <a:pathLst>
              <a:path w="2438400" h="533400">
                <a:moveTo>
                  <a:pt x="76202" y="0"/>
                </a:moveTo>
                <a:lnTo>
                  <a:pt x="2362198" y="0"/>
                </a:lnTo>
                <a:cubicBezTo>
                  <a:pt x="2404283" y="0"/>
                  <a:pt x="2438400" y="34117"/>
                  <a:pt x="2438400" y="76202"/>
                </a:cubicBezTo>
                <a:lnTo>
                  <a:pt x="2438400" y="457198"/>
                </a:lnTo>
                <a:cubicBezTo>
                  <a:pt x="2438400" y="499283"/>
                  <a:pt x="2404283" y="533400"/>
                  <a:pt x="2362198" y="533400"/>
                </a:cubicBezTo>
                <a:lnTo>
                  <a:pt x="76202" y="533400"/>
                </a:lnTo>
                <a:cubicBezTo>
                  <a:pt x="34117" y="533400"/>
                  <a:pt x="0" y="499283"/>
                  <a:pt x="0" y="457198"/>
                </a:cubicBezTo>
                <a:lnTo>
                  <a:pt x="0" y="76202"/>
                </a:lnTo>
                <a:cubicBezTo>
                  <a:pt x="0" y="34145"/>
                  <a:pt x="34145" y="0"/>
                  <a:pt x="76202" y="0"/>
                </a:cubicBezTo>
                <a:close/>
              </a:path>
            </a:pathLst>
          </a:custGeom>
          <a:solidFill>
            <a:srgbClr val="1A1D24">
              <a:alpha val="60000"/>
            </a:srgbClr>
          </a:solidFill>
          <a:ln/>
        </p:spPr>
        <p:txBody>
          <a:bodyPr/>
          <a:lstStyle/>
          <a:p>
            <a:endParaRPr lang="en-GB"/>
          </a:p>
        </p:txBody>
      </p:sp>
      <p:sp>
        <p:nvSpPr>
          <p:cNvPr id="13" name="Shape 11"/>
          <p:cNvSpPr/>
          <p:nvPr/>
        </p:nvSpPr>
        <p:spPr>
          <a:xfrm>
            <a:off x="1642616" y="3740944"/>
            <a:ext cx="114300" cy="114300"/>
          </a:xfrm>
          <a:custGeom>
            <a:avLst/>
            <a:gdLst/>
            <a:ahLst/>
            <a:cxnLst/>
            <a:rect l="l" t="t" r="r" b="b"/>
            <a:pathLst>
              <a:path w="114300" h="114300">
                <a:moveTo>
                  <a:pt x="0" y="57150"/>
                </a:moveTo>
                <a:cubicBezTo>
                  <a:pt x="0" y="25608"/>
                  <a:pt x="25608" y="0"/>
                  <a:pt x="57150" y="0"/>
                </a:cubicBezTo>
                <a:cubicBezTo>
                  <a:pt x="88692" y="0"/>
                  <a:pt x="114300" y="25608"/>
                  <a:pt x="114300" y="57150"/>
                </a:cubicBezTo>
                <a:cubicBezTo>
                  <a:pt x="114300" y="88692"/>
                  <a:pt x="88692" y="114300"/>
                  <a:pt x="57150" y="114300"/>
                </a:cubicBezTo>
                <a:cubicBezTo>
                  <a:pt x="25608" y="114300"/>
                  <a:pt x="0" y="88692"/>
                  <a:pt x="0" y="57150"/>
                </a:cubicBezTo>
                <a:close/>
                <a:moveTo>
                  <a:pt x="64294" y="21431"/>
                </a:moveTo>
                <a:cubicBezTo>
                  <a:pt x="64294" y="17489"/>
                  <a:pt x="61093" y="14288"/>
                  <a:pt x="57150" y="14288"/>
                </a:cubicBezTo>
                <a:cubicBezTo>
                  <a:pt x="53207" y="14288"/>
                  <a:pt x="50006" y="17489"/>
                  <a:pt x="50006" y="21431"/>
                </a:cubicBezTo>
                <a:cubicBezTo>
                  <a:pt x="50006" y="25374"/>
                  <a:pt x="53207" y="28575"/>
                  <a:pt x="57150" y="28575"/>
                </a:cubicBezTo>
                <a:cubicBezTo>
                  <a:pt x="61093" y="28575"/>
                  <a:pt x="64294" y="25374"/>
                  <a:pt x="64294" y="21431"/>
                </a:cubicBezTo>
                <a:close/>
                <a:moveTo>
                  <a:pt x="57150" y="92869"/>
                </a:moveTo>
                <a:cubicBezTo>
                  <a:pt x="65030" y="92869"/>
                  <a:pt x="71438" y="86462"/>
                  <a:pt x="71438" y="78581"/>
                </a:cubicBezTo>
                <a:cubicBezTo>
                  <a:pt x="71438" y="74965"/>
                  <a:pt x="70098" y="71638"/>
                  <a:pt x="67866" y="69138"/>
                </a:cubicBezTo>
                <a:lnTo>
                  <a:pt x="83381" y="38130"/>
                </a:lnTo>
                <a:cubicBezTo>
                  <a:pt x="84698" y="35473"/>
                  <a:pt x="83627" y="32258"/>
                  <a:pt x="80992" y="30941"/>
                </a:cubicBezTo>
                <a:cubicBezTo>
                  <a:pt x="78358" y="29624"/>
                  <a:pt x="75121" y="30696"/>
                  <a:pt x="73804" y="33330"/>
                </a:cubicBezTo>
                <a:lnTo>
                  <a:pt x="58289" y="64338"/>
                </a:lnTo>
                <a:cubicBezTo>
                  <a:pt x="57909" y="64316"/>
                  <a:pt x="57530" y="64294"/>
                  <a:pt x="57150" y="64294"/>
                </a:cubicBezTo>
                <a:cubicBezTo>
                  <a:pt x="49270" y="64294"/>
                  <a:pt x="42863" y="70701"/>
                  <a:pt x="42863" y="78581"/>
                </a:cubicBezTo>
                <a:cubicBezTo>
                  <a:pt x="42863" y="86462"/>
                  <a:pt x="49270" y="92869"/>
                  <a:pt x="57150" y="92869"/>
                </a:cubicBezTo>
                <a:close/>
                <a:moveTo>
                  <a:pt x="39291" y="32147"/>
                </a:moveTo>
                <a:cubicBezTo>
                  <a:pt x="39291" y="28204"/>
                  <a:pt x="36090" y="25003"/>
                  <a:pt x="32147" y="25003"/>
                </a:cubicBezTo>
                <a:cubicBezTo>
                  <a:pt x="28204" y="25003"/>
                  <a:pt x="25003" y="28204"/>
                  <a:pt x="25003" y="32147"/>
                </a:cubicBezTo>
                <a:cubicBezTo>
                  <a:pt x="25003" y="36090"/>
                  <a:pt x="28204" y="39291"/>
                  <a:pt x="32147" y="39291"/>
                </a:cubicBezTo>
                <a:cubicBezTo>
                  <a:pt x="36090" y="39291"/>
                  <a:pt x="39291" y="36090"/>
                  <a:pt x="39291" y="32147"/>
                </a:cubicBezTo>
                <a:close/>
                <a:moveTo>
                  <a:pt x="21431" y="64294"/>
                </a:moveTo>
                <a:cubicBezTo>
                  <a:pt x="25374" y="64294"/>
                  <a:pt x="28575" y="61093"/>
                  <a:pt x="28575" y="57150"/>
                </a:cubicBezTo>
                <a:cubicBezTo>
                  <a:pt x="28575" y="53207"/>
                  <a:pt x="25374" y="50006"/>
                  <a:pt x="21431" y="50006"/>
                </a:cubicBezTo>
                <a:cubicBezTo>
                  <a:pt x="17489" y="50006"/>
                  <a:pt x="14288" y="53207"/>
                  <a:pt x="14288" y="57150"/>
                </a:cubicBezTo>
                <a:cubicBezTo>
                  <a:pt x="14288" y="61093"/>
                  <a:pt x="17489" y="64294"/>
                  <a:pt x="21431" y="64294"/>
                </a:cubicBezTo>
                <a:close/>
                <a:moveTo>
                  <a:pt x="100013" y="57150"/>
                </a:moveTo>
                <a:cubicBezTo>
                  <a:pt x="100013" y="53207"/>
                  <a:pt x="96811" y="50006"/>
                  <a:pt x="92869" y="50006"/>
                </a:cubicBezTo>
                <a:cubicBezTo>
                  <a:pt x="88926" y="50006"/>
                  <a:pt x="85725" y="53207"/>
                  <a:pt x="85725" y="57150"/>
                </a:cubicBezTo>
                <a:cubicBezTo>
                  <a:pt x="85725" y="61093"/>
                  <a:pt x="88926" y="64294"/>
                  <a:pt x="92869" y="64294"/>
                </a:cubicBezTo>
                <a:cubicBezTo>
                  <a:pt x="96811" y="64294"/>
                  <a:pt x="100013" y="61093"/>
                  <a:pt x="100013" y="57150"/>
                </a:cubicBezTo>
                <a:close/>
              </a:path>
            </a:pathLst>
          </a:custGeom>
          <a:solidFill>
            <a:srgbClr val="C9A86A"/>
          </a:solidFill>
          <a:ln/>
        </p:spPr>
        <p:txBody>
          <a:bodyPr/>
          <a:lstStyle/>
          <a:p>
            <a:endParaRPr lang="en-GB"/>
          </a:p>
        </p:txBody>
      </p:sp>
      <p:sp>
        <p:nvSpPr>
          <p:cNvPr id="14" name="Text 12"/>
          <p:cNvSpPr/>
          <p:nvPr/>
        </p:nvSpPr>
        <p:spPr>
          <a:xfrm>
            <a:off x="1685925" y="3731419"/>
            <a:ext cx="2095500" cy="304800"/>
          </a:xfrm>
          <a:prstGeom prst="rect">
            <a:avLst/>
          </a:prstGeom>
          <a:noFill/>
          <a:ln/>
        </p:spPr>
        <p:txBody>
          <a:bodyPr wrap="square" lIns="0" tIns="0" rIns="0" bIns="0" rtlCol="0" anchor="ctr"/>
          <a:lstStyle/>
          <a:p>
            <a:pPr algn="ctr">
              <a:lnSpc>
                <a:spcPct val="110000"/>
              </a:lnSpc>
            </a:pPr>
            <a:r>
              <a:rPr lang="en-US" sz="900" dirty="0">
                <a:solidFill>
                  <a:srgbClr val="8D99AE"/>
                </a:solidFill>
                <a:latin typeface="Quattrocento Sans" pitchFamily="34" charset="0"/>
                <a:ea typeface="Quattrocento Sans" pitchFamily="34" charset="-122"/>
                <a:cs typeface="Quattrocento Sans" pitchFamily="34" charset="-120"/>
              </a:rPr>
              <a:t>Fast, instinctive responses for safety-critical situations</a:t>
            </a:r>
            <a:endParaRPr lang="en-US" sz="1600" dirty="0"/>
          </a:p>
        </p:txBody>
      </p:sp>
      <p:sp>
        <p:nvSpPr>
          <p:cNvPr id="15" name="Shape 13"/>
          <p:cNvSpPr/>
          <p:nvPr/>
        </p:nvSpPr>
        <p:spPr>
          <a:xfrm>
            <a:off x="4257675" y="2524125"/>
            <a:ext cx="228600" cy="228600"/>
          </a:xfrm>
          <a:custGeom>
            <a:avLst/>
            <a:gdLst/>
            <a:ahLst/>
            <a:cxnLst/>
            <a:rect l="l" t="t" r="r" b="b"/>
            <a:pathLst>
              <a:path w="228600" h="228600">
                <a:moveTo>
                  <a:pt x="224403" y="124391"/>
                </a:moveTo>
                <a:cubicBezTo>
                  <a:pt x="229984" y="118809"/>
                  <a:pt x="229984" y="109746"/>
                  <a:pt x="224403" y="104165"/>
                </a:cubicBezTo>
                <a:lnTo>
                  <a:pt x="152966" y="32727"/>
                </a:lnTo>
                <a:cubicBezTo>
                  <a:pt x="147384" y="27146"/>
                  <a:pt x="138321" y="27146"/>
                  <a:pt x="132740" y="32727"/>
                </a:cubicBezTo>
                <a:cubicBezTo>
                  <a:pt x="127159" y="38308"/>
                  <a:pt x="127159" y="47372"/>
                  <a:pt x="132740" y="52953"/>
                </a:cubicBezTo>
                <a:lnTo>
                  <a:pt x="179799" y="100013"/>
                </a:lnTo>
                <a:lnTo>
                  <a:pt x="14288" y="100013"/>
                </a:lnTo>
                <a:cubicBezTo>
                  <a:pt x="6385" y="100013"/>
                  <a:pt x="0" y="106397"/>
                  <a:pt x="0" y="114300"/>
                </a:cubicBezTo>
                <a:cubicBezTo>
                  <a:pt x="0" y="122203"/>
                  <a:pt x="6385" y="128588"/>
                  <a:pt x="14288" y="128588"/>
                </a:cubicBezTo>
                <a:lnTo>
                  <a:pt x="179799" y="128588"/>
                </a:lnTo>
                <a:lnTo>
                  <a:pt x="132740" y="175647"/>
                </a:lnTo>
                <a:cubicBezTo>
                  <a:pt x="127159" y="181228"/>
                  <a:pt x="127159" y="190292"/>
                  <a:pt x="132740" y="195873"/>
                </a:cubicBezTo>
                <a:cubicBezTo>
                  <a:pt x="138321" y="201454"/>
                  <a:pt x="147384" y="201454"/>
                  <a:pt x="152966" y="195873"/>
                </a:cubicBezTo>
                <a:lnTo>
                  <a:pt x="224403" y="124435"/>
                </a:lnTo>
                <a:close/>
              </a:path>
            </a:pathLst>
          </a:custGeom>
          <a:solidFill>
            <a:srgbClr val="C9A86A"/>
          </a:solidFill>
          <a:ln/>
        </p:spPr>
        <p:txBody>
          <a:bodyPr/>
          <a:lstStyle/>
          <a:p>
            <a:endParaRPr lang="en-GB"/>
          </a:p>
        </p:txBody>
      </p:sp>
      <p:sp>
        <p:nvSpPr>
          <p:cNvPr id="16" name="Shape 14"/>
          <p:cNvSpPr/>
          <p:nvPr/>
        </p:nvSpPr>
        <p:spPr>
          <a:xfrm>
            <a:off x="4352925" y="2828925"/>
            <a:ext cx="38100" cy="304800"/>
          </a:xfrm>
          <a:custGeom>
            <a:avLst/>
            <a:gdLst/>
            <a:ahLst/>
            <a:cxnLst/>
            <a:rect l="l" t="t" r="r" b="b"/>
            <a:pathLst>
              <a:path w="38100" h="304800">
                <a:moveTo>
                  <a:pt x="0" y="0"/>
                </a:moveTo>
                <a:lnTo>
                  <a:pt x="38100" y="0"/>
                </a:lnTo>
                <a:lnTo>
                  <a:pt x="38100" y="304800"/>
                </a:lnTo>
                <a:lnTo>
                  <a:pt x="0" y="304800"/>
                </a:lnTo>
                <a:lnTo>
                  <a:pt x="0" y="0"/>
                </a:lnTo>
                <a:close/>
              </a:path>
            </a:pathLst>
          </a:custGeom>
          <a:solidFill>
            <a:srgbClr val="C9A86A">
              <a:alpha val="50196"/>
            </a:srgbClr>
          </a:solidFill>
          <a:ln/>
        </p:spPr>
        <p:txBody>
          <a:bodyPr/>
          <a:lstStyle/>
          <a:p>
            <a:endParaRPr lang="en-GB"/>
          </a:p>
        </p:txBody>
      </p:sp>
      <p:sp>
        <p:nvSpPr>
          <p:cNvPr id="17" name="Shape 15"/>
          <p:cNvSpPr/>
          <p:nvPr/>
        </p:nvSpPr>
        <p:spPr>
          <a:xfrm>
            <a:off x="4257675" y="3209925"/>
            <a:ext cx="228600" cy="228600"/>
          </a:xfrm>
          <a:custGeom>
            <a:avLst/>
            <a:gdLst/>
            <a:ahLst/>
            <a:cxnLst/>
            <a:rect l="l" t="t" r="r" b="b"/>
            <a:pathLst>
              <a:path w="228600" h="228600">
                <a:moveTo>
                  <a:pt x="224403" y="124391"/>
                </a:moveTo>
                <a:cubicBezTo>
                  <a:pt x="229984" y="118809"/>
                  <a:pt x="229984" y="109746"/>
                  <a:pt x="224403" y="104165"/>
                </a:cubicBezTo>
                <a:lnTo>
                  <a:pt x="152966" y="32727"/>
                </a:lnTo>
                <a:cubicBezTo>
                  <a:pt x="147384" y="27146"/>
                  <a:pt x="138321" y="27146"/>
                  <a:pt x="132740" y="32727"/>
                </a:cubicBezTo>
                <a:cubicBezTo>
                  <a:pt x="127159" y="38308"/>
                  <a:pt x="127159" y="47372"/>
                  <a:pt x="132740" y="52953"/>
                </a:cubicBezTo>
                <a:lnTo>
                  <a:pt x="179799" y="100013"/>
                </a:lnTo>
                <a:lnTo>
                  <a:pt x="14288" y="100013"/>
                </a:lnTo>
                <a:cubicBezTo>
                  <a:pt x="6385" y="100013"/>
                  <a:pt x="0" y="106397"/>
                  <a:pt x="0" y="114300"/>
                </a:cubicBezTo>
                <a:cubicBezTo>
                  <a:pt x="0" y="122203"/>
                  <a:pt x="6385" y="128588"/>
                  <a:pt x="14288" y="128588"/>
                </a:cubicBezTo>
                <a:lnTo>
                  <a:pt x="179799" y="128588"/>
                </a:lnTo>
                <a:lnTo>
                  <a:pt x="132740" y="175647"/>
                </a:lnTo>
                <a:cubicBezTo>
                  <a:pt x="127159" y="181228"/>
                  <a:pt x="127159" y="190292"/>
                  <a:pt x="132740" y="195873"/>
                </a:cubicBezTo>
                <a:cubicBezTo>
                  <a:pt x="138321" y="201454"/>
                  <a:pt x="147384" y="201454"/>
                  <a:pt x="152966" y="195873"/>
                </a:cubicBezTo>
                <a:lnTo>
                  <a:pt x="224403" y="124435"/>
                </a:lnTo>
                <a:close/>
              </a:path>
            </a:pathLst>
          </a:custGeom>
          <a:solidFill>
            <a:srgbClr val="C9A86A"/>
          </a:solidFill>
          <a:ln/>
        </p:spPr>
        <p:txBody>
          <a:bodyPr/>
          <a:lstStyle/>
          <a:p>
            <a:endParaRPr lang="en-GB"/>
          </a:p>
        </p:txBody>
      </p:sp>
      <p:sp>
        <p:nvSpPr>
          <p:cNvPr id="18" name="Shape 16"/>
          <p:cNvSpPr/>
          <p:nvPr/>
        </p:nvSpPr>
        <p:spPr>
          <a:xfrm>
            <a:off x="4676775" y="1720453"/>
            <a:ext cx="2838450" cy="2524125"/>
          </a:xfrm>
          <a:custGeom>
            <a:avLst/>
            <a:gdLst/>
            <a:ahLst/>
            <a:cxnLst/>
            <a:rect l="l" t="t" r="r" b="b"/>
            <a:pathLst>
              <a:path w="2838450" h="2524125">
                <a:moveTo>
                  <a:pt x="114292" y="0"/>
                </a:moveTo>
                <a:lnTo>
                  <a:pt x="2724158" y="0"/>
                </a:lnTo>
                <a:cubicBezTo>
                  <a:pt x="2787280" y="0"/>
                  <a:pt x="2838450" y="51170"/>
                  <a:pt x="2838450" y="114292"/>
                </a:cubicBezTo>
                <a:lnTo>
                  <a:pt x="2838450" y="2409833"/>
                </a:lnTo>
                <a:cubicBezTo>
                  <a:pt x="2838450" y="2472955"/>
                  <a:pt x="2787280" y="2524125"/>
                  <a:pt x="2724158" y="2524125"/>
                </a:cubicBezTo>
                <a:lnTo>
                  <a:pt x="114292" y="2524125"/>
                </a:lnTo>
                <a:cubicBezTo>
                  <a:pt x="51170" y="2524125"/>
                  <a:pt x="0" y="2472955"/>
                  <a:pt x="0" y="2409833"/>
                </a:cubicBezTo>
                <a:lnTo>
                  <a:pt x="0" y="114292"/>
                </a:lnTo>
                <a:cubicBezTo>
                  <a:pt x="0" y="51213"/>
                  <a:pt x="51213" y="0"/>
                  <a:pt x="114292" y="0"/>
                </a:cubicBezTo>
                <a:close/>
              </a:path>
            </a:pathLst>
          </a:custGeom>
          <a:gradFill flip="none" rotWithShape="1">
            <a:gsLst>
              <a:gs pos="0">
                <a:srgbClr val="4A6C8C">
                  <a:alpha val="30000"/>
                </a:srgbClr>
              </a:gs>
              <a:gs pos="100000">
                <a:srgbClr val="4A6C8C">
                  <a:alpha val="10000"/>
                </a:srgbClr>
              </a:gs>
            </a:gsLst>
            <a:lin ang="2700000" scaled="1"/>
          </a:gradFill>
          <a:ln w="25400">
            <a:solidFill>
              <a:srgbClr val="4A6C8C"/>
            </a:solidFill>
            <a:prstDash val="solid"/>
          </a:ln>
        </p:spPr>
        <p:txBody>
          <a:bodyPr/>
          <a:lstStyle/>
          <a:p>
            <a:endParaRPr lang="en-GB"/>
          </a:p>
        </p:txBody>
      </p:sp>
      <p:sp>
        <p:nvSpPr>
          <p:cNvPr id="19" name="Shape 17"/>
          <p:cNvSpPr/>
          <p:nvPr/>
        </p:nvSpPr>
        <p:spPr>
          <a:xfrm>
            <a:off x="5734794" y="1615678"/>
            <a:ext cx="723900" cy="304800"/>
          </a:xfrm>
          <a:custGeom>
            <a:avLst/>
            <a:gdLst/>
            <a:ahLst/>
            <a:cxnLst/>
            <a:rect l="l" t="t" r="r" b="b"/>
            <a:pathLst>
              <a:path w="723900" h="304800">
                <a:moveTo>
                  <a:pt x="152400" y="0"/>
                </a:moveTo>
                <a:lnTo>
                  <a:pt x="571500" y="0"/>
                </a:lnTo>
                <a:cubicBezTo>
                  <a:pt x="655612" y="0"/>
                  <a:pt x="723900" y="68288"/>
                  <a:pt x="723900" y="152400"/>
                </a:cubicBezTo>
                <a:lnTo>
                  <a:pt x="723900" y="152400"/>
                </a:lnTo>
                <a:cubicBezTo>
                  <a:pt x="723900" y="236512"/>
                  <a:pt x="655612" y="304800"/>
                  <a:pt x="571500" y="304800"/>
                </a:cubicBezTo>
                <a:lnTo>
                  <a:pt x="152400" y="304800"/>
                </a:lnTo>
                <a:cubicBezTo>
                  <a:pt x="68288" y="304800"/>
                  <a:pt x="0" y="236512"/>
                  <a:pt x="0" y="152400"/>
                </a:cubicBezTo>
                <a:lnTo>
                  <a:pt x="0" y="152400"/>
                </a:lnTo>
                <a:cubicBezTo>
                  <a:pt x="0" y="68288"/>
                  <a:pt x="68288" y="0"/>
                  <a:pt x="152400" y="0"/>
                </a:cubicBezTo>
                <a:close/>
              </a:path>
            </a:pathLst>
          </a:custGeom>
          <a:solidFill>
            <a:srgbClr val="4A6C8C"/>
          </a:solidFill>
          <a:ln/>
        </p:spPr>
        <p:txBody>
          <a:bodyPr/>
          <a:lstStyle/>
          <a:p>
            <a:endParaRPr lang="en-GB"/>
          </a:p>
        </p:txBody>
      </p:sp>
      <p:sp>
        <p:nvSpPr>
          <p:cNvPr id="20" name="Text 18"/>
          <p:cNvSpPr/>
          <p:nvPr/>
        </p:nvSpPr>
        <p:spPr>
          <a:xfrm>
            <a:off x="5887194" y="1701403"/>
            <a:ext cx="484287" cy="152400"/>
          </a:xfrm>
          <a:prstGeom prst="rect">
            <a:avLst/>
          </a:prstGeom>
          <a:noFill/>
          <a:ln/>
        </p:spPr>
        <p:txBody>
          <a:bodyPr wrap="square" lIns="0" tIns="0" rIns="0" bIns="0" rtlCol="0" anchor="ctr"/>
          <a:lstStyle/>
          <a:p>
            <a:pPr>
              <a:lnSpc>
                <a:spcPct val="120000"/>
              </a:lnSpc>
            </a:pPr>
            <a:r>
              <a:rPr lang="en-US" sz="1050" b="1" dirty="0">
                <a:solidFill>
                  <a:srgbClr val="EDF2F4"/>
                </a:solidFill>
                <a:latin typeface="Quattrocento Sans" pitchFamily="34" charset="0"/>
                <a:ea typeface="Quattrocento Sans" pitchFamily="34" charset="-122"/>
                <a:cs typeface="Quattrocento Sans" pitchFamily="34" charset="-120"/>
              </a:rPr>
              <a:t>Layer 2</a:t>
            </a:r>
            <a:endParaRPr lang="en-US" sz="1600" dirty="0"/>
          </a:p>
        </p:txBody>
      </p:sp>
      <p:sp>
        <p:nvSpPr>
          <p:cNvPr id="21" name="Shape 19"/>
          <p:cNvSpPr/>
          <p:nvPr/>
        </p:nvSpPr>
        <p:spPr>
          <a:xfrm>
            <a:off x="5791200" y="2072878"/>
            <a:ext cx="609600" cy="609600"/>
          </a:xfrm>
          <a:custGeom>
            <a:avLst/>
            <a:gdLst/>
            <a:ahLst/>
            <a:cxnLst/>
            <a:rect l="l" t="t" r="r" b="b"/>
            <a:pathLst>
              <a:path w="609600" h="609600">
                <a:moveTo>
                  <a:pt x="304800" y="0"/>
                </a:moveTo>
                <a:lnTo>
                  <a:pt x="304800" y="0"/>
                </a:lnTo>
                <a:cubicBezTo>
                  <a:pt x="473024" y="0"/>
                  <a:pt x="609600" y="136576"/>
                  <a:pt x="609600" y="304800"/>
                </a:cubicBezTo>
                <a:lnTo>
                  <a:pt x="609600" y="304800"/>
                </a:lnTo>
                <a:cubicBezTo>
                  <a:pt x="609600" y="473024"/>
                  <a:pt x="473024" y="609600"/>
                  <a:pt x="304800" y="609600"/>
                </a:cubicBezTo>
                <a:lnTo>
                  <a:pt x="304800" y="609600"/>
                </a:lnTo>
                <a:cubicBezTo>
                  <a:pt x="136576" y="609600"/>
                  <a:pt x="0" y="473024"/>
                  <a:pt x="0" y="304800"/>
                </a:cubicBezTo>
                <a:lnTo>
                  <a:pt x="0" y="304800"/>
                </a:lnTo>
                <a:cubicBezTo>
                  <a:pt x="0" y="136576"/>
                  <a:pt x="136576" y="0"/>
                  <a:pt x="304800" y="0"/>
                </a:cubicBezTo>
                <a:close/>
              </a:path>
            </a:pathLst>
          </a:custGeom>
          <a:solidFill>
            <a:srgbClr val="4A6C8C"/>
          </a:solidFill>
          <a:ln/>
        </p:spPr>
        <p:txBody>
          <a:bodyPr/>
          <a:lstStyle/>
          <a:p>
            <a:endParaRPr lang="en-GB"/>
          </a:p>
        </p:txBody>
      </p:sp>
      <p:sp>
        <p:nvSpPr>
          <p:cNvPr id="22" name="Shape 20"/>
          <p:cNvSpPr/>
          <p:nvPr/>
        </p:nvSpPr>
        <p:spPr>
          <a:xfrm>
            <a:off x="5967413" y="2263378"/>
            <a:ext cx="257175" cy="228600"/>
          </a:xfrm>
          <a:custGeom>
            <a:avLst/>
            <a:gdLst/>
            <a:ahLst/>
            <a:cxnLst/>
            <a:rect l="l" t="t" r="r" b="b"/>
            <a:pathLst>
              <a:path w="257175" h="228600">
                <a:moveTo>
                  <a:pt x="128588" y="-7144"/>
                </a:moveTo>
                <a:cubicBezTo>
                  <a:pt x="136490" y="-7144"/>
                  <a:pt x="142875" y="-759"/>
                  <a:pt x="142875" y="7144"/>
                </a:cubicBezTo>
                <a:lnTo>
                  <a:pt x="142875" y="15314"/>
                </a:lnTo>
                <a:cubicBezTo>
                  <a:pt x="186675" y="21565"/>
                  <a:pt x="221322" y="56212"/>
                  <a:pt x="227573" y="100013"/>
                </a:cubicBezTo>
                <a:lnTo>
                  <a:pt x="235744" y="100013"/>
                </a:lnTo>
                <a:cubicBezTo>
                  <a:pt x="243647" y="100013"/>
                  <a:pt x="250031" y="106397"/>
                  <a:pt x="250031" y="114300"/>
                </a:cubicBezTo>
                <a:cubicBezTo>
                  <a:pt x="250031" y="122203"/>
                  <a:pt x="243647" y="128588"/>
                  <a:pt x="235744" y="128588"/>
                </a:cubicBezTo>
                <a:lnTo>
                  <a:pt x="227573" y="128588"/>
                </a:lnTo>
                <a:cubicBezTo>
                  <a:pt x="221322" y="172388"/>
                  <a:pt x="186675" y="207035"/>
                  <a:pt x="142875" y="213286"/>
                </a:cubicBezTo>
                <a:lnTo>
                  <a:pt x="142875" y="221456"/>
                </a:lnTo>
                <a:cubicBezTo>
                  <a:pt x="142875" y="229359"/>
                  <a:pt x="136490" y="235744"/>
                  <a:pt x="128588" y="235744"/>
                </a:cubicBezTo>
                <a:cubicBezTo>
                  <a:pt x="120685" y="235744"/>
                  <a:pt x="114300" y="229359"/>
                  <a:pt x="114300" y="221456"/>
                </a:cubicBezTo>
                <a:lnTo>
                  <a:pt x="114300" y="213286"/>
                </a:lnTo>
                <a:cubicBezTo>
                  <a:pt x="70500" y="207035"/>
                  <a:pt x="35853" y="172388"/>
                  <a:pt x="29602" y="128588"/>
                </a:cubicBezTo>
                <a:lnTo>
                  <a:pt x="21431" y="128588"/>
                </a:lnTo>
                <a:cubicBezTo>
                  <a:pt x="13528" y="128588"/>
                  <a:pt x="7144" y="122203"/>
                  <a:pt x="7144" y="114300"/>
                </a:cubicBezTo>
                <a:cubicBezTo>
                  <a:pt x="7144" y="106397"/>
                  <a:pt x="13528" y="100013"/>
                  <a:pt x="21431" y="100013"/>
                </a:cubicBezTo>
                <a:lnTo>
                  <a:pt x="29602" y="100013"/>
                </a:lnTo>
                <a:cubicBezTo>
                  <a:pt x="35853" y="56212"/>
                  <a:pt x="70500" y="21565"/>
                  <a:pt x="114300" y="15314"/>
                </a:cubicBezTo>
                <a:lnTo>
                  <a:pt x="114300" y="7144"/>
                </a:lnTo>
                <a:cubicBezTo>
                  <a:pt x="114300" y="-759"/>
                  <a:pt x="120685" y="-7144"/>
                  <a:pt x="128588" y="-7144"/>
                </a:cubicBezTo>
                <a:close/>
                <a:moveTo>
                  <a:pt x="58579" y="128588"/>
                </a:moveTo>
                <a:cubicBezTo>
                  <a:pt x="64249" y="156582"/>
                  <a:pt x="86305" y="178638"/>
                  <a:pt x="114300" y="184309"/>
                </a:cubicBezTo>
                <a:lnTo>
                  <a:pt x="114300" y="178594"/>
                </a:lnTo>
                <a:cubicBezTo>
                  <a:pt x="114300" y="170691"/>
                  <a:pt x="120685" y="164306"/>
                  <a:pt x="128588" y="164306"/>
                </a:cubicBezTo>
                <a:cubicBezTo>
                  <a:pt x="136490" y="164306"/>
                  <a:pt x="142875" y="170691"/>
                  <a:pt x="142875" y="178594"/>
                </a:cubicBezTo>
                <a:lnTo>
                  <a:pt x="142875" y="184309"/>
                </a:lnTo>
                <a:cubicBezTo>
                  <a:pt x="170870" y="178638"/>
                  <a:pt x="192926" y="156582"/>
                  <a:pt x="198596" y="128588"/>
                </a:cubicBezTo>
                <a:lnTo>
                  <a:pt x="192881" y="128588"/>
                </a:lnTo>
                <a:cubicBezTo>
                  <a:pt x="184978" y="128588"/>
                  <a:pt x="178594" y="122203"/>
                  <a:pt x="178594" y="114300"/>
                </a:cubicBezTo>
                <a:cubicBezTo>
                  <a:pt x="178594" y="106397"/>
                  <a:pt x="184978" y="100013"/>
                  <a:pt x="192881" y="100013"/>
                </a:cubicBezTo>
                <a:lnTo>
                  <a:pt x="198596" y="100013"/>
                </a:lnTo>
                <a:cubicBezTo>
                  <a:pt x="192926" y="72018"/>
                  <a:pt x="170870" y="49962"/>
                  <a:pt x="142875" y="44291"/>
                </a:cubicBezTo>
                <a:lnTo>
                  <a:pt x="142875" y="50006"/>
                </a:lnTo>
                <a:cubicBezTo>
                  <a:pt x="142875" y="57909"/>
                  <a:pt x="136490" y="64294"/>
                  <a:pt x="128588" y="64294"/>
                </a:cubicBezTo>
                <a:cubicBezTo>
                  <a:pt x="120685" y="64294"/>
                  <a:pt x="114300" y="57909"/>
                  <a:pt x="114300" y="50006"/>
                </a:cubicBezTo>
                <a:lnTo>
                  <a:pt x="114300" y="44291"/>
                </a:lnTo>
                <a:cubicBezTo>
                  <a:pt x="86305" y="49962"/>
                  <a:pt x="64249" y="72018"/>
                  <a:pt x="58579" y="100013"/>
                </a:cubicBezTo>
                <a:lnTo>
                  <a:pt x="64294" y="100013"/>
                </a:lnTo>
                <a:cubicBezTo>
                  <a:pt x="72197" y="100013"/>
                  <a:pt x="78581" y="106397"/>
                  <a:pt x="78581" y="114300"/>
                </a:cubicBezTo>
                <a:cubicBezTo>
                  <a:pt x="78581" y="122203"/>
                  <a:pt x="72197" y="128588"/>
                  <a:pt x="64294" y="128588"/>
                </a:cubicBezTo>
                <a:lnTo>
                  <a:pt x="58579" y="128588"/>
                </a:lnTo>
                <a:close/>
                <a:moveTo>
                  <a:pt x="128588" y="92869"/>
                </a:moveTo>
                <a:cubicBezTo>
                  <a:pt x="140416" y="92869"/>
                  <a:pt x="150019" y="102472"/>
                  <a:pt x="150019" y="114300"/>
                </a:cubicBezTo>
                <a:cubicBezTo>
                  <a:pt x="150019" y="126128"/>
                  <a:pt x="140416" y="135731"/>
                  <a:pt x="128588" y="135731"/>
                </a:cubicBezTo>
                <a:cubicBezTo>
                  <a:pt x="116759" y="135731"/>
                  <a:pt x="107156" y="126128"/>
                  <a:pt x="107156" y="114300"/>
                </a:cubicBezTo>
                <a:cubicBezTo>
                  <a:pt x="107156" y="102472"/>
                  <a:pt x="116759" y="92869"/>
                  <a:pt x="128588" y="92869"/>
                </a:cubicBezTo>
                <a:close/>
              </a:path>
            </a:pathLst>
          </a:custGeom>
          <a:solidFill>
            <a:srgbClr val="EDF2F4"/>
          </a:solidFill>
          <a:ln/>
        </p:spPr>
        <p:txBody>
          <a:bodyPr/>
          <a:lstStyle/>
          <a:p>
            <a:endParaRPr lang="en-GB"/>
          </a:p>
        </p:txBody>
      </p:sp>
      <p:sp>
        <p:nvSpPr>
          <p:cNvPr id="23" name="Text 21"/>
          <p:cNvSpPr/>
          <p:nvPr/>
        </p:nvSpPr>
        <p:spPr>
          <a:xfrm>
            <a:off x="4829175" y="2796778"/>
            <a:ext cx="2533650" cy="266700"/>
          </a:xfrm>
          <a:prstGeom prst="rect">
            <a:avLst/>
          </a:prstGeom>
          <a:noFill/>
          <a:ln/>
        </p:spPr>
        <p:txBody>
          <a:bodyPr wrap="square" lIns="0" tIns="0" rIns="0" bIns="0" rtlCol="0" anchor="ctr"/>
          <a:lstStyle/>
          <a:p>
            <a:pPr algn="ctr">
              <a:lnSpc>
                <a:spcPct val="120000"/>
              </a:lnSpc>
            </a:pPr>
            <a:r>
              <a:rPr lang="en-US" sz="1500" b="1" dirty="0">
                <a:solidFill>
                  <a:srgbClr val="EDF2F4"/>
                </a:solidFill>
                <a:latin typeface="Liter" pitchFamily="34" charset="0"/>
                <a:ea typeface="Liter" pitchFamily="34" charset="-122"/>
                <a:cs typeface="Liter" pitchFamily="34" charset="-120"/>
              </a:rPr>
              <a:t>Tactical Layer</a:t>
            </a:r>
            <a:endParaRPr lang="en-US" sz="1600" dirty="0"/>
          </a:p>
        </p:txBody>
      </p:sp>
      <p:sp>
        <p:nvSpPr>
          <p:cNvPr id="24" name="Text 22"/>
          <p:cNvSpPr/>
          <p:nvPr/>
        </p:nvSpPr>
        <p:spPr>
          <a:xfrm>
            <a:off x="4843463" y="3139678"/>
            <a:ext cx="2505075" cy="219075"/>
          </a:xfrm>
          <a:prstGeom prst="rect">
            <a:avLst/>
          </a:prstGeom>
          <a:noFill/>
          <a:ln/>
        </p:spPr>
        <p:txBody>
          <a:bodyPr wrap="square" lIns="0" tIns="0" rIns="0" bIns="0" rtlCol="0" anchor="ctr"/>
          <a:lstStyle/>
          <a:p>
            <a:pPr algn="ctr">
              <a:lnSpc>
                <a:spcPct val="140000"/>
              </a:lnSpc>
            </a:pPr>
            <a:r>
              <a:rPr lang="en-US" sz="1050" dirty="0">
                <a:solidFill>
                  <a:srgbClr val="8D99AE"/>
                </a:solidFill>
                <a:latin typeface="Quattrocento Sans" pitchFamily="34" charset="0"/>
                <a:ea typeface="Quattrocento Sans" pitchFamily="34" charset="-122"/>
                <a:cs typeface="Quattrocento Sans" pitchFamily="34" charset="-120"/>
              </a:rPr>
              <a:t>Target selection &amp; local planning</a:t>
            </a:r>
            <a:endParaRPr lang="en-US" sz="1600" dirty="0"/>
          </a:p>
        </p:txBody>
      </p:sp>
      <p:sp>
        <p:nvSpPr>
          <p:cNvPr id="25" name="Shape 23"/>
          <p:cNvSpPr/>
          <p:nvPr/>
        </p:nvSpPr>
        <p:spPr>
          <a:xfrm>
            <a:off x="4876800" y="3508772"/>
            <a:ext cx="2438400" cy="533400"/>
          </a:xfrm>
          <a:custGeom>
            <a:avLst/>
            <a:gdLst/>
            <a:ahLst/>
            <a:cxnLst/>
            <a:rect l="l" t="t" r="r" b="b"/>
            <a:pathLst>
              <a:path w="2438400" h="533400">
                <a:moveTo>
                  <a:pt x="76202" y="0"/>
                </a:moveTo>
                <a:lnTo>
                  <a:pt x="2362198" y="0"/>
                </a:lnTo>
                <a:cubicBezTo>
                  <a:pt x="2404283" y="0"/>
                  <a:pt x="2438400" y="34117"/>
                  <a:pt x="2438400" y="76202"/>
                </a:cubicBezTo>
                <a:lnTo>
                  <a:pt x="2438400" y="457198"/>
                </a:lnTo>
                <a:cubicBezTo>
                  <a:pt x="2438400" y="499283"/>
                  <a:pt x="2404283" y="533400"/>
                  <a:pt x="2362198" y="533400"/>
                </a:cubicBezTo>
                <a:lnTo>
                  <a:pt x="76202" y="533400"/>
                </a:lnTo>
                <a:cubicBezTo>
                  <a:pt x="34117" y="533400"/>
                  <a:pt x="0" y="499283"/>
                  <a:pt x="0" y="457198"/>
                </a:cubicBezTo>
                <a:lnTo>
                  <a:pt x="0" y="76202"/>
                </a:lnTo>
                <a:cubicBezTo>
                  <a:pt x="0" y="34145"/>
                  <a:pt x="34145" y="0"/>
                  <a:pt x="76202" y="0"/>
                </a:cubicBezTo>
                <a:close/>
              </a:path>
            </a:pathLst>
          </a:custGeom>
          <a:solidFill>
            <a:srgbClr val="1A1D24">
              <a:alpha val="60000"/>
            </a:srgbClr>
          </a:solidFill>
          <a:ln/>
        </p:spPr>
        <p:txBody>
          <a:bodyPr/>
          <a:lstStyle/>
          <a:p>
            <a:endParaRPr lang="en-GB"/>
          </a:p>
        </p:txBody>
      </p:sp>
      <p:sp>
        <p:nvSpPr>
          <p:cNvPr id="26" name="Shape 24"/>
          <p:cNvSpPr/>
          <p:nvPr/>
        </p:nvSpPr>
        <p:spPr>
          <a:xfrm>
            <a:off x="4998244" y="3630216"/>
            <a:ext cx="114300" cy="114300"/>
          </a:xfrm>
          <a:custGeom>
            <a:avLst/>
            <a:gdLst/>
            <a:ahLst/>
            <a:cxnLst/>
            <a:rect l="l" t="t" r="r" b="b"/>
            <a:pathLst>
              <a:path w="114300" h="114300">
                <a:moveTo>
                  <a:pt x="100013" y="57150"/>
                </a:moveTo>
                <a:cubicBezTo>
                  <a:pt x="100013" y="33494"/>
                  <a:pt x="80806" y="14288"/>
                  <a:pt x="57150" y="14288"/>
                </a:cubicBezTo>
                <a:cubicBezTo>
                  <a:pt x="33494" y="14288"/>
                  <a:pt x="14288" y="33494"/>
                  <a:pt x="14288" y="57150"/>
                </a:cubicBezTo>
                <a:cubicBezTo>
                  <a:pt x="14288" y="80806"/>
                  <a:pt x="33494" y="100013"/>
                  <a:pt x="57150" y="100013"/>
                </a:cubicBezTo>
                <a:cubicBezTo>
                  <a:pt x="80806" y="100013"/>
                  <a:pt x="100013" y="80806"/>
                  <a:pt x="100013" y="57150"/>
                </a:cubicBezTo>
                <a:close/>
                <a:moveTo>
                  <a:pt x="0" y="57150"/>
                </a:moveTo>
                <a:cubicBezTo>
                  <a:pt x="0" y="25608"/>
                  <a:pt x="25608" y="0"/>
                  <a:pt x="57150" y="0"/>
                </a:cubicBezTo>
                <a:cubicBezTo>
                  <a:pt x="88692" y="0"/>
                  <a:pt x="114300" y="25608"/>
                  <a:pt x="114300" y="57150"/>
                </a:cubicBezTo>
                <a:cubicBezTo>
                  <a:pt x="114300" y="88692"/>
                  <a:pt x="88692" y="114300"/>
                  <a:pt x="57150" y="114300"/>
                </a:cubicBezTo>
                <a:cubicBezTo>
                  <a:pt x="25608" y="114300"/>
                  <a:pt x="0" y="88692"/>
                  <a:pt x="0" y="57150"/>
                </a:cubicBezTo>
                <a:close/>
                <a:moveTo>
                  <a:pt x="57150" y="75009"/>
                </a:moveTo>
                <a:cubicBezTo>
                  <a:pt x="67007" y="75009"/>
                  <a:pt x="75009" y="67007"/>
                  <a:pt x="75009" y="57150"/>
                </a:cubicBezTo>
                <a:cubicBezTo>
                  <a:pt x="75009" y="47293"/>
                  <a:pt x="67007" y="39291"/>
                  <a:pt x="57150" y="39291"/>
                </a:cubicBezTo>
                <a:cubicBezTo>
                  <a:pt x="47293" y="39291"/>
                  <a:pt x="39291" y="47293"/>
                  <a:pt x="39291" y="57150"/>
                </a:cubicBezTo>
                <a:cubicBezTo>
                  <a:pt x="39291" y="67007"/>
                  <a:pt x="47293" y="75009"/>
                  <a:pt x="57150" y="75009"/>
                </a:cubicBezTo>
                <a:close/>
                <a:moveTo>
                  <a:pt x="57150" y="25003"/>
                </a:moveTo>
                <a:cubicBezTo>
                  <a:pt x="74892" y="25003"/>
                  <a:pt x="89297" y="39408"/>
                  <a:pt x="89297" y="57150"/>
                </a:cubicBezTo>
                <a:cubicBezTo>
                  <a:pt x="89297" y="74892"/>
                  <a:pt x="74892" y="89297"/>
                  <a:pt x="57150" y="89297"/>
                </a:cubicBezTo>
                <a:cubicBezTo>
                  <a:pt x="39408" y="89297"/>
                  <a:pt x="25003" y="74892"/>
                  <a:pt x="25003" y="57150"/>
                </a:cubicBezTo>
                <a:cubicBezTo>
                  <a:pt x="25003" y="39408"/>
                  <a:pt x="39408" y="25003"/>
                  <a:pt x="57150" y="25003"/>
                </a:cubicBezTo>
                <a:close/>
                <a:moveTo>
                  <a:pt x="50006" y="57150"/>
                </a:moveTo>
                <a:cubicBezTo>
                  <a:pt x="50006" y="53207"/>
                  <a:pt x="53207" y="50006"/>
                  <a:pt x="57150" y="50006"/>
                </a:cubicBezTo>
                <a:cubicBezTo>
                  <a:pt x="61093" y="50006"/>
                  <a:pt x="64294" y="53207"/>
                  <a:pt x="64294" y="57150"/>
                </a:cubicBezTo>
                <a:cubicBezTo>
                  <a:pt x="64294" y="61093"/>
                  <a:pt x="61093" y="64294"/>
                  <a:pt x="57150" y="64294"/>
                </a:cubicBezTo>
                <a:cubicBezTo>
                  <a:pt x="53207" y="64294"/>
                  <a:pt x="50006" y="61093"/>
                  <a:pt x="50006" y="57150"/>
                </a:cubicBezTo>
                <a:close/>
              </a:path>
            </a:pathLst>
          </a:custGeom>
          <a:solidFill>
            <a:srgbClr val="C9A86A"/>
          </a:solidFill>
          <a:ln/>
        </p:spPr>
        <p:txBody>
          <a:bodyPr/>
          <a:lstStyle/>
          <a:p>
            <a:endParaRPr lang="en-GB"/>
          </a:p>
        </p:txBody>
      </p:sp>
      <p:sp>
        <p:nvSpPr>
          <p:cNvPr id="27" name="Text 25"/>
          <p:cNvSpPr/>
          <p:nvPr/>
        </p:nvSpPr>
        <p:spPr>
          <a:xfrm>
            <a:off x="5133975" y="3617119"/>
            <a:ext cx="2095500" cy="304800"/>
          </a:xfrm>
          <a:prstGeom prst="rect">
            <a:avLst/>
          </a:prstGeom>
          <a:noFill/>
          <a:ln/>
        </p:spPr>
        <p:txBody>
          <a:bodyPr wrap="square" lIns="0" tIns="0" rIns="0" bIns="0" rtlCol="0" anchor="ctr"/>
          <a:lstStyle/>
          <a:p>
            <a:pPr algn="ctr">
              <a:lnSpc>
                <a:spcPct val="110000"/>
              </a:lnSpc>
            </a:pPr>
            <a:r>
              <a:rPr lang="en-US" sz="900" dirty="0">
                <a:solidFill>
                  <a:srgbClr val="8D99AE"/>
                </a:solidFill>
                <a:latin typeface="Quattrocento Sans" pitchFamily="34" charset="0"/>
                <a:ea typeface="Quattrocento Sans" pitchFamily="34" charset="-122"/>
                <a:cs typeface="Quattrocento Sans" pitchFamily="34" charset="-120"/>
              </a:rPr>
              <a:t>Decides which trash to collect next based on proximity and priority</a:t>
            </a:r>
            <a:endParaRPr lang="en-US" sz="1600" dirty="0"/>
          </a:p>
        </p:txBody>
      </p:sp>
      <p:sp>
        <p:nvSpPr>
          <p:cNvPr id="28" name="Shape 26"/>
          <p:cNvSpPr/>
          <p:nvPr/>
        </p:nvSpPr>
        <p:spPr>
          <a:xfrm>
            <a:off x="7705725" y="2524125"/>
            <a:ext cx="228600" cy="228600"/>
          </a:xfrm>
          <a:custGeom>
            <a:avLst/>
            <a:gdLst/>
            <a:ahLst/>
            <a:cxnLst/>
            <a:rect l="l" t="t" r="r" b="b"/>
            <a:pathLst>
              <a:path w="228600" h="228600">
                <a:moveTo>
                  <a:pt x="224403" y="124391"/>
                </a:moveTo>
                <a:cubicBezTo>
                  <a:pt x="229984" y="118809"/>
                  <a:pt x="229984" y="109746"/>
                  <a:pt x="224403" y="104165"/>
                </a:cubicBezTo>
                <a:lnTo>
                  <a:pt x="152966" y="32727"/>
                </a:lnTo>
                <a:cubicBezTo>
                  <a:pt x="147384" y="27146"/>
                  <a:pt x="138321" y="27146"/>
                  <a:pt x="132740" y="32727"/>
                </a:cubicBezTo>
                <a:cubicBezTo>
                  <a:pt x="127159" y="38308"/>
                  <a:pt x="127159" y="47372"/>
                  <a:pt x="132740" y="52953"/>
                </a:cubicBezTo>
                <a:lnTo>
                  <a:pt x="179799" y="100013"/>
                </a:lnTo>
                <a:lnTo>
                  <a:pt x="14288" y="100013"/>
                </a:lnTo>
                <a:cubicBezTo>
                  <a:pt x="6385" y="100013"/>
                  <a:pt x="0" y="106397"/>
                  <a:pt x="0" y="114300"/>
                </a:cubicBezTo>
                <a:cubicBezTo>
                  <a:pt x="0" y="122203"/>
                  <a:pt x="6385" y="128588"/>
                  <a:pt x="14288" y="128588"/>
                </a:cubicBezTo>
                <a:lnTo>
                  <a:pt x="179799" y="128588"/>
                </a:lnTo>
                <a:lnTo>
                  <a:pt x="132740" y="175647"/>
                </a:lnTo>
                <a:cubicBezTo>
                  <a:pt x="127159" y="181228"/>
                  <a:pt x="127159" y="190292"/>
                  <a:pt x="132740" y="195873"/>
                </a:cubicBezTo>
                <a:cubicBezTo>
                  <a:pt x="138321" y="201454"/>
                  <a:pt x="147384" y="201454"/>
                  <a:pt x="152966" y="195873"/>
                </a:cubicBezTo>
                <a:lnTo>
                  <a:pt x="224403" y="124435"/>
                </a:lnTo>
                <a:close/>
              </a:path>
            </a:pathLst>
          </a:custGeom>
          <a:solidFill>
            <a:srgbClr val="C9A86A"/>
          </a:solidFill>
          <a:ln/>
        </p:spPr>
        <p:txBody>
          <a:bodyPr/>
          <a:lstStyle/>
          <a:p>
            <a:endParaRPr lang="en-GB"/>
          </a:p>
        </p:txBody>
      </p:sp>
      <p:sp>
        <p:nvSpPr>
          <p:cNvPr id="29" name="Shape 27"/>
          <p:cNvSpPr/>
          <p:nvPr/>
        </p:nvSpPr>
        <p:spPr>
          <a:xfrm>
            <a:off x="7800975" y="2828925"/>
            <a:ext cx="38100" cy="304800"/>
          </a:xfrm>
          <a:custGeom>
            <a:avLst/>
            <a:gdLst/>
            <a:ahLst/>
            <a:cxnLst/>
            <a:rect l="l" t="t" r="r" b="b"/>
            <a:pathLst>
              <a:path w="38100" h="304800">
                <a:moveTo>
                  <a:pt x="0" y="0"/>
                </a:moveTo>
                <a:lnTo>
                  <a:pt x="38100" y="0"/>
                </a:lnTo>
                <a:lnTo>
                  <a:pt x="38100" y="304800"/>
                </a:lnTo>
                <a:lnTo>
                  <a:pt x="0" y="304800"/>
                </a:lnTo>
                <a:lnTo>
                  <a:pt x="0" y="0"/>
                </a:lnTo>
                <a:close/>
              </a:path>
            </a:pathLst>
          </a:custGeom>
          <a:solidFill>
            <a:srgbClr val="C9A86A">
              <a:alpha val="50196"/>
            </a:srgbClr>
          </a:solidFill>
          <a:ln/>
        </p:spPr>
        <p:txBody>
          <a:bodyPr/>
          <a:lstStyle/>
          <a:p>
            <a:endParaRPr lang="en-GB"/>
          </a:p>
        </p:txBody>
      </p:sp>
      <p:sp>
        <p:nvSpPr>
          <p:cNvPr id="30" name="Shape 28"/>
          <p:cNvSpPr/>
          <p:nvPr/>
        </p:nvSpPr>
        <p:spPr>
          <a:xfrm>
            <a:off x="7705725" y="3209925"/>
            <a:ext cx="228600" cy="228600"/>
          </a:xfrm>
          <a:custGeom>
            <a:avLst/>
            <a:gdLst/>
            <a:ahLst/>
            <a:cxnLst/>
            <a:rect l="l" t="t" r="r" b="b"/>
            <a:pathLst>
              <a:path w="228600" h="228600">
                <a:moveTo>
                  <a:pt x="224403" y="124391"/>
                </a:moveTo>
                <a:cubicBezTo>
                  <a:pt x="229984" y="118809"/>
                  <a:pt x="229984" y="109746"/>
                  <a:pt x="224403" y="104165"/>
                </a:cubicBezTo>
                <a:lnTo>
                  <a:pt x="152966" y="32727"/>
                </a:lnTo>
                <a:cubicBezTo>
                  <a:pt x="147384" y="27146"/>
                  <a:pt x="138321" y="27146"/>
                  <a:pt x="132740" y="32727"/>
                </a:cubicBezTo>
                <a:cubicBezTo>
                  <a:pt x="127159" y="38308"/>
                  <a:pt x="127159" y="47372"/>
                  <a:pt x="132740" y="52953"/>
                </a:cubicBezTo>
                <a:lnTo>
                  <a:pt x="179799" y="100013"/>
                </a:lnTo>
                <a:lnTo>
                  <a:pt x="14288" y="100013"/>
                </a:lnTo>
                <a:cubicBezTo>
                  <a:pt x="6385" y="100013"/>
                  <a:pt x="0" y="106397"/>
                  <a:pt x="0" y="114300"/>
                </a:cubicBezTo>
                <a:cubicBezTo>
                  <a:pt x="0" y="122203"/>
                  <a:pt x="6385" y="128588"/>
                  <a:pt x="14288" y="128588"/>
                </a:cubicBezTo>
                <a:lnTo>
                  <a:pt x="179799" y="128588"/>
                </a:lnTo>
                <a:lnTo>
                  <a:pt x="132740" y="175647"/>
                </a:lnTo>
                <a:cubicBezTo>
                  <a:pt x="127159" y="181228"/>
                  <a:pt x="127159" y="190292"/>
                  <a:pt x="132740" y="195873"/>
                </a:cubicBezTo>
                <a:cubicBezTo>
                  <a:pt x="138321" y="201454"/>
                  <a:pt x="147384" y="201454"/>
                  <a:pt x="152966" y="195873"/>
                </a:cubicBezTo>
                <a:lnTo>
                  <a:pt x="224403" y="124435"/>
                </a:lnTo>
                <a:close/>
              </a:path>
            </a:pathLst>
          </a:custGeom>
          <a:solidFill>
            <a:srgbClr val="C9A86A"/>
          </a:solidFill>
          <a:ln/>
        </p:spPr>
        <p:txBody>
          <a:bodyPr/>
          <a:lstStyle/>
          <a:p>
            <a:endParaRPr lang="en-GB"/>
          </a:p>
        </p:txBody>
      </p:sp>
      <p:sp>
        <p:nvSpPr>
          <p:cNvPr id="31" name="Shape 29"/>
          <p:cNvSpPr/>
          <p:nvPr/>
        </p:nvSpPr>
        <p:spPr>
          <a:xfrm>
            <a:off x="8124825" y="1720453"/>
            <a:ext cx="2838450" cy="2524125"/>
          </a:xfrm>
          <a:custGeom>
            <a:avLst/>
            <a:gdLst/>
            <a:ahLst/>
            <a:cxnLst/>
            <a:rect l="l" t="t" r="r" b="b"/>
            <a:pathLst>
              <a:path w="2838450" h="2524125">
                <a:moveTo>
                  <a:pt x="114292" y="0"/>
                </a:moveTo>
                <a:lnTo>
                  <a:pt x="2724158" y="0"/>
                </a:lnTo>
                <a:cubicBezTo>
                  <a:pt x="2787280" y="0"/>
                  <a:pt x="2838450" y="51170"/>
                  <a:pt x="2838450" y="114292"/>
                </a:cubicBezTo>
                <a:lnTo>
                  <a:pt x="2838450" y="2409833"/>
                </a:lnTo>
                <a:cubicBezTo>
                  <a:pt x="2838450" y="2472955"/>
                  <a:pt x="2787280" y="2524125"/>
                  <a:pt x="2724158" y="2524125"/>
                </a:cubicBezTo>
                <a:lnTo>
                  <a:pt x="114292" y="2524125"/>
                </a:lnTo>
                <a:cubicBezTo>
                  <a:pt x="51170" y="2524125"/>
                  <a:pt x="0" y="2472955"/>
                  <a:pt x="0" y="2409833"/>
                </a:cubicBezTo>
                <a:lnTo>
                  <a:pt x="0" y="114292"/>
                </a:lnTo>
                <a:cubicBezTo>
                  <a:pt x="0" y="51213"/>
                  <a:pt x="51213" y="0"/>
                  <a:pt x="114292" y="0"/>
                </a:cubicBezTo>
                <a:close/>
              </a:path>
            </a:pathLst>
          </a:custGeom>
          <a:gradFill flip="none" rotWithShape="1">
            <a:gsLst>
              <a:gs pos="0">
                <a:srgbClr val="C9A86A">
                  <a:alpha val="30000"/>
                </a:srgbClr>
              </a:gs>
              <a:gs pos="100000">
                <a:srgbClr val="C9A86A">
                  <a:alpha val="10000"/>
                </a:srgbClr>
              </a:gs>
            </a:gsLst>
            <a:lin ang="2700000" scaled="1"/>
          </a:gradFill>
          <a:ln w="25400">
            <a:solidFill>
              <a:srgbClr val="C9A86A"/>
            </a:solidFill>
            <a:prstDash val="solid"/>
          </a:ln>
        </p:spPr>
        <p:txBody>
          <a:bodyPr/>
          <a:lstStyle/>
          <a:p>
            <a:endParaRPr lang="en-GB"/>
          </a:p>
        </p:txBody>
      </p:sp>
      <p:sp>
        <p:nvSpPr>
          <p:cNvPr id="32" name="Shape 30"/>
          <p:cNvSpPr/>
          <p:nvPr/>
        </p:nvSpPr>
        <p:spPr>
          <a:xfrm>
            <a:off x="9181133" y="1615678"/>
            <a:ext cx="723900" cy="304800"/>
          </a:xfrm>
          <a:custGeom>
            <a:avLst/>
            <a:gdLst/>
            <a:ahLst/>
            <a:cxnLst/>
            <a:rect l="l" t="t" r="r" b="b"/>
            <a:pathLst>
              <a:path w="723900" h="304800">
                <a:moveTo>
                  <a:pt x="152400" y="0"/>
                </a:moveTo>
                <a:lnTo>
                  <a:pt x="571500" y="0"/>
                </a:lnTo>
                <a:cubicBezTo>
                  <a:pt x="655612" y="0"/>
                  <a:pt x="723900" y="68288"/>
                  <a:pt x="723900" y="152400"/>
                </a:cubicBezTo>
                <a:lnTo>
                  <a:pt x="723900" y="152400"/>
                </a:lnTo>
                <a:cubicBezTo>
                  <a:pt x="723900" y="236512"/>
                  <a:pt x="655612" y="304800"/>
                  <a:pt x="571500" y="304800"/>
                </a:cubicBezTo>
                <a:lnTo>
                  <a:pt x="152400" y="304800"/>
                </a:lnTo>
                <a:cubicBezTo>
                  <a:pt x="68288" y="304800"/>
                  <a:pt x="0" y="236512"/>
                  <a:pt x="0" y="152400"/>
                </a:cubicBezTo>
                <a:lnTo>
                  <a:pt x="0" y="152400"/>
                </a:lnTo>
                <a:cubicBezTo>
                  <a:pt x="0" y="68288"/>
                  <a:pt x="68288" y="0"/>
                  <a:pt x="152400" y="0"/>
                </a:cubicBezTo>
                <a:close/>
              </a:path>
            </a:pathLst>
          </a:custGeom>
          <a:solidFill>
            <a:srgbClr val="C9A86A"/>
          </a:solidFill>
          <a:ln/>
        </p:spPr>
        <p:txBody>
          <a:bodyPr/>
          <a:lstStyle/>
          <a:p>
            <a:endParaRPr lang="en-GB"/>
          </a:p>
        </p:txBody>
      </p:sp>
      <p:sp>
        <p:nvSpPr>
          <p:cNvPr id="33" name="Text 31"/>
          <p:cNvSpPr/>
          <p:nvPr/>
        </p:nvSpPr>
        <p:spPr>
          <a:xfrm>
            <a:off x="9333533" y="1701403"/>
            <a:ext cx="487710" cy="152400"/>
          </a:xfrm>
          <a:prstGeom prst="rect">
            <a:avLst/>
          </a:prstGeom>
          <a:noFill/>
          <a:ln/>
        </p:spPr>
        <p:txBody>
          <a:bodyPr wrap="square" lIns="0" tIns="0" rIns="0" bIns="0" rtlCol="0" anchor="ctr"/>
          <a:lstStyle/>
          <a:p>
            <a:pPr>
              <a:lnSpc>
                <a:spcPct val="120000"/>
              </a:lnSpc>
            </a:pPr>
            <a:r>
              <a:rPr lang="en-US" sz="1050" b="1" dirty="0">
                <a:solidFill>
                  <a:srgbClr val="1A1D24"/>
                </a:solidFill>
                <a:latin typeface="Quattrocento Sans" pitchFamily="34" charset="0"/>
                <a:ea typeface="Quattrocento Sans" pitchFamily="34" charset="-122"/>
                <a:cs typeface="Quattrocento Sans" pitchFamily="34" charset="-120"/>
              </a:rPr>
              <a:t>Layer 3</a:t>
            </a:r>
            <a:endParaRPr lang="en-US" sz="1600" dirty="0"/>
          </a:p>
        </p:txBody>
      </p:sp>
      <p:sp>
        <p:nvSpPr>
          <p:cNvPr id="34" name="Shape 32"/>
          <p:cNvSpPr/>
          <p:nvPr/>
        </p:nvSpPr>
        <p:spPr>
          <a:xfrm>
            <a:off x="9239250" y="2072878"/>
            <a:ext cx="609600" cy="609600"/>
          </a:xfrm>
          <a:custGeom>
            <a:avLst/>
            <a:gdLst/>
            <a:ahLst/>
            <a:cxnLst/>
            <a:rect l="l" t="t" r="r" b="b"/>
            <a:pathLst>
              <a:path w="609600" h="609600">
                <a:moveTo>
                  <a:pt x="304800" y="0"/>
                </a:moveTo>
                <a:lnTo>
                  <a:pt x="304800" y="0"/>
                </a:lnTo>
                <a:cubicBezTo>
                  <a:pt x="473024" y="0"/>
                  <a:pt x="609600" y="136576"/>
                  <a:pt x="609600" y="304800"/>
                </a:cubicBezTo>
                <a:lnTo>
                  <a:pt x="609600" y="304800"/>
                </a:lnTo>
                <a:cubicBezTo>
                  <a:pt x="609600" y="473024"/>
                  <a:pt x="473024" y="609600"/>
                  <a:pt x="304800" y="609600"/>
                </a:cubicBezTo>
                <a:lnTo>
                  <a:pt x="304800" y="609600"/>
                </a:lnTo>
                <a:cubicBezTo>
                  <a:pt x="136576" y="609600"/>
                  <a:pt x="0" y="473024"/>
                  <a:pt x="0" y="304800"/>
                </a:cubicBezTo>
                <a:lnTo>
                  <a:pt x="0" y="304800"/>
                </a:lnTo>
                <a:cubicBezTo>
                  <a:pt x="0" y="136576"/>
                  <a:pt x="136576" y="0"/>
                  <a:pt x="304800" y="0"/>
                </a:cubicBezTo>
                <a:close/>
              </a:path>
            </a:pathLst>
          </a:custGeom>
          <a:solidFill>
            <a:srgbClr val="C9A86A"/>
          </a:solidFill>
          <a:ln/>
        </p:spPr>
        <p:txBody>
          <a:bodyPr/>
          <a:lstStyle/>
          <a:p>
            <a:endParaRPr lang="en-GB"/>
          </a:p>
        </p:txBody>
      </p:sp>
      <p:sp>
        <p:nvSpPr>
          <p:cNvPr id="35" name="Shape 33"/>
          <p:cNvSpPr/>
          <p:nvPr/>
        </p:nvSpPr>
        <p:spPr>
          <a:xfrm>
            <a:off x="9429750" y="2263378"/>
            <a:ext cx="228600" cy="228600"/>
          </a:xfrm>
          <a:custGeom>
            <a:avLst/>
            <a:gdLst/>
            <a:ahLst/>
            <a:cxnLst/>
            <a:rect l="l" t="t" r="r" b="b"/>
            <a:pathLst>
              <a:path w="228600" h="228600">
                <a:moveTo>
                  <a:pt x="75009" y="25003"/>
                </a:moveTo>
                <a:lnTo>
                  <a:pt x="75009" y="42863"/>
                </a:lnTo>
                <a:lnTo>
                  <a:pt x="40139" y="42863"/>
                </a:lnTo>
                <a:cubicBezTo>
                  <a:pt x="33754" y="42863"/>
                  <a:pt x="28575" y="48042"/>
                  <a:pt x="28575" y="54426"/>
                </a:cubicBezTo>
                <a:cubicBezTo>
                  <a:pt x="28575" y="56212"/>
                  <a:pt x="28977" y="57998"/>
                  <a:pt x="29781" y="59606"/>
                </a:cubicBezTo>
                <a:lnTo>
                  <a:pt x="44693" y="89431"/>
                </a:lnTo>
                <a:cubicBezTo>
                  <a:pt x="39603" y="90234"/>
                  <a:pt x="35674" y="94655"/>
                  <a:pt x="35674" y="100013"/>
                </a:cubicBezTo>
                <a:cubicBezTo>
                  <a:pt x="35674" y="105951"/>
                  <a:pt x="40451" y="110728"/>
                  <a:pt x="46390" y="110728"/>
                </a:cubicBezTo>
                <a:lnTo>
                  <a:pt x="48890" y="110728"/>
                </a:lnTo>
                <a:lnTo>
                  <a:pt x="42818" y="171450"/>
                </a:lnTo>
                <a:lnTo>
                  <a:pt x="17725" y="202838"/>
                </a:lnTo>
                <a:cubicBezTo>
                  <a:pt x="15493" y="205651"/>
                  <a:pt x="14243" y="209133"/>
                  <a:pt x="14243" y="212750"/>
                </a:cubicBezTo>
                <a:cubicBezTo>
                  <a:pt x="14243" y="221501"/>
                  <a:pt x="21342" y="228600"/>
                  <a:pt x="30093" y="228600"/>
                </a:cubicBezTo>
                <a:lnTo>
                  <a:pt x="141223" y="228600"/>
                </a:lnTo>
                <a:cubicBezTo>
                  <a:pt x="149974" y="228600"/>
                  <a:pt x="157073" y="221501"/>
                  <a:pt x="157073" y="212750"/>
                </a:cubicBezTo>
                <a:cubicBezTo>
                  <a:pt x="157073" y="209133"/>
                  <a:pt x="155868" y="205651"/>
                  <a:pt x="153591" y="202838"/>
                </a:cubicBezTo>
                <a:lnTo>
                  <a:pt x="128588" y="171450"/>
                </a:lnTo>
                <a:lnTo>
                  <a:pt x="122515" y="110728"/>
                </a:lnTo>
                <a:lnTo>
                  <a:pt x="125016" y="110728"/>
                </a:lnTo>
                <a:cubicBezTo>
                  <a:pt x="130954" y="110728"/>
                  <a:pt x="135731" y="105951"/>
                  <a:pt x="135731" y="100013"/>
                </a:cubicBezTo>
                <a:cubicBezTo>
                  <a:pt x="135731" y="94699"/>
                  <a:pt x="131847" y="90234"/>
                  <a:pt x="126712" y="89431"/>
                </a:cubicBezTo>
                <a:lnTo>
                  <a:pt x="141625" y="59606"/>
                </a:lnTo>
                <a:cubicBezTo>
                  <a:pt x="142429" y="57998"/>
                  <a:pt x="142830" y="56212"/>
                  <a:pt x="142830" y="54426"/>
                </a:cubicBezTo>
                <a:cubicBezTo>
                  <a:pt x="142830" y="48042"/>
                  <a:pt x="137651" y="42863"/>
                  <a:pt x="131266" y="42863"/>
                </a:cubicBezTo>
                <a:lnTo>
                  <a:pt x="96396" y="42863"/>
                </a:lnTo>
                <a:lnTo>
                  <a:pt x="96396" y="25003"/>
                </a:lnTo>
                <a:lnTo>
                  <a:pt x="103540" y="25003"/>
                </a:lnTo>
                <a:cubicBezTo>
                  <a:pt x="109478" y="25003"/>
                  <a:pt x="114255" y="20226"/>
                  <a:pt x="114255" y="14288"/>
                </a:cubicBezTo>
                <a:cubicBezTo>
                  <a:pt x="114255" y="8349"/>
                  <a:pt x="109523" y="3572"/>
                  <a:pt x="103584" y="3572"/>
                </a:cubicBezTo>
                <a:lnTo>
                  <a:pt x="96441" y="3572"/>
                </a:lnTo>
                <a:lnTo>
                  <a:pt x="96441" y="-3572"/>
                </a:lnTo>
                <a:cubicBezTo>
                  <a:pt x="96441" y="-9510"/>
                  <a:pt x="91663" y="-14287"/>
                  <a:pt x="85725" y="-14287"/>
                </a:cubicBezTo>
                <a:cubicBezTo>
                  <a:pt x="79787" y="-14287"/>
                  <a:pt x="75009" y="-9510"/>
                  <a:pt x="75009" y="-3572"/>
                </a:cubicBezTo>
                <a:lnTo>
                  <a:pt x="75009" y="3572"/>
                </a:lnTo>
                <a:lnTo>
                  <a:pt x="67866" y="3572"/>
                </a:lnTo>
                <a:cubicBezTo>
                  <a:pt x="61927" y="3572"/>
                  <a:pt x="57150" y="8349"/>
                  <a:pt x="57150" y="14288"/>
                </a:cubicBezTo>
                <a:cubicBezTo>
                  <a:pt x="57150" y="20226"/>
                  <a:pt x="61927" y="25003"/>
                  <a:pt x="67866" y="25003"/>
                </a:cubicBezTo>
                <a:lnTo>
                  <a:pt x="75009" y="25003"/>
                </a:lnTo>
                <a:close/>
                <a:moveTo>
                  <a:pt x="145465" y="124837"/>
                </a:moveTo>
                <a:lnTo>
                  <a:pt x="149260" y="163011"/>
                </a:lnTo>
                <a:lnTo>
                  <a:pt x="170423" y="189443"/>
                </a:lnTo>
                <a:lnTo>
                  <a:pt x="172298" y="191988"/>
                </a:lnTo>
                <a:cubicBezTo>
                  <a:pt x="176406" y="198105"/>
                  <a:pt x="178594" y="205338"/>
                  <a:pt x="178594" y="212750"/>
                </a:cubicBezTo>
                <a:cubicBezTo>
                  <a:pt x="178594" y="218420"/>
                  <a:pt x="177344" y="223823"/>
                  <a:pt x="175067" y="228600"/>
                </a:cubicBezTo>
                <a:lnTo>
                  <a:pt x="212169" y="228600"/>
                </a:lnTo>
                <a:cubicBezTo>
                  <a:pt x="221233" y="228600"/>
                  <a:pt x="228600" y="221233"/>
                  <a:pt x="228600" y="212169"/>
                </a:cubicBezTo>
                <a:cubicBezTo>
                  <a:pt x="228600" y="208910"/>
                  <a:pt x="227618" y="205740"/>
                  <a:pt x="225832" y="203061"/>
                </a:cubicBezTo>
                <a:lnTo>
                  <a:pt x="214313" y="185782"/>
                </a:lnTo>
                <a:lnTo>
                  <a:pt x="214313" y="157207"/>
                </a:lnTo>
                <a:lnTo>
                  <a:pt x="220251" y="151269"/>
                </a:lnTo>
                <a:cubicBezTo>
                  <a:pt x="225609" y="145911"/>
                  <a:pt x="228600" y="138633"/>
                  <a:pt x="228600" y="131043"/>
                </a:cubicBezTo>
                <a:lnTo>
                  <a:pt x="228600" y="85725"/>
                </a:lnTo>
                <a:cubicBezTo>
                  <a:pt x="228600" y="77822"/>
                  <a:pt x="222215" y="71438"/>
                  <a:pt x="214313" y="71438"/>
                </a:cubicBezTo>
                <a:cubicBezTo>
                  <a:pt x="206410" y="71438"/>
                  <a:pt x="200025" y="77822"/>
                  <a:pt x="200025" y="85725"/>
                </a:cubicBezTo>
                <a:lnTo>
                  <a:pt x="200025" y="92869"/>
                </a:lnTo>
                <a:lnTo>
                  <a:pt x="185738" y="92869"/>
                </a:lnTo>
                <a:lnTo>
                  <a:pt x="185738" y="85725"/>
                </a:lnTo>
                <a:cubicBezTo>
                  <a:pt x="185738" y="77822"/>
                  <a:pt x="179353" y="71438"/>
                  <a:pt x="171450" y="71438"/>
                </a:cubicBezTo>
                <a:cubicBezTo>
                  <a:pt x="163547" y="71438"/>
                  <a:pt x="157163" y="77822"/>
                  <a:pt x="157163" y="85725"/>
                </a:cubicBezTo>
                <a:lnTo>
                  <a:pt x="157163" y="100013"/>
                </a:lnTo>
                <a:cubicBezTo>
                  <a:pt x="157163" y="110014"/>
                  <a:pt x="152608" y="118943"/>
                  <a:pt x="145465" y="124837"/>
                </a:cubicBezTo>
                <a:close/>
              </a:path>
            </a:pathLst>
          </a:custGeom>
          <a:solidFill>
            <a:srgbClr val="1A1D24"/>
          </a:solidFill>
          <a:ln/>
        </p:spPr>
        <p:txBody>
          <a:bodyPr/>
          <a:lstStyle/>
          <a:p>
            <a:endParaRPr lang="en-GB"/>
          </a:p>
        </p:txBody>
      </p:sp>
      <p:sp>
        <p:nvSpPr>
          <p:cNvPr id="36" name="Text 34"/>
          <p:cNvSpPr/>
          <p:nvPr/>
        </p:nvSpPr>
        <p:spPr>
          <a:xfrm>
            <a:off x="8277225" y="2796778"/>
            <a:ext cx="2533650" cy="266700"/>
          </a:xfrm>
          <a:prstGeom prst="rect">
            <a:avLst/>
          </a:prstGeom>
          <a:noFill/>
          <a:ln/>
        </p:spPr>
        <p:txBody>
          <a:bodyPr wrap="square" lIns="0" tIns="0" rIns="0" bIns="0" rtlCol="0" anchor="ctr"/>
          <a:lstStyle/>
          <a:p>
            <a:pPr algn="ctr">
              <a:lnSpc>
                <a:spcPct val="120000"/>
              </a:lnSpc>
            </a:pPr>
            <a:r>
              <a:rPr lang="en-US" sz="1500" b="1" dirty="0">
                <a:solidFill>
                  <a:srgbClr val="EDF2F4"/>
                </a:solidFill>
                <a:latin typeface="Liter" pitchFamily="34" charset="0"/>
                <a:ea typeface="Liter" pitchFamily="34" charset="-122"/>
                <a:cs typeface="Liter" pitchFamily="34" charset="-120"/>
              </a:rPr>
              <a:t>Deliberative Layer</a:t>
            </a:r>
            <a:endParaRPr lang="en-US" sz="1600" dirty="0"/>
          </a:p>
        </p:txBody>
      </p:sp>
      <p:sp>
        <p:nvSpPr>
          <p:cNvPr id="37" name="Text 35"/>
          <p:cNvSpPr/>
          <p:nvPr/>
        </p:nvSpPr>
        <p:spPr>
          <a:xfrm>
            <a:off x="8291513" y="3139678"/>
            <a:ext cx="2505075" cy="219075"/>
          </a:xfrm>
          <a:prstGeom prst="rect">
            <a:avLst/>
          </a:prstGeom>
          <a:noFill/>
          <a:ln/>
        </p:spPr>
        <p:txBody>
          <a:bodyPr wrap="square" lIns="0" tIns="0" rIns="0" bIns="0" rtlCol="0" anchor="ctr"/>
          <a:lstStyle/>
          <a:p>
            <a:pPr algn="ctr">
              <a:lnSpc>
                <a:spcPct val="140000"/>
              </a:lnSpc>
            </a:pPr>
            <a:r>
              <a:rPr lang="en-US" sz="1050" dirty="0">
                <a:solidFill>
                  <a:srgbClr val="8D99AE"/>
                </a:solidFill>
                <a:latin typeface="Quattrocento Sans" pitchFamily="34" charset="0"/>
                <a:ea typeface="Quattrocento Sans" pitchFamily="34" charset="-122"/>
                <a:cs typeface="Quattrocento Sans" pitchFamily="34" charset="-120"/>
              </a:rPr>
              <a:t>Route optimization &amp; mission planning</a:t>
            </a:r>
            <a:endParaRPr lang="en-US" sz="1600" dirty="0"/>
          </a:p>
        </p:txBody>
      </p:sp>
      <p:sp>
        <p:nvSpPr>
          <p:cNvPr id="38" name="Shape 36"/>
          <p:cNvSpPr/>
          <p:nvPr/>
        </p:nvSpPr>
        <p:spPr>
          <a:xfrm>
            <a:off x="8324850" y="3508772"/>
            <a:ext cx="2438400" cy="533400"/>
          </a:xfrm>
          <a:custGeom>
            <a:avLst/>
            <a:gdLst/>
            <a:ahLst/>
            <a:cxnLst/>
            <a:rect l="l" t="t" r="r" b="b"/>
            <a:pathLst>
              <a:path w="2438400" h="533400">
                <a:moveTo>
                  <a:pt x="76202" y="0"/>
                </a:moveTo>
                <a:lnTo>
                  <a:pt x="2362198" y="0"/>
                </a:lnTo>
                <a:cubicBezTo>
                  <a:pt x="2404283" y="0"/>
                  <a:pt x="2438400" y="34117"/>
                  <a:pt x="2438400" y="76202"/>
                </a:cubicBezTo>
                <a:lnTo>
                  <a:pt x="2438400" y="457198"/>
                </a:lnTo>
                <a:cubicBezTo>
                  <a:pt x="2438400" y="499283"/>
                  <a:pt x="2404283" y="533400"/>
                  <a:pt x="2362198" y="533400"/>
                </a:cubicBezTo>
                <a:lnTo>
                  <a:pt x="76202" y="533400"/>
                </a:lnTo>
                <a:cubicBezTo>
                  <a:pt x="34117" y="533400"/>
                  <a:pt x="0" y="499283"/>
                  <a:pt x="0" y="457198"/>
                </a:cubicBezTo>
                <a:lnTo>
                  <a:pt x="0" y="76202"/>
                </a:lnTo>
                <a:cubicBezTo>
                  <a:pt x="0" y="34145"/>
                  <a:pt x="34145" y="0"/>
                  <a:pt x="76202" y="0"/>
                </a:cubicBezTo>
                <a:close/>
              </a:path>
            </a:pathLst>
          </a:custGeom>
          <a:solidFill>
            <a:srgbClr val="1A1D24">
              <a:alpha val="60000"/>
            </a:srgbClr>
          </a:solidFill>
          <a:ln/>
        </p:spPr>
        <p:txBody>
          <a:bodyPr/>
          <a:lstStyle/>
          <a:p>
            <a:endParaRPr lang="en-GB"/>
          </a:p>
        </p:txBody>
      </p:sp>
      <p:sp>
        <p:nvSpPr>
          <p:cNvPr id="39" name="Shape 37"/>
          <p:cNvSpPr/>
          <p:nvPr/>
        </p:nvSpPr>
        <p:spPr>
          <a:xfrm>
            <a:off x="8473976" y="3623072"/>
            <a:ext cx="114300" cy="114300"/>
          </a:xfrm>
          <a:custGeom>
            <a:avLst/>
            <a:gdLst/>
            <a:ahLst/>
            <a:cxnLst/>
            <a:rect l="l" t="t" r="r" b="b"/>
            <a:pathLst>
              <a:path w="114300" h="114300">
                <a:moveTo>
                  <a:pt x="114300" y="21431"/>
                </a:moveTo>
                <a:cubicBezTo>
                  <a:pt x="114300" y="32638"/>
                  <a:pt x="101106" y="49359"/>
                  <a:pt x="95414" y="56034"/>
                </a:cubicBezTo>
                <a:cubicBezTo>
                  <a:pt x="94565" y="57016"/>
                  <a:pt x="93315" y="57396"/>
                  <a:pt x="92177" y="57150"/>
                </a:cubicBezTo>
                <a:lnTo>
                  <a:pt x="71438" y="57150"/>
                </a:lnTo>
                <a:cubicBezTo>
                  <a:pt x="67486" y="57150"/>
                  <a:pt x="64294" y="60342"/>
                  <a:pt x="64294" y="64294"/>
                </a:cubicBezTo>
                <a:cubicBezTo>
                  <a:pt x="64294" y="68245"/>
                  <a:pt x="67486" y="71438"/>
                  <a:pt x="71438" y="71438"/>
                </a:cubicBezTo>
                <a:lnTo>
                  <a:pt x="92869" y="71438"/>
                </a:lnTo>
                <a:cubicBezTo>
                  <a:pt x="104701" y="71438"/>
                  <a:pt x="114300" y="81037"/>
                  <a:pt x="114300" y="92869"/>
                </a:cubicBezTo>
                <a:cubicBezTo>
                  <a:pt x="114300" y="104701"/>
                  <a:pt x="104701" y="114300"/>
                  <a:pt x="92869" y="114300"/>
                </a:cubicBezTo>
                <a:lnTo>
                  <a:pt x="31165" y="114300"/>
                </a:lnTo>
                <a:cubicBezTo>
                  <a:pt x="33107" y="112090"/>
                  <a:pt x="35473" y="109255"/>
                  <a:pt x="37862" y="106085"/>
                </a:cubicBezTo>
                <a:cubicBezTo>
                  <a:pt x="39268" y="104209"/>
                  <a:pt x="40719" y="102156"/>
                  <a:pt x="42103" y="100013"/>
                </a:cubicBezTo>
                <a:lnTo>
                  <a:pt x="92869" y="100013"/>
                </a:lnTo>
                <a:cubicBezTo>
                  <a:pt x="96820" y="100013"/>
                  <a:pt x="100013" y="96820"/>
                  <a:pt x="100013" y="92869"/>
                </a:cubicBezTo>
                <a:cubicBezTo>
                  <a:pt x="100013" y="88917"/>
                  <a:pt x="96820" y="85725"/>
                  <a:pt x="92869" y="85725"/>
                </a:cubicBezTo>
                <a:lnTo>
                  <a:pt x="71438" y="85725"/>
                </a:lnTo>
                <a:cubicBezTo>
                  <a:pt x="59606" y="85725"/>
                  <a:pt x="50006" y="76126"/>
                  <a:pt x="50006" y="64294"/>
                </a:cubicBezTo>
                <a:cubicBezTo>
                  <a:pt x="50006" y="52462"/>
                  <a:pt x="59606" y="42863"/>
                  <a:pt x="71438" y="42863"/>
                </a:cubicBezTo>
                <a:lnTo>
                  <a:pt x="80323" y="42863"/>
                </a:lnTo>
                <a:cubicBezTo>
                  <a:pt x="75634" y="35830"/>
                  <a:pt x="71438" y="27749"/>
                  <a:pt x="71438" y="21431"/>
                </a:cubicBezTo>
                <a:cubicBezTo>
                  <a:pt x="71438" y="9599"/>
                  <a:pt x="81037" y="0"/>
                  <a:pt x="92869" y="0"/>
                </a:cubicBezTo>
                <a:cubicBezTo>
                  <a:pt x="104701" y="0"/>
                  <a:pt x="114300" y="9599"/>
                  <a:pt x="114300" y="21431"/>
                </a:cubicBezTo>
                <a:close/>
                <a:moveTo>
                  <a:pt x="26142" y="109188"/>
                </a:moveTo>
                <a:cubicBezTo>
                  <a:pt x="25293" y="110148"/>
                  <a:pt x="24534" y="110996"/>
                  <a:pt x="23887" y="111710"/>
                </a:cubicBezTo>
                <a:lnTo>
                  <a:pt x="23485" y="112157"/>
                </a:lnTo>
                <a:lnTo>
                  <a:pt x="23440" y="112112"/>
                </a:lnTo>
                <a:cubicBezTo>
                  <a:pt x="22101" y="113139"/>
                  <a:pt x="20181" y="113005"/>
                  <a:pt x="18976" y="111710"/>
                </a:cubicBezTo>
                <a:cubicBezTo>
                  <a:pt x="13350" y="105594"/>
                  <a:pt x="0" y="89855"/>
                  <a:pt x="0" y="78581"/>
                </a:cubicBezTo>
                <a:cubicBezTo>
                  <a:pt x="0" y="66749"/>
                  <a:pt x="9599" y="57150"/>
                  <a:pt x="21431" y="57150"/>
                </a:cubicBezTo>
                <a:cubicBezTo>
                  <a:pt x="33263" y="57150"/>
                  <a:pt x="42863" y="66749"/>
                  <a:pt x="42863" y="78581"/>
                </a:cubicBezTo>
                <a:cubicBezTo>
                  <a:pt x="42863" y="85279"/>
                  <a:pt x="38152" y="93538"/>
                  <a:pt x="33151" y="100437"/>
                </a:cubicBezTo>
                <a:cubicBezTo>
                  <a:pt x="30763" y="103718"/>
                  <a:pt x="28307" y="106687"/>
                  <a:pt x="26276" y="109031"/>
                </a:cubicBezTo>
                <a:lnTo>
                  <a:pt x="26142" y="109188"/>
                </a:lnTo>
                <a:close/>
                <a:moveTo>
                  <a:pt x="28575" y="78581"/>
                </a:moveTo>
                <a:cubicBezTo>
                  <a:pt x="28575" y="74639"/>
                  <a:pt x="25374" y="71438"/>
                  <a:pt x="21431" y="71438"/>
                </a:cubicBezTo>
                <a:cubicBezTo>
                  <a:pt x="17489" y="71438"/>
                  <a:pt x="14288" y="74639"/>
                  <a:pt x="14288" y="78581"/>
                </a:cubicBezTo>
                <a:cubicBezTo>
                  <a:pt x="14288" y="82524"/>
                  <a:pt x="17489" y="85725"/>
                  <a:pt x="21431" y="85725"/>
                </a:cubicBezTo>
                <a:cubicBezTo>
                  <a:pt x="25374" y="85725"/>
                  <a:pt x="28575" y="82524"/>
                  <a:pt x="28575" y="78581"/>
                </a:cubicBezTo>
                <a:close/>
                <a:moveTo>
                  <a:pt x="92869" y="28575"/>
                </a:moveTo>
                <a:cubicBezTo>
                  <a:pt x="96811" y="28575"/>
                  <a:pt x="100013" y="25374"/>
                  <a:pt x="100013" y="21431"/>
                </a:cubicBezTo>
                <a:cubicBezTo>
                  <a:pt x="100013" y="17489"/>
                  <a:pt x="96811" y="14288"/>
                  <a:pt x="92869" y="14288"/>
                </a:cubicBezTo>
                <a:cubicBezTo>
                  <a:pt x="88926" y="14288"/>
                  <a:pt x="85725" y="17489"/>
                  <a:pt x="85725" y="21431"/>
                </a:cubicBezTo>
                <a:cubicBezTo>
                  <a:pt x="85725" y="25374"/>
                  <a:pt x="88926" y="28575"/>
                  <a:pt x="92869" y="28575"/>
                </a:cubicBezTo>
                <a:close/>
              </a:path>
            </a:pathLst>
          </a:custGeom>
          <a:solidFill>
            <a:srgbClr val="C9A86A"/>
          </a:solidFill>
          <a:ln/>
        </p:spPr>
        <p:txBody>
          <a:bodyPr/>
          <a:lstStyle/>
          <a:p>
            <a:endParaRPr lang="en-GB"/>
          </a:p>
        </p:txBody>
      </p:sp>
      <p:sp>
        <p:nvSpPr>
          <p:cNvPr id="40" name="Text 38"/>
          <p:cNvSpPr/>
          <p:nvPr/>
        </p:nvSpPr>
        <p:spPr>
          <a:xfrm>
            <a:off x="8588276" y="3623072"/>
            <a:ext cx="2095500" cy="304800"/>
          </a:xfrm>
          <a:prstGeom prst="rect">
            <a:avLst/>
          </a:prstGeom>
          <a:noFill/>
          <a:ln/>
        </p:spPr>
        <p:txBody>
          <a:bodyPr wrap="square" lIns="0" tIns="0" rIns="0" bIns="0" rtlCol="0" anchor="ctr"/>
          <a:lstStyle/>
          <a:p>
            <a:pPr algn="ctr">
              <a:lnSpc>
                <a:spcPct val="110000"/>
              </a:lnSpc>
            </a:pPr>
            <a:r>
              <a:rPr lang="en-US" sz="900" dirty="0">
                <a:solidFill>
                  <a:srgbClr val="8D99AE"/>
                </a:solidFill>
                <a:latin typeface="Quattrocento Sans" pitchFamily="34" charset="0"/>
                <a:ea typeface="Quattrocento Sans" pitchFamily="34" charset="-122"/>
                <a:cs typeface="Quattrocento Sans" pitchFamily="34" charset="-120"/>
              </a:rPr>
              <a:t>Global path planning considering battery, time, and coverage</a:t>
            </a:r>
            <a:endParaRPr lang="en-US" sz="1600" dirty="0"/>
          </a:p>
        </p:txBody>
      </p:sp>
      <p:sp>
        <p:nvSpPr>
          <p:cNvPr id="41" name="Shape 39"/>
          <p:cNvSpPr/>
          <p:nvPr/>
        </p:nvSpPr>
        <p:spPr>
          <a:xfrm>
            <a:off x="438150" y="4683919"/>
            <a:ext cx="3695700" cy="1000125"/>
          </a:xfrm>
          <a:custGeom>
            <a:avLst/>
            <a:gdLst/>
            <a:ahLst/>
            <a:cxnLst/>
            <a:rect l="l" t="t" r="r" b="b"/>
            <a:pathLst>
              <a:path w="3695700" h="1000125">
                <a:moveTo>
                  <a:pt x="76200" y="0"/>
                </a:moveTo>
                <a:lnTo>
                  <a:pt x="3619500" y="0"/>
                </a:lnTo>
                <a:cubicBezTo>
                  <a:pt x="3661584" y="0"/>
                  <a:pt x="3695700" y="34116"/>
                  <a:pt x="3695700" y="76200"/>
                </a:cubicBezTo>
                <a:lnTo>
                  <a:pt x="3695700" y="923925"/>
                </a:lnTo>
                <a:cubicBezTo>
                  <a:pt x="3695700" y="966009"/>
                  <a:pt x="3661584" y="1000125"/>
                  <a:pt x="3619500" y="1000125"/>
                </a:cubicBezTo>
                <a:lnTo>
                  <a:pt x="76200" y="1000125"/>
                </a:lnTo>
                <a:cubicBezTo>
                  <a:pt x="34116" y="1000125"/>
                  <a:pt x="0" y="966009"/>
                  <a:pt x="0" y="923925"/>
                </a:cubicBezTo>
                <a:lnTo>
                  <a:pt x="0" y="76200"/>
                </a:lnTo>
                <a:cubicBezTo>
                  <a:pt x="0" y="34144"/>
                  <a:pt x="34144" y="0"/>
                  <a:pt x="76200" y="0"/>
                </a:cubicBezTo>
                <a:close/>
              </a:path>
            </a:pathLst>
          </a:custGeom>
          <a:solidFill>
            <a:srgbClr val="C9A86A">
              <a:alpha val="10196"/>
            </a:srgbClr>
          </a:solidFill>
          <a:ln w="12700">
            <a:solidFill>
              <a:srgbClr val="C9A86A">
                <a:alpha val="30196"/>
              </a:srgbClr>
            </a:solidFill>
            <a:prstDash val="solid"/>
          </a:ln>
        </p:spPr>
        <p:txBody>
          <a:bodyPr/>
          <a:lstStyle/>
          <a:p>
            <a:endParaRPr lang="en-GB"/>
          </a:p>
        </p:txBody>
      </p:sp>
      <p:sp>
        <p:nvSpPr>
          <p:cNvPr id="42" name="Shape 40"/>
          <p:cNvSpPr/>
          <p:nvPr/>
        </p:nvSpPr>
        <p:spPr>
          <a:xfrm>
            <a:off x="623887" y="4879181"/>
            <a:ext cx="133350" cy="152400"/>
          </a:xfrm>
          <a:custGeom>
            <a:avLst/>
            <a:gdLst/>
            <a:ahLst/>
            <a:cxnLst/>
            <a:rect l="l" t="t" r="r" b="b"/>
            <a:pathLst>
              <a:path w="133350" h="152400">
                <a:moveTo>
                  <a:pt x="100846" y="-2947"/>
                </a:moveTo>
                <a:cubicBezTo>
                  <a:pt x="104388" y="-387"/>
                  <a:pt x="105698" y="4256"/>
                  <a:pt x="104090" y="8305"/>
                </a:cubicBezTo>
                <a:lnTo>
                  <a:pt x="80754" y="66675"/>
                </a:lnTo>
                <a:lnTo>
                  <a:pt x="123825" y="66675"/>
                </a:lnTo>
                <a:cubicBezTo>
                  <a:pt x="127843" y="66675"/>
                  <a:pt x="131415" y="69175"/>
                  <a:pt x="132784" y="72956"/>
                </a:cubicBezTo>
                <a:cubicBezTo>
                  <a:pt x="134154" y="76736"/>
                  <a:pt x="132993" y="80962"/>
                  <a:pt x="129927" y="83522"/>
                </a:cubicBezTo>
                <a:lnTo>
                  <a:pt x="44202" y="154960"/>
                </a:lnTo>
                <a:cubicBezTo>
                  <a:pt x="40838" y="157758"/>
                  <a:pt x="36046" y="157907"/>
                  <a:pt x="32504" y="155347"/>
                </a:cubicBezTo>
                <a:cubicBezTo>
                  <a:pt x="28962" y="152787"/>
                  <a:pt x="27652" y="148144"/>
                  <a:pt x="29260" y="144095"/>
                </a:cubicBezTo>
                <a:lnTo>
                  <a:pt x="52596" y="85725"/>
                </a:lnTo>
                <a:lnTo>
                  <a:pt x="9525" y="85725"/>
                </a:lnTo>
                <a:cubicBezTo>
                  <a:pt x="5507" y="85725"/>
                  <a:pt x="1935" y="83225"/>
                  <a:pt x="566" y="79444"/>
                </a:cubicBezTo>
                <a:cubicBezTo>
                  <a:pt x="-804" y="75664"/>
                  <a:pt x="357" y="71438"/>
                  <a:pt x="3423" y="68878"/>
                </a:cubicBezTo>
                <a:lnTo>
                  <a:pt x="89148" y="-2560"/>
                </a:lnTo>
                <a:cubicBezTo>
                  <a:pt x="92512" y="-5358"/>
                  <a:pt x="97304" y="-5507"/>
                  <a:pt x="100846" y="-2947"/>
                </a:cubicBezTo>
                <a:close/>
              </a:path>
            </a:pathLst>
          </a:custGeom>
          <a:solidFill>
            <a:srgbClr val="C9A86A"/>
          </a:solidFill>
          <a:ln/>
        </p:spPr>
        <p:txBody>
          <a:bodyPr/>
          <a:lstStyle/>
          <a:p>
            <a:endParaRPr lang="en-GB"/>
          </a:p>
        </p:txBody>
      </p:sp>
      <p:sp>
        <p:nvSpPr>
          <p:cNvPr id="43" name="Text 41"/>
          <p:cNvSpPr/>
          <p:nvPr/>
        </p:nvSpPr>
        <p:spPr>
          <a:xfrm>
            <a:off x="862012" y="4841081"/>
            <a:ext cx="1457325" cy="228600"/>
          </a:xfrm>
          <a:prstGeom prst="rect">
            <a:avLst/>
          </a:prstGeom>
          <a:noFill/>
          <a:ln/>
        </p:spPr>
        <p:txBody>
          <a:bodyPr wrap="square" lIns="0" tIns="0" rIns="0" bIns="0" rtlCol="0" anchor="ctr"/>
          <a:lstStyle/>
          <a:p>
            <a:pPr>
              <a:lnSpc>
                <a:spcPct val="130000"/>
              </a:lnSpc>
            </a:pPr>
            <a:r>
              <a:rPr lang="en-US" sz="1200" b="1" dirty="0">
                <a:solidFill>
                  <a:srgbClr val="EDF2F4"/>
                </a:solidFill>
                <a:latin typeface="Liter" pitchFamily="34" charset="0"/>
                <a:ea typeface="Liter" pitchFamily="34" charset="-122"/>
                <a:cs typeface="Liter" pitchFamily="34" charset="-120"/>
              </a:rPr>
              <a:t>Needs Fast Reaction</a:t>
            </a:r>
            <a:endParaRPr lang="en-US" sz="1600" dirty="0"/>
          </a:p>
        </p:txBody>
      </p:sp>
      <p:sp>
        <p:nvSpPr>
          <p:cNvPr id="44" name="Text 42"/>
          <p:cNvSpPr/>
          <p:nvPr/>
        </p:nvSpPr>
        <p:spPr>
          <a:xfrm>
            <a:off x="595312" y="5145881"/>
            <a:ext cx="3448050" cy="381000"/>
          </a:xfrm>
          <a:prstGeom prst="rect">
            <a:avLst/>
          </a:prstGeom>
          <a:noFill/>
          <a:ln/>
        </p:spPr>
        <p:txBody>
          <a:bodyPr wrap="square" lIns="0" tIns="0" rIns="0" bIns="0" rtlCol="0" anchor="ctr"/>
          <a:lstStyle/>
          <a:p>
            <a:pPr>
              <a:lnSpc>
                <a:spcPct val="120000"/>
              </a:lnSpc>
            </a:pPr>
            <a:r>
              <a:rPr lang="en-US" sz="1050" dirty="0">
                <a:solidFill>
                  <a:srgbClr val="8D99AE"/>
                </a:solidFill>
                <a:latin typeface="Quattrocento Sans" pitchFamily="34" charset="0"/>
                <a:ea typeface="Quattrocento Sans" pitchFamily="34" charset="-122"/>
                <a:cs typeface="Quattrocento Sans" pitchFamily="34" charset="-120"/>
              </a:rPr>
              <a:t>Reactive layer provides immediate response to dynamic obstacles and safety hazards without deliberation delay</a:t>
            </a:r>
            <a:endParaRPr lang="en-US" sz="1600" dirty="0"/>
          </a:p>
        </p:txBody>
      </p:sp>
      <p:sp>
        <p:nvSpPr>
          <p:cNvPr id="45" name="Shape 43"/>
          <p:cNvSpPr/>
          <p:nvPr/>
        </p:nvSpPr>
        <p:spPr>
          <a:xfrm>
            <a:off x="4778276" y="4683919"/>
            <a:ext cx="3695700" cy="1000125"/>
          </a:xfrm>
          <a:custGeom>
            <a:avLst/>
            <a:gdLst/>
            <a:ahLst/>
            <a:cxnLst/>
            <a:rect l="l" t="t" r="r" b="b"/>
            <a:pathLst>
              <a:path w="3695700" h="1000125">
                <a:moveTo>
                  <a:pt x="76200" y="0"/>
                </a:moveTo>
                <a:lnTo>
                  <a:pt x="3619500" y="0"/>
                </a:lnTo>
                <a:cubicBezTo>
                  <a:pt x="3661584" y="0"/>
                  <a:pt x="3695700" y="34116"/>
                  <a:pt x="3695700" y="76200"/>
                </a:cubicBezTo>
                <a:lnTo>
                  <a:pt x="3695700" y="923925"/>
                </a:lnTo>
                <a:cubicBezTo>
                  <a:pt x="3695700" y="966009"/>
                  <a:pt x="3661584" y="1000125"/>
                  <a:pt x="3619500" y="1000125"/>
                </a:cubicBezTo>
                <a:lnTo>
                  <a:pt x="76200" y="1000125"/>
                </a:lnTo>
                <a:cubicBezTo>
                  <a:pt x="34116" y="1000125"/>
                  <a:pt x="0" y="966009"/>
                  <a:pt x="0" y="923925"/>
                </a:cubicBezTo>
                <a:lnTo>
                  <a:pt x="0" y="76200"/>
                </a:lnTo>
                <a:cubicBezTo>
                  <a:pt x="0" y="34144"/>
                  <a:pt x="34144" y="0"/>
                  <a:pt x="76200" y="0"/>
                </a:cubicBezTo>
                <a:close/>
              </a:path>
            </a:pathLst>
          </a:custGeom>
          <a:solidFill>
            <a:srgbClr val="4A6C8C">
              <a:alpha val="10196"/>
            </a:srgbClr>
          </a:solidFill>
          <a:ln w="12700">
            <a:solidFill>
              <a:srgbClr val="4A6C8C">
                <a:alpha val="30196"/>
              </a:srgbClr>
            </a:solidFill>
            <a:prstDash val="solid"/>
          </a:ln>
        </p:spPr>
        <p:txBody>
          <a:bodyPr/>
          <a:lstStyle/>
          <a:p>
            <a:endParaRPr lang="en-GB"/>
          </a:p>
        </p:txBody>
      </p:sp>
      <p:sp>
        <p:nvSpPr>
          <p:cNvPr id="46" name="Shape 44"/>
          <p:cNvSpPr/>
          <p:nvPr/>
        </p:nvSpPr>
        <p:spPr>
          <a:xfrm>
            <a:off x="4954488" y="4879181"/>
            <a:ext cx="152400" cy="152400"/>
          </a:xfrm>
          <a:custGeom>
            <a:avLst/>
            <a:gdLst/>
            <a:ahLst/>
            <a:cxnLst/>
            <a:rect l="l" t="t" r="r" b="b"/>
            <a:pathLst>
              <a:path w="152400" h="152400">
                <a:moveTo>
                  <a:pt x="35719" y="16669"/>
                </a:moveTo>
                <a:cubicBezTo>
                  <a:pt x="35719" y="7471"/>
                  <a:pt x="43190" y="0"/>
                  <a:pt x="52388" y="0"/>
                </a:cubicBezTo>
                <a:lnTo>
                  <a:pt x="59531" y="0"/>
                </a:lnTo>
                <a:cubicBezTo>
                  <a:pt x="64800" y="0"/>
                  <a:pt x="69056" y="4256"/>
                  <a:pt x="69056" y="9525"/>
                </a:cubicBezTo>
                <a:lnTo>
                  <a:pt x="69056" y="142875"/>
                </a:lnTo>
                <a:cubicBezTo>
                  <a:pt x="69056" y="148144"/>
                  <a:pt x="64800" y="152400"/>
                  <a:pt x="59531" y="152400"/>
                </a:cubicBezTo>
                <a:lnTo>
                  <a:pt x="50006" y="152400"/>
                </a:lnTo>
                <a:cubicBezTo>
                  <a:pt x="41136" y="152400"/>
                  <a:pt x="33665" y="146328"/>
                  <a:pt x="31552" y="138113"/>
                </a:cubicBezTo>
                <a:cubicBezTo>
                  <a:pt x="31343" y="138113"/>
                  <a:pt x="31165" y="138113"/>
                  <a:pt x="30956" y="138113"/>
                </a:cubicBezTo>
                <a:cubicBezTo>
                  <a:pt x="17800" y="138113"/>
                  <a:pt x="7144" y="127456"/>
                  <a:pt x="7144" y="114300"/>
                </a:cubicBezTo>
                <a:cubicBezTo>
                  <a:pt x="7144" y="108942"/>
                  <a:pt x="8930" y="104001"/>
                  <a:pt x="11906" y="100013"/>
                </a:cubicBezTo>
                <a:cubicBezTo>
                  <a:pt x="6132" y="95667"/>
                  <a:pt x="2381" y="88761"/>
                  <a:pt x="2381" y="80962"/>
                </a:cubicBezTo>
                <a:cubicBezTo>
                  <a:pt x="2381" y="71765"/>
                  <a:pt x="7620" y="63758"/>
                  <a:pt x="15240" y="59799"/>
                </a:cubicBezTo>
                <a:cubicBezTo>
                  <a:pt x="13127" y="56227"/>
                  <a:pt x="11906" y="52060"/>
                  <a:pt x="11906" y="47625"/>
                </a:cubicBezTo>
                <a:cubicBezTo>
                  <a:pt x="11906" y="34469"/>
                  <a:pt x="22562" y="23813"/>
                  <a:pt x="35719" y="23813"/>
                </a:cubicBezTo>
                <a:lnTo>
                  <a:pt x="35719" y="16669"/>
                </a:lnTo>
                <a:close/>
                <a:moveTo>
                  <a:pt x="116681" y="16669"/>
                </a:moveTo>
                <a:lnTo>
                  <a:pt x="116681" y="23813"/>
                </a:lnTo>
                <a:cubicBezTo>
                  <a:pt x="129838" y="23813"/>
                  <a:pt x="140494" y="34469"/>
                  <a:pt x="140494" y="47625"/>
                </a:cubicBezTo>
                <a:cubicBezTo>
                  <a:pt x="140494" y="52090"/>
                  <a:pt x="139273" y="56257"/>
                  <a:pt x="137160" y="59799"/>
                </a:cubicBezTo>
                <a:cubicBezTo>
                  <a:pt x="144810" y="63758"/>
                  <a:pt x="150019" y="71735"/>
                  <a:pt x="150019" y="80962"/>
                </a:cubicBezTo>
                <a:cubicBezTo>
                  <a:pt x="150019" y="88761"/>
                  <a:pt x="146268" y="95667"/>
                  <a:pt x="140494" y="100013"/>
                </a:cubicBezTo>
                <a:cubicBezTo>
                  <a:pt x="143470" y="104001"/>
                  <a:pt x="145256" y="108942"/>
                  <a:pt x="145256" y="114300"/>
                </a:cubicBezTo>
                <a:cubicBezTo>
                  <a:pt x="145256" y="127456"/>
                  <a:pt x="134600" y="138113"/>
                  <a:pt x="121444" y="138113"/>
                </a:cubicBezTo>
                <a:cubicBezTo>
                  <a:pt x="121235" y="138113"/>
                  <a:pt x="121057" y="138113"/>
                  <a:pt x="120848" y="138113"/>
                </a:cubicBezTo>
                <a:cubicBezTo>
                  <a:pt x="118735" y="146328"/>
                  <a:pt x="111264" y="152400"/>
                  <a:pt x="102394" y="152400"/>
                </a:cubicBezTo>
                <a:lnTo>
                  <a:pt x="92869" y="152400"/>
                </a:lnTo>
                <a:cubicBezTo>
                  <a:pt x="87600" y="152400"/>
                  <a:pt x="83344" y="148144"/>
                  <a:pt x="83344" y="142875"/>
                </a:cubicBezTo>
                <a:lnTo>
                  <a:pt x="83344" y="9525"/>
                </a:lnTo>
                <a:cubicBezTo>
                  <a:pt x="83344" y="4256"/>
                  <a:pt x="87600" y="0"/>
                  <a:pt x="92869" y="0"/>
                </a:cubicBezTo>
                <a:lnTo>
                  <a:pt x="100013" y="0"/>
                </a:lnTo>
                <a:cubicBezTo>
                  <a:pt x="109210" y="0"/>
                  <a:pt x="116681" y="7471"/>
                  <a:pt x="116681" y="16669"/>
                </a:cubicBezTo>
                <a:close/>
              </a:path>
            </a:pathLst>
          </a:custGeom>
          <a:solidFill>
            <a:srgbClr val="C9A86A"/>
          </a:solidFill>
          <a:ln/>
        </p:spPr>
        <p:txBody>
          <a:bodyPr/>
          <a:lstStyle/>
          <a:p>
            <a:endParaRPr lang="en-GB"/>
          </a:p>
        </p:txBody>
      </p:sp>
      <p:sp>
        <p:nvSpPr>
          <p:cNvPr id="47" name="Text 45"/>
          <p:cNvSpPr/>
          <p:nvPr/>
        </p:nvSpPr>
        <p:spPr>
          <a:xfrm>
            <a:off x="5202138" y="4841081"/>
            <a:ext cx="1123950" cy="228600"/>
          </a:xfrm>
          <a:prstGeom prst="rect">
            <a:avLst/>
          </a:prstGeom>
          <a:noFill/>
          <a:ln/>
        </p:spPr>
        <p:txBody>
          <a:bodyPr wrap="square" lIns="0" tIns="0" rIns="0" bIns="0" rtlCol="0" anchor="ctr"/>
          <a:lstStyle/>
          <a:p>
            <a:pPr>
              <a:lnSpc>
                <a:spcPct val="130000"/>
              </a:lnSpc>
            </a:pPr>
            <a:r>
              <a:rPr lang="en-US" sz="1200" b="1" dirty="0">
                <a:solidFill>
                  <a:srgbClr val="EDF2F4"/>
                </a:solidFill>
                <a:latin typeface="Liter" pitchFamily="34" charset="0"/>
                <a:ea typeface="Liter" pitchFamily="34" charset="-122"/>
                <a:cs typeface="Liter" pitchFamily="34" charset="-120"/>
              </a:rPr>
              <a:t>Needs Planning</a:t>
            </a:r>
            <a:endParaRPr lang="en-US" sz="1600" dirty="0"/>
          </a:p>
        </p:txBody>
      </p:sp>
      <p:sp>
        <p:nvSpPr>
          <p:cNvPr id="48" name="Text 46"/>
          <p:cNvSpPr/>
          <p:nvPr/>
        </p:nvSpPr>
        <p:spPr>
          <a:xfrm>
            <a:off x="4935438" y="5145881"/>
            <a:ext cx="3448050" cy="381000"/>
          </a:xfrm>
          <a:prstGeom prst="rect">
            <a:avLst/>
          </a:prstGeom>
          <a:noFill/>
          <a:ln/>
        </p:spPr>
        <p:txBody>
          <a:bodyPr wrap="square" lIns="0" tIns="0" rIns="0" bIns="0" rtlCol="0" anchor="ctr"/>
          <a:lstStyle/>
          <a:p>
            <a:pPr>
              <a:lnSpc>
                <a:spcPct val="120000"/>
              </a:lnSpc>
            </a:pPr>
            <a:r>
              <a:rPr lang="en-US" sz="1050" dirty="0">
                <a:solidFill>
                  <a:srgbClr val="8D99AE"/>
                </a:solidFill>
                <a:latin typeface="Quattrocento Sans" pitchFamily="34" charset="0"/>
                <a:ea typeface="Quattrocento Sans" pitchFamily="34" charset="-122"/>
                <a:cs typeface="Quattrocento Sans" pitchFamily="34" charset="-120"/>
              </a:rPr>
              <a:t>Deliberative layer enables strategic decision-making for optimal coverage and resource management</a:t>
            </a:r>
            <a:endParaRPr lang="en-US" sz="1600" dirty="0"/>
          </a:p>
        </p:txBody>
      </p:sp>
      <p:sp>
        <p:nvSpPr>
          <p:cNvPr id="53" name="Shape 51"/>
          <p:cNvSpPr/>
          <p:nvPr/>
        </p:nvSpPr>
        <p:spPr>
          <a:xfrm>
            <a:off x="400050" y="5905500"/>
            <a:ext cx="11410950" cy="571500"/>
          </a:xfrm>
          <a:custGeom>
            <a:avLst/>
            <a:gdLst/>
            <a:ahLst/>
            <a:cxnLst/>
            <a:rect l="l" t="t" r="r" b="b"/>
            <a:pathLst>
              <a:path w="11410950" h="571500">
                <a:moveTo>
                  <a:pt x="38100" y="0"/>
                </a:moveTo>
                <a:lnTo>
                  <a:pt x="11334752" y="0"/>
                </a:lnTo>
                <a:cubicBezTo>
                  <a:pt x="11376835" y="0"/>
                  <a:pt x="11410950" y="34115"/>
                  <a:pt x="11410950" y="76198"/>
                </a:cubicBezTo>
                <a:lnTo>
                  <a:pt x="11410950" y="495302"/>
                </a:lnTo>
                <a:cubicBezTo>
                  <a:pt x="11410950" y="537385"/>
                  <a:pt x="11376835" y="571500"/>
                  <a:pt x="11334752" y="571500"/>
                </a:cubicBezTo>
                <a:lnTo>
                  <a:pt x="38100" y="571500"/>
                </a:lnTo>
                <a:cubicBezTo>
                  <a:pt x="17072" y="571500"/>
                  <a:pt x="0" y="554428"/>
                  <a:pt x="0" y="533400"/>
                </a:cubicBezTo>
                <a:lnTo>
                  <a:pt x="0" y="38100"/>
                </a:lnTo>
                <a:cubicBezTo>
                  <a:pt x="0" y="17072"/>
                  <a:pt x="17072" y="0"/>
                  <a:pt x="38100" y="0"/>
                </a:cubicBezTo>
                <a:close/>
              </a:path>
            </a:pathLst>
          </a:custGeom>
          <a:gradFill flip="none" rotWithShape="1">
            <a:gsLst>
              <a:gs pos="0">
                <a:srgbClr val="C9A86A">
                  <a:alpha val="30000"/>
                </a:srgbClr>
              </a:gs>
              <a:gs pos="100000">
                <a:srgbClr val="000000">
                  <a:alpha val="0"/>
                </a:srgbClr>
              </a:gs>
            </a:gsLst>
            <a:lin ang="0" scaled="1"/>
          </a:gradFill>
          <a:ln/>
        </p:spPr>
        <p:txBody>
          <a:bodyPr/>
          <a:lstStyle/>
          <a:p>
            <a:endParaRPr lang="en-GB"/>
          </a:p>
        </p:txBody>
      </p:sp>
      <p:sp>
        <p:nvSpPr>
          <p:cNvPr id="54" name="Shape 52"/>
          <p:cNvSpPr/>
          <p:nvPr/>
        </p:nvSpPr>
        <p:spPr>
          <a:xfrm>
            <a:off x="400050" y="5905500"/>
            <a:ext cx="38100" cy="571500"/>
          </a:xfrm>
          <a:custGeom>
            <a:avLst/>
            <a:gdLst/>
            <a:ahLst/>
            <a:cxnLst/>
            <a:rect l="l" t="t" r="r" b="b"/>
            <a:pathLst>
              <a:path w="38100" h="571500">
                <a:moveTo>
                  <a:pt x="38100" y="0"/>
                </a:moveTo>
                <a:lnTo>
                  <a:pt x="38100" y="0"/>
                </a:lnTo>
                <a:lnTo>
                  <a:pt x="38100" y="571500"/>
                </a:lnTo>
                <a:lnTo>
                  <a:pt x="38100" y="571500"/>
                </a:lnTo>
                <a:cubicBezTo>
                  <a:pt x="17072" y="571500"/>
                  <a:pt x="0" y="554428"/>
                  <a:pt x="0" y="533400"/>
                </a:cubicBezTo>
                <a:lnTo>
                  <a:pt x="0" y="38100"/>
                </a:lnTo>
                <a:cubicBezTo>
                  <a:pt x="0" y="17072"/>
                  <a:pt x="17072" y="0"/>
                  <a:pt x="38100" y="0"/>
                </a:cubicBezTo>
                <a:close/>
              </a:path>
            </a:pathLst>
          </a:custGeom>
          <a:solidFill>
            <a:srgbClr val="C9A86A"/>
          </a:solidFill>
          <a:ln/>
        </p:spPr>
        <p:txBody>
          <a:bodyPr/>
          <a:lstStyle/>
          <a:p>
            <a:endParaRPr lang="en-GB"/>
          </a:p>
        </p:txBody>
      </p:sp>
      <p:sp>
        <p:nvSpPr>
          <p:cNvPr id="55" name="Shape 53"/>
          <p:cNvSpPr/>
          <p:nvPr/>
        </p:nvSpPr>
        <p:spPr>
          <a:xfrm>
            <a:off x="595313" y="6096000"/>
            <a:ext cx="190500" cy="190500"/>
          </a:xfrm>
          <a:custGeom>
            <a:avLst/>
            <a:gdLst/>
            <a:ahLst/>
            <a:cxnLst/>
            <a:rect l="l" t="t" r="r" b="b"/>
            <a:pathLst>
              <a:path w="190500" h="190500">
                <a:moveTo>
                  <a:pt x="86506" y="1935"/>
                </a:moveTo>
                <a:cubicBezTo>
                  <a:pt x="92050" y="-633"/>
                  <a:pt x="98450" y="-633"/>
                  <a:pt x="103994" y="1935"/>
                </a:cubicBezTo>
                <a:lnTo>
                  <a:pt x="185328" y="39514"/>
                </a:lnTo>
                <a:cubicBezTo>
                  <a:pt x="188491" y="40965"/>
                  <a:pt x="190500" y="44128"/>
                  <a:pt x="190500" y="47625"/>
                </a:cubicBezTo>
                <a:cubicBezTo>
                  <a:pt x="190500" y="51122"/>
                  <a:pt x="188491" y="54285"/>
                  <a:pt x="185328" y="55736"/>
                </a:cubicBezTo>
                <a:lnTo>
                  <a:pt x="103994" y="93315"/>
                </a:lnTo>
                <a:cubicBezTo>
                  <a:pt x="98450" y="95883"/>
                  <a:pt x="92050" y="95883"/>
                  <a:pt x="86506" y="93315"/>
                </a:cubicBezTo>
                <a:lnTo>
                  <a:pt x="5172" y="55736"/>
                </a:lnTo>
                <a:cubicBezTo>
                  <a:pt x="2009" y="54248"/>
                  <a:pt x="0" y="51085"/>
                  <a:pt x="0" y="47625"/>
                </a:cubicBezTo>
                <a:cubicBezTo>
                  <a:pt x="0" y="44165"/>
                  <a:pt x="2009" y="40965"/>
                  <a:pt x="5172" y="39514"/>
                </a:cubicBezTo>
                <a:lnTo>
                  <a:pt x="86506" y="1935"/>
                </a:lnTo>
                <a:close/>
                <a:moveTo>
                  <a:pt x="17897" y="81260"/>
                </a:moveTo>
                <a:lnTo>
                  <a:pt x="79028" y="109500"/>
                </a:lnTo>
                <a:cubicBezTo>
                  <a:pt x="89334" y="114263"/>
                  <a:pt x="101203" y="114263"/>
                  <a:pt x="111509" y="109500"/>
                </a:cubicBezTo>
                <a:lnTo>
                  <a:pt x="172641" y="81260"/>
                </a:lnTo>
                <a:lnTo>
                  <a:pt x="185328" y="87139"/>
                </a:lnTo>
                <a:cubicBezTo>
                  <a:pt x="188491" y="88590"/>
                  <a:pt x="190500" y="91753"/>
                  <a:pt x="190500" y="95250"/>
                </a:cubicBezTo>
                <a:cubicBezTo>
                  <a:pt x="190500" y="98747"/>
                  <a:pt x="188491" y="101910"/>
                  <a:pt x="185328" y="103361"/>
                </a:cubicBezTo>
                <a:lnTo>
                  <a:pt x="103994" y="140940"/>
                </a:lnTo>
                <a:cubicBezTo>
                  <a:pt x="98450" y="143508"/>
                  <a:pt x="92050" y="143508"/>
                  <a:pt x="86506" y="140940"/>
                </a:cubicBezTo>
                <a:lnTo>
                  <a:pt x="5172" y="103361"/>
                </a:lnTo>
                <a:cubicBezTo>
                  <a:pt x="2009" y="101873"/>
                  <a:pt x="0" y="98710"/>
                  <a:pt x="0" y="95250"/>
                </a:cubicBezTo>
                <a:cubicBezTo>
                  <a:pt x="0" y="91790"/>
                  <a:pt x="2009" y="88590"/>
                  <a:pt x="5172" y="87139"/>
                </a:cubicBezTo>
                <a:lnTo>
                  <a:pt x="17859" y="81260"/>
                </a:lnTo>
                <a:close/>
                <a:moveTo>
                  <a:pt x="5172" y="134764"/>
                </a:moveTo>
                <a:lnTo>
                  <a:pt x="17859" y="128885"/>
                </a:lnTo>
                <a:lnTo>
                  <a:pt x="78991" y="157125"/>
                </a:lnTo>
                <a:cubicBezTo>
                  <a:pt x="89297" y="161888"/>
                  <a:pt x="101166" y="161888"/>
                  <a:pt x="111472" y="157125"/>
                </a:cubicBezTo>
                <a:lnTo>
                  <a:pt x="172603" y="128885"/>
                </a:lnTo>
                <a:lnTo>
                  <a:pt x="185291" y="134764"/>
                </a:lnTo>
                <a:cubicBezTo>
                  <a:pt x="188454" y="136215"/>
                  <a:pt x="190463" y="139378"/>
                  <a:pt x="190463" y="142875"/>
                </a:cubicBezTo>
                <a:cubicBezTo>
                  <a:pt x="190463" y="146372"/>
                  <a:pt x="188454" y="149535"/>
                  <a:pt x="185291" y="150986"/>
                </a:cubicBezTo>
                <a:lnTo>
                  <a:pt x="103956" y="188565"/>
                </a:lnTo>
                <a:cubicBezTo>
                  <a:pt x="98413" y="191133"/>
                  <a:pt x="92013" y="191133"/>
                  <a:pt x="86469" y="188565"/>
                </a:cubicBezTo>
                <a:lnTo>
                  <a:pt x="5172" y="150986"/>
                </a:lnTo>
                <a:cubicBezTo>
                  <a:pt x="2009" y="149498"/>
                  <a:pt x="0" y="146335"/>
                  <a:pt x="0" y="142875"/>
                </a:cubicBezTo>
                <a:cubicBezTo>
                  <a:pt x="0" y="139415"/>
                  <a:pt x="2009" y="136215"/>
                  <a:pt x="5172" y="134764"/>
                </a:cubicBezTo>
                <a:close/>
              </a:path>
            </a:pathLst>
          </a:custGeom>
          <a:solidFill>
            <a:srgbClr val="C9A86A"/>
          </a:solidFill>
          <a:ln/>
        </p:spPr>
        <p:txBody>
          <a:bodyPr/>
          <a:lstStyle/>
          <a:p>
            <a:endParaRPr lang="en-GB"/>
          </a:p>
        </p:txBody>
      </p:sp>
      <p:sp>
        <p:nvSpPr>
          <p:cNvPr id="56" name="Text 54"/>
          <p:cNvSpPr/>
          <p:nvPr/>
        </p:nvSpPr>
        <p:spPr>
          <a:xfrm>
            <a:off x="809625" y="6057900"/>
            <a:ext cx="10934700" cy="266700"/>
          </a:xfrm>
          <a:prstGeom prst="rect">
            <a:avLst/>
          </a:prstGeom>
          <a:noFill/>
          <a:ln/>
        </p:spPr>
        <p:txBody>
          <a:bodyPr wrap="square" lIns="0" tIns="0" rIns="0" bIns="0" rtlCol="0" anchor="ctr"/>
          <a:lstStyle/>
          <a:p>
            <a:pPr>
              <a:lnSpc>
                <a:spcPct val="130000"/>
              </a:lnSpc>
            </a:pPr>
            <a:r>
              <a:rPr lang="en-US" sz="1350" b="1" dirty="0">
                <a:solidFill>
                  <a:srgbClr val="EDF2F4"/>
                </a:solidFill>
                <a:latin typeface="Quattrocento Sans" pitchFamily="34" charset="0"/>
                <a:ea typeface="Quattrocento Sans" pitchFamily="34" charset="-122"/>
                <a:cs typeface="Quattrocento Sans" pitchFamily="34" charset="-120"/>
              </a:rPr>
              <a:t>Hybrid architecture combining reactive responses with deliberative planning — essential for real-world robotics</a:t>
            </a:r>
            <a:endParaRPr lang="en-US" sz="1600" dirty="0"/>
          </a:p>
        </p:txBody>
      </p:sp>
    </p:spTree>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A1D24"/>
        </a:solidFill>
        <a:effectLst/>
      </p:bgPr>
    </p:bg>
    <p:spTree>
      <p:nvGrpSpPr>
        <p:cNvPr id="1" name=""/>
        <p:cNvGrpSpPr/>
        <p:nvPr/>
      </p:nvGrpSpPr>
      <p:grpSpPr>
        <a:xfrm>
          <a:off x="0" y="0"/>
          <a:ext cx="0" cy="0"/>
          <a:chOff x="0" y="0"/>
          <a:chExt cx="0" cy="0"/>
        </a:xfrm>
      </p:grpSpPr>
      <p:sp>
        <p:nvSpPr>
          <p:cNvPr id="2" name="Text 0"/>
          <p:cNvSpPr/>
          <p:nvPr/>
        </p:nvSpPr>
        <p:spPr>
          <a:xfrm>
            <a:off x="375716" y="375716"/>
            <a:ext cx="11515710" cy="225430"/>
          </a:xfrm>
          <a:prstGeom prst="rect">
            <a:avLst/>
          </a:prstGeom>
          <a:noFill/>
          <a:ln/>
        </p:spPr>
        <p:txBody>
          <a:bodyPr wrap="square" lIns="0" tIns="0" rIns="0" bIns="0" rtlCol="0" anchor="ctr"/>
          <a:lstStyle/>
          <a:p>
            <a:pPr>
              <a:lnSpc>
                <a:spcPct val="120000"/>
              </a:lnSpc>
            </a:pPr>
            <a:r>
              <a:rPr lang="en-US" sz="1183" b="1" kern="0" spc="118" dirty="0">
                <a:solidFill>
                  <a:srgbClr val="C9A86A"/>
                </a:solidFill>
                <a:latin typeface="Quattrocento Sans" pitchFamily="34" charset="0"/>
                <a:ea typeface="Quattrocento Sans" pitchFamily="34" charset="-122"/>
                <a:cs typeface="Quattrocento Sans" pitchFamily="34" charset="-120"/>
              </a:rPr>
              <a:t>Comparative Analysis</a:t>
            </a:r>
            <a:endParaRPr lang="en-US" sz="1600" dirty="0"/>
          </a:p>
        </p:txBody>
      </p:sp>
      <p:sp>
        <p:nvSpPr>
          <p:cNvPr id="3" name="Text 1"/>
          <p:cNvSpPr/>
          <p:nvPr/>
        </p:nvSpPr>
        <p:spPr>
          <a:xfrm>
            <a:off x="375716" y="676290"/>
            <a:ext cx="11609639" cy="375716"/>
          </a:xfrm>
          <a:prstGeom prst="rect">
            <a:avLst/>
          </a:prstGeom>
          <a:noFill/>
          <a:ln/>
        </p:spPr>
        <p:txBody>
          <a:bodyPr wrap="square" lIns="0" tIns="0" rIns="0" bIns="0" rtlCol="0" anchor="ctr"/>
          <a:lstStyle/>
          <a:p>
            <a:pPr>
              <a:lnSpc>
                <a:spcPct val="90000"/>
              </a:lnSpc>
            </a:pPr>
            <a:r>
              <a:rPr lang="en-US" sz="2663" b="1" dirty="0">
                <a:solidFill>
                  <a:srgbClr val="EDF2F4"/>
                </a:solidFill>
                <a:latin typeface="Liter" pitchFamily="34" charset="0"/>
                <a:ea typeface="Liter" pitchFamily="34" charset="-122"/>
                <a:cs typeface="Liter" pitchFamily="34" charset="-120"/>
              </a:rPr>
              <a:t>Agent Analysis Summary</a:t>
            </a:r>
            <a:endParaRPr lang="en-US" sz="1600" dirty="0"/>
          </a:p>
        </p:txBody>
      </p:sp>
      <p:sp>
        <p:nvSpPr>
          <p:cNvPr id="4" name="Shape 2"/>
          <p:cNvSpPr/>
          <p:nvPr/>
        </p:nvSpPr>
        <p:spPr>
          <a:xfrm>
            <a:off x="380413" y="1080474"/>
            <a:ext cx="901720" cy="37572"/>
          </a:xfrm>
          <a:custGeom>
            <a:avLst/>
            <a:gdLst/>
            <a:ahLst/>
            <a:cxnLst/>
            <a:rect l="l" t="t" r="r" b="b"/>
            <a:pathLst>
              <a:path w="901720" h="37572">
                <a:moveTo>
                  <a:pt x="0" y="0"/>
                </a:moveTo>
                <a:lnTo>
                  <a:pt x="901720" y="0"/>
                </a:lnTo>
                <a:lnTo>
                  <a:pt x="901720" y="37572"/>
                </a:lnTo>
                <a:lnTo>
                  <a:pt x="0" y="37572"/>
                </a:lnTo>
                <a:lnTo>
                  <a:pt x="0" y="0"/>
                </a:lnTo>
                <a:close/>
              </a:path>
            </a:pathLst>
          </a:custGeom>
          <a:solidFill>
            <a:srgbClr val="C9A86A"/>
          </a:solidFill>
          <a:ln/>
        </p:spPr>
        <p:txBody>
          <a:bodyPr/>
          <a:lstStyle/>
          <a:p>
            <a:endParaRPr lang="en-GB"/>
          </a:p>
        </p:txBody>
      </p:sp>
      <p:sp>
        <p:nvSpPr>
          <p:cNvPr id="5" name="Shape 3"/>
          <p:cNvSpPr/>
          <p:nvPr/>
        </p:nvSpPr>
        <p:spPr>
          <a:xfrm>
            <a:off x="380413" y="1239864"/>
            <a:ext cx="11431174" cy="3935630"/>
          </a:xfrm>
          <a:custGeom>
            <a:avLst/>
            <a:gdLst/>
            <a:ahLst/>
            <a:cxnLst/>
            <a:rect l="l" t="t" r="r" b="b"/>
            <a:pathLst>
              <a:path w="11431174" h="3935630">
                <a:moveTo>
                  <a:pt x="112716" y="0"/>
                </a:moveTo>
                <a:lnTo>
                  <a:pt x="11318458" y="0"/>
                </a:lnTo>
                <a:cubicBezTo>
                  <a:pt x="11380709" y="0"/>
                  <a:pt x="11431174" y="50465"/>
                  <a:pt x="11431174" y="112716"/>
                </a:cubicBezTo>
                <a:lnTo>
                  <a:pt x="11431174" y="3822914"/>
                </a:lnTo>
                <a:cubicBezTo>
                  <a:pt x="11431174" y="3885165"/>
                  <a:pt x="11380709" y="3935630"/>
                  <a:pt x="11318458" y="3935630"/>
                </a:cubicBezTo>
                <a:lnTo>
                  <a:pt x="112716" y="3935630"/>
                </a:lnTo>
                <a:cubicBezTo>
                  <a:pt x="50465" y="3935630"/>
                  <a:pt x="0" y="3885165"/>
                  <a:pt x="0" y="3822914"/>
                </a:cubicBezTo>
                <a:lnTo>
                  <a:pt x="0" y="112716"/>
                </a:lnTo>
                <a:cubicBezTo>
                  <a:pt x="0" y="50507"/>
                  <a:pt x="50507" y="0"/>
                  <a:pt x="112716" y="0"/>
                </a:cubicBezTo>
                <a:close/>
              </a:path>
            </a:pathLst>
          </a:custGeom>
          <a:solidFill>
            <a:srgbClr val="4A6C8C">
              <a:alpha val="10196"/>
            </a:srgbClr>
          </a:solidFill>
          <a:ln w="12700">
            <a:solidFill>
              <a:srgbClr val="4A6C8C">
                <a:alpha val="30196"/>
              </a:srgbClr>
            </a:solidFill>
            <a:prstDash val="solid"/>
          </a:ln>
        </p:spPr>
        <p:txBody>
          <a:bodyPr/>
          <a:lstStyle/>
          <a:p>
            <a:endParaRPr lang="en-GB"/>
          </a:p>
        </p:txBody>
      </p:sp>
      <p:graphicFrame>
        <p:nvGraphicFramePr>
          <p:cNvPr id="11" name="Table 0"/>
          <p:cNvGraphicFramePr>
            <a:graphicFrameLocks noGrp="1"/>
          </p:cNvGraphicFramePr>
          <p:nvPr>
            <p:extLst>
              <p:ext uri="{D42A27DB-BD31-4B8C-83A1-F6EECF244321}">
                <p14:modId xmlns:p14="http://schemas.microsoft.com/office/powerpoint/2010/main" val="2266261544"/>
              </p:ext>
            </p:extLst>
          </p:nvPr>
        </p:nvGraphicFramePr>
        <p:xfrm>
          <a:off x="385109" y="1244561"/>
          <a:ext cx="11421781" cy="3926238"/>
        </p:xfrm>
        <a:graphic>
          <a:graphicData uri="http://schemas.openxmlformats.org/drawingml/2006/table">
            <a:tbl>
              <a:tblPr/>
              <a:tblGrid>
                <a:gridCol w="2855445">
                  <a:extLst>
                    <a:ext uri="{9D8B030D-6E8A-4147-A177-3AD203B41FA5}">
                      <a16:colId xmlns:a16="http://schemas.microsoft.com/office/drawing/2014/main" val="20000"/>
                    </a:ext>
                  </a:extLst>
                </a:gridCol>
                <a:gridCol w="4283168">
                  <a:extLst>
                    <a:ext uri="{9D8B030D-6E8A-4147-A177-3AD203B41FA5}">
                      <a16:colId xmlns:a16="http://schemas.microsoft.com/office/drawing/2014/main" val="20001"/>
                    </a:ext>
                  </a:extLst>
                </a:gridCol>
                <a:gridCol w="4283168">
                  <a:extLst>
                    <a:ext uri="{9D8B030D-6E8A-4147-A177-3AD203B41FA5}">
                      <a16:colId xmlns:a16="http://schemas.microsoft.com/office/drawing/2014/main" val="20002"/>
                    </a:ext>
                  </a:extLst>
                </a:gridCol>
              </a:tblGrid>
              <a:tr h="654373">
                <a:tc>
                  <a:txBody>
                    <a:bodyPr/>
                    <a:lstStyle/>
                    <a:p>
                      <a:pPr algn="l"/>
                      <a:r>
                        <a:rPr lang="en-US" sz="1300" b="1" u="none" dirty="0">
                          <a:solidFill>
                            <a:srgbClr val="EDF2F4"/>
                          </a:solidFill>
                          <a:latin typeface="微软雅黑" pitchFamily="34" charset="0"/>
                          <a:ea typeface="微软雅黑" pitchFamily="34" charset="-122"/>
                          <a:cs typeface="微软雅黑" pitchFamily="34" charset="-120"/>
                        </a:rPr>
                        <a:t>Property</a:t>
                      </a:r>
                      <a:endParaRPr lang="en-US" sz="1300" dirty="0">
                        <a:latin typeface="微软雅黑" charset="0"/>
                        <a:ea typeface="微软雅黑" charset="0"/>
                        <a:cs typeface="微软雅黑" charset="0"/>
                      </a:endParaRPr>
                    </a:p>
                  </a:txBody>
                  <a:tcPr marL="150287" marR="150287" marT="150287" marB="150287" anchor="ctr">
                    <a:lnL w="0" cap="flat" cmpd="sng" algn="ctr">
                      <a:noFill/>
                    </a:lnL>
                    <a:lnR w="0" cap="flat" cmpd="sng" algn="ctr">
                      <a:noFill/>
                    </a:lnR>
                    <a:lnT w="0" cap="flat" cmpd="sng" algn="ctr">
                      <a:noFill/>
                    </a:lnT>
                    <a:lnB w="25400" cap="flat" cmpd="sng" algn="ctr">
                      <a:solidFill>
                        <a:srgbClr val="C9A86A"/>
                      </a:solidFill>
                      <a:prstDash val="solid"/>
                      <a:round/>
                      <a:headEnd type="none" w="med" len="med"/>
                      <a:tailEnd type="none" w="med" len="med"/>
                    </a:lnB>
                    <a:solidFill>
                      <a:srgbClr val="4A6C8C">
                        <a:alpha val="30000"/>
                      </a:srgbClr>
                    </a:solidFill>
                  </a:tcPr>
                </a:tc>
                <a:tc>
                  <a:txBody>
                    <a:bodyPr/>
                    <a:lstStyle/>
                    <a:p>
                      <a:pPr algn="ctr"/>
                      <a:r>
                        <a:rPr lang="en-US" sz="1300" b="1" u="none" dirty="0">
                          <a:solidFill>
                            <a:srgbClr val="EDF2F4"/>
                          </a:solidFill>
                          <a:latin typeface="微软雅黑" pitchFamily="34" charset="0"/>
                          <a:ea typeface="微软雅黑" pitchFamily="34" charset="-122"/>
                          <a:cs typeface="微软雅黑" pitchFamily="34" charset="-120"/>
                        </a:rPr>
                        <a:t>Preprocessing Agent</a:t>
                      </a:r>
                      <a:endParaRPr lang="en-US" sz="1300" dirty="0">
                        <a:latin typeface="微软雅黑" charset="0"/>
                        <a:ea typeface="微软雅黑" charset="0"/>
                        <a:cs typeface="微软雅黑" charset="0"/>
                      </a:endParaRPr>
                    </a:p>
                  </a:txBody>
                  <a:tcPr marL="150287" marR="150287" marT="150287" marB="150287" anchor="ctr">
                    <a:lnL w="12700" cap="flat" cmpd="sng" algn="ctr">
                      <a:noFill/>
                      <a:prstDash val="solid"/>
                      <a:round/>
                      <a:headEnd type="none" w="med" len="med"/>
                      <a:tailEnd type="none" w="med" len="med"/>
                    </a:lnL>
                    <a:lnR w="0" cap="flat" cmpd="sng" algn="ctr">
                      <a:noFill/>
                    </a:lnR>
                    <a:lnT w="0" cap="flat" cmpd="sng" algn="ctr">
                      <a:noFill/>
                    </a:lnT>
                    <a:lnB w="25400" cap="flat" cmpd="sng" algn="ctr">
                      <a:solidFill>
                        <a:srgbClr val="C9A86A"/>
                      </a:solidFill>
                      <a:prstDash val="solid"/>
                      <a:round/>
                      <a:headEnd type="none" w="med" len="med"/>
                      <a:tailEnd type="none" w="med" len="med"/>
                    </a:lnB>
                    <a:solidFill>
                      <a:srgbClr val="4A6C8C">
                        <a:alpha val="30000"/>
                      </a:srgbClr>
                    </a:solidFill>
                  </a:tcPr>
                </a:tc>
                <a:tc>
                  <a:txBody>
                    <a:bodyPr/>
                    <a:lstStyle/>
                    <a:p>
                      <a:pPr algn="ctr"/>
                      <a:r>
                        <a:rPr lang="en-US" sz="1300" b="1" u="none" dirty="0">
                          <a:solidFill>
                            <a:srgbClr val="EDF2F4"/>
                          </a:solidFill>
                          <a:latin typeface="微软雅黑" pitchFamily="34" charset="0"/>
                          <a:ea typeface="微软雅黑" pitchFamily="34" charset="-122"/>
                          <a:cs typeface="微软雅黑" pitchFamily="34" charset="-120"/>
                        </a:rPr>
                        <a:t>Garbage Robot</a:t>
                      </a:r>
                      <a:endParaRPr lang="en-US" sz="1300" dirty="0">
                        <a:latin typeface="微软雅黑" charset="0"/>
                        <a:ea typeface="微软雅黑" charset="0"/>
                        <a:cs typeface="微软雅黑" charset="0"/>
                      </a:endParaRPr>
                    </a:p>
                  </a:txBody>
                  <a:tcPr marL="150287" marR="150287" marT="150287" marB="150287" anchor="ctr">
                    <a:lnL w="12700" cap="flat" cmpd="sng" algn="ctr">
                      <a:noFill/>
                      <a:prstDash val="solid"/>
                      <a:round/>
                      <a:headEnd type="none" w="med" len="med"/>
                      <a:tailEnd type="none" w="med" len="med"/>
                    </a:lnL>
                    <a:lnR w="0" cap="flat" cmpd="sng" algn="ctr">
                      <a:noFill/>
                    </a:lnR>
                    <a:lnT w="0" cap="flat" cmpd="sng" algn="ctr">
                      <a:noFill/>
                    </a:lnT>
                    <a:lnB w="25400" cap="flat" cmpd="sng" algn="ctr">
                      <a:solidFill>
                        <a:srgbClr val="C9A86A"/>
                      </a:solidFill>
                      <a:prstDash val="solid"/>
                      <a:round/>
                      <a:headEnd type="none" w="med" len="med"/>
                      <a:tailEnd type="none" w="med" len="med"/>
                    </a:lnB>
                    <a:solidFill>
                      <a:srgbClr val="4A6C8C">
                        <a:alpha val="30000"/>
                      </a:srgbClr>
                    </a:solidFill>
                  </a:tcPr>
                </a:tc>
                <a:extLst>
                  <a:ext uri="{0D108BD9-81ED-4DB2-BD59-A6C34878D82A}">
                    <a16:rowId xmlns:a16="http://schemas.microsoft.com/office/drawing/2014/main" val="10000"/>
                  </a:ext>
                </a:extLst>
              </a:tr>
              <a:tr h="654373">
                <a:tc>
                  <a:txBody>
                    <a:bodyPr/>
                    <a:lstStyle/>
                    <a:p>
                      <a:r>
                        <a:rPr lang="en-US" sz="1100" b="1" u="none" dirty="0">
                          <a:solidFill>
                            <a:srgbClr val="EDF2F4"/>
                          </a:solidFill>
                          <a:latin typeface="微软雅黑" pitchFamily="34" charset="0"/>
                          <a:ea typeface="微软雅黑" pitchFamily="34" charset="-122"/>
                          <a:cs typeface="微软雅黑" pitchFamily="34" charset="-120"/>
                        </a:rPr>
                        <a:t>Observable</a:t>
                      </a:r>
                      <a:endParaRPr lang="en-US" sz="1100" dirty="0">
                        <a:latin typeface="微软雅黑" charset="0"/>
                        <a:ea typeface="微软雅黑" charset="0"/>
                        <a:cs typeface="微软雅黑" charset="0"/>
                      </a:endParaRPr>
                    </a:p>
                  </a:txBody>
                  <a:tcPr marL="150287" marR="150287" marT="150287" marB="150287" anchor="ctr">
                    <a:lnL w="0" cap="flat" cmpd="sng" algn="ctr">
                      <a:noFill/>
                    </a:lnL>
                    <a:lnR w="0" cap="flat" cmpd="sng" algn="ctr">
                      <a:noFill/>
                    </a:lnR>
                    <a:lnT w="25400" cap="flat" cmpd="sng" algn="ctr">
                      <a:solidFill>
                        <a:srgbClr val="C9A86A"/>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4A6C8C">
                        <a:alpha val="10000"/>
                      </a:srgbClr>
                    </a:solidFill>
                  </a:tcPr>
                </a:tc>
                <a:tc>
                  <a:txBody>
                    <a:bodyPr/>
                    <a:lstStyle/>
                    <a:p>
                      <a:pPr algn="ctr"/>
                      <a:r>
                        <a:rPr lang="en-US" sz="1100" u="none" dirty="0">
                          <a:solidFill>
                            <a:srgbClr val="EDF2F4"/>
                          </a:solidFill>
                          <a:latin typeface="微软雅黑" pitchFamily="34" charset="0"/>
                          <a:ea typeface="微软雅黑" pitchFamily="34" charset="-122"/>
                          <a:cs typeface="微软雅黑" pitchFamily="34" charset="-120"/>
                        </a:rPr>
                        <a:t>Partially</a:t>
                      </a:r>
                      <a:endParaRPr lang="en-US" sz="1100" dirty="0">
                        <a:latin typeface="微软雅黑" charset="0"/>
                        <a:ea typeface="微软雅黑" charset="0"/>
                        <a:cs typeface="微软雅黑" charset="0"/>
                      </a:endParaRPr>
                    </a:p>
                  </a:txBody>
                  <a:tcPr marL="150287" marR="150287" marT="150287" marB="150287" anchor="ctr">
                    <a:lnL w="12700" cap="flat" cmpd="sng" algn="ctr">
                      <a:noFill/>
                      <a:prstDash val="solid"/>
                      <a:round/>
                      <a:headEnd type="none" w="med" len="med"/>
                      <a:tailEnd type="none" w="med" len="med"/>
                    </a:lnL>
                    <a:lnR w="0" cap="flat" cmpd="sng" algn="ctr">
                      <a:noFill/>
                    </a:lnR>
                    <a:lnT w="25400" cap="flat" cmpd="sng" algn="ctr">
                      <a:solidFill>
                        <a:srgbClr val="C9A86A"/>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alpha val="0"/>
                      </a:srgbClr>
                    </a:solidFill>
                  </a:tcPr>
                </a:tc>
                <a:tc>
                  <a:txBody>
                    <a:bodyPr/>
                    <a:lstStyle/>
                    <a:p>
                      <a:pPr algn="ctr"/>
                      <a:r>
                        <a:rPr lang="en-US" sz="1100" u="none" dirty="0">
                          <a:solidFill>
                            <a:srgbClr val="EDF2F4"/>
                          </a:solidFill>
                          <a:latin typeface="微软雅黑" pitchFamily="34" charset="0"/>
                          <a:ea typeface="微软雅黑" pitchFamily="34" charset="-122"/>
                          <a:cs typeface="微软雅黑" pitchFamily="34" charset="-120"/>
                        </a:rPr>
                        <a:t>Partially</a:t>
                      </a:r>
                      <a:endParaRPr lang="en-US" sz="1100" dirty="0">
                        <a:latin typeface="微软雅黑" charset="0"/>
                        <a:ea typeface="微软雅黑" charset="0"/>
                        <a:cs typeface="微软雅黑" charset="0"/>
                      </a:endParaRPr>
                    </a:p>
                  </a:txBody>
                  <a:tcPr marL="150287" marR="150287" marT="150287" marB="150287" anchor="ctr">
                    <a:lnL w="12700" cap="flat" cmpd="sng" algn="ctr">
                      <a:noFill/>
                      <a:prstDash val="solid"/>
                      <a:round/>
                      <a:headEnd type="none" w="med" len="med"/>
                      <a:tailEnd type="none" w="med" len="med"/>
                    </a:lnL>
                    <a:lnR w="0" cap="flat" cmpd="sng" algn="ctr">
                      <a:noFill/>
                    </a:lnR>
                    <a:lnT w="25400" cap="flat" cmpd="sng" algn="ctr">
                      <a:solidFill>
                        <a:srgbClr val="C9A86A"/>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alpha val="0"/>
                      </a:srgbClr>
                    </a:solidFill>
                  </a:tcPr>
                </a:tc>
                <a:extLst>
                  <a:ext uri="{0D108BD9-81ED-4DB2-BD59-A6C34878D82A}">
                    <a16:rowId xmlns:a16="http://schemas.microsoft.com/office/drawing/2014/main" val="10001"/>
                  </a:ext>
                </a:extLst>
              </a:tr>
              <a:tr h="654373">
                <a:tc>
                  <a:txBody>
                    <a:bodyPr/>
                    <a:lstStyle/>
                    <a:p>
                      <a:r>
                        <a:rPr lang="en-US" sz="1100" b="1" u="none" dirty="0">
                          <a:solidFill>
                            <a:srgbClr val="EDF2F4"/>
                          </a:solidFill>
                          <a:latin typeface="微软雅黑" pitchFamily="34" charset="0"/>
                          <a:ea typeface="微软雅黑" pitchFamily="34" charset="-122"/>
                          <a:cs typeface="微软雅黑" pitchFamily="34" charset="-120"/>
                        </a:rPr>
                        <a:t>Deterministic</a:t>
                      </a:r>
                      <a:endParaRPr lang="en-US" sz="1100" dirty="0">
                        <a:latin typeface="微软雅黑" charset="0"/>
                        <a:ea typeface="微软雅黑" charset="0"/>
                        <a:cs typeface="微软雅黑" charset="0"/>
                      </a:endParaRPr>
                    </a:p>
                  </a:txBody>
                  <a:tcPr marL="150287" marR="150287" marT="150287" marB="150287" anchor="ctr">
                    <a:lnL w="0" cap="flat" cmpd="sng" algn="ctr">
                      <a:noFill/>
                    </a:lnL>
                    <a:lnR w="0" cap="flat" cmpd="sng" algn="ct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4A6C8C">
                        <a:alpha val="10000"/>
                      </a:srgbClr>
                    </a:solidFill>
                  </a:tcPr>
                </a:tc>
                <a:tc>
                  <a:txBody>
                    <a:bodyPr/>
                    <a:lstStyle/>
                    <a:p>
                      <a:pPr algn="ctr"/>
                      <a:r>
                        <a:rPr lang="en-US" sz="1100" u="none" dirty="0">
                          <a:solidFill>
                            <a:srgbClr val="EDF2F4"/>
                          </a:solidFill>
                          <a:latin typeface="微软雅黑" pitchFamily="34" charset="0"/>
                          <a:ea typeface="微软雅黑" pitchFamily="34" charset="-122"/>
                          <a:cs typeface="微软雅黑" pitchFamily="34" charset="-120"/>
                        </a:rPr>
                        <a:t>Stochastic</a:t>
                      </a:r>
                      <a:endParaRPr lang="en-US" sz="1100" dirty="0">
                        <a:latin typeface="微软雅黑" charset="0"/>
                        <a:ea typeface="微软雅黑" charset="0"/>
                        <a:cs typeface="微软雅黑" charset="0"/>
                      </a:endParaRPr>
                    </a:p>
                  </a:txBody>
                  <a:tcPr marL="150287" marR="150287" marT="150287" marB="150287" anchor="ctr">
                    <a:lnL w="12700" cap="flat" cmpd="sng" algn="ctr">
                      <a:noFill/>
                      <a:prstDash val="solid"/>
                      <a:round/>
                      <a:headEnd type="none" w="med" len="med"/>
                      <a:tailEnd type="none" w="med" len="med"/>
                    </a:lnL>
                    <a:lnR w="0" cap="flat" cmpd="sng" algn="ct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alpha val="0"/>
                      </a:srgbClr>
                    </a:solidFill>
                  </a:tcPr>
                </a:tc>
                <a:tc>
                  <a:txBody>
                    <a:bodyPr/>
                    <a:lstStyle/>
                    <a:p>
                      <a:pPr algn="ctr"/>
                      <a:r>
                        <a:rPr lang="en-US" sz="1100" u="none" dirty="0">
                          <a:solidFill>
                            <a:srgbClr val="EDF2F4"/>
                          </a:solidFill>
                          <a:latin typeface="微软雅黑" pitchFamily="34" charset="0"/>
                          <a:ea typeface="微软雅黑" pitchFamily="34" charset="-122"/>
                          <a:cs typeface="微软雅黑" pitchFamily="34" charset="-120"/>
                        </a:rPr>
                        <a:t>Stochastic</a:t>
                      </a:r>
                      <a:endParaRPr lang="en-US" sz="1100" dirty="0">
                        <a:latin typeface="微软雅黑" charset="0"/>
                        <a:ea typeface="微软雅黑" charset="0"/>
                        <a:cs typeface="微软雅黑" charset="0"/>
                      </a:endParaRPr>
                    </a:p>
                  </a:txBody>
                  <a:tcPr marL="150287" marR="150287" marT="150287" marB="150287" anchor="ctr">
                    <a:lnL w="12700" cap="flat" cmpd="sng" algn="ctr">
                      <a:noFill/>
                      <a:prstDash val="solid"/>
                      <a:round/>
                      <a:headEnd type="none" w="med" len="med"/>
                      <a:tailEnd type="none" w="med" len="med"/>
                    </a:lnL>
                    <a:lnR w="0" cap="flat" cmpd="sng" algn="ct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alpha val="0"/>
                      </a:srgbClr>
                    </a:solidFill>
                  </a:tcPr>
                </a:tc>
                <a:extLst>
                  <a:ext uri="{0D108BD9-81ED-4DB2-BD59-A6C34878D82A}">
                    <a16:rowId xmlns:a16="http://schemas.microsoft.com/office/drawing/2014/main" val="10002"/>
                  </a:ext>
                </a:extLst>
              </a:tr>
              <a:tr h="654373">
                <a:tc>
                  <a:txBody>
                    <a:bodyPr/>
                    <a:lstStyle/>
                    <a:p>
                      <a:r>
                        <a:rPr lang="en-US" sz="1100" b="1" u="none" dirty="0">
                          <a:solidFill>
                            <a:srgbClr val="EDF2F4"/>
                          </a:solidFill>
                          <a:latin typeface="微软雅黑" pitchFamily="34" charset="0"/>
                          <a:ea typeface="微软雅黑" pitchFamily="34" charset="-122"/>
                          <a:cs typeface="微软雅黑" pitchFamily="34" charset="-120"/>
                        </a:rPr>
                        <a:t>Sequential</a:t>
                      </a:r>
                      <a:endParaRPr lang="en-US" sz="1100" dirty="0">
                        <a:latin typeface="微软雅黑" charset="0"/>
                        <a:ea typeface="微软雅黑" charset="0"/>
                        <a:cs typeface="微软雅黑" charset="0"/>
                      </a:endParaRPr>
                    </a:p>
                  </a:txBody>
                  <a:tcPr marL="150287" marR="150287" marT="150287" marB="150287" anchor="ctr">
                    <a:lnL w="0" cap="flat" cmpd="sng" algn="ctr">
                      <a:noFill/>
                    </a:lnL>
                    <a:lnR w="0" cap="flat" cmpd="sng" algn="ct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4A6C8C">
                        <a:alpha val="10000"/>
                      </a:srgbClr>
                    </a:solidFill>
                  </a:tcPr>
                </a:tc>
                <a:tc>
                  <a:txBody>
                    <a:bodyPr/>
                    <a:lstStyle/>
                    <a:p>
                      <a:pPr algn="ctr"/>
                      <a:r>
                        <a:rPr lang="en-US" sz="1100" u="none" dirty="0">
                          <a:solidFill>
                            <a:srgbClr val="EDF2F4"/>
                          </a:solidFill>
                          <a:latin typeface="微软雅黑" pitchFamily="34" charset="0"/>
                          <a:ea typeface="微软雅黑" pitchFamily="34" charset="-122"/>
                          <a:cs typeface="微软雅黑" pitchFamily="34" charset="-120"/>
                        </a:rPr>
                        <a:t>Yes</a:t>
                      </a:r>
                      <a:endParaRPr lang="en-US" sz="1100" dirty="0">
                        <a:latin typeface="微软雅黑" charset="0"/>
                        <a:ea typeface="微软雅黑" charset="0"/>
                        <a:cs typeface="微软雅黑" charset="0"/>
                      </a:endParaRPr>
                    </a:p>
                  </a:txBody>
                  <a:tcPr marL="150287" marR="150287" marT="150287" marB="150287" anchor="ctr">
                    <a:lnL w="12700" cap="flat" cmpd="sng" algn="ctr">
                      <a:noFill/>
                      <a:prstDash val="solid"/>
                      <a:round/>
                      <a:headEnd type="none" w="med" len="med"/>
                      <a:tailEnd type="none" w="med" len="med"/>
                    </a:lnL>
                    <a:lnR w="0" cap="flat" cmpd="sng" algn="ct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alpha val="0"/>
                      </a:srgbClr>
                    </a:solidFill>
                  </a:tcPr>
                </a:tc>
                <a:tc>
                  <a:txBody>
                    <a:bodyPr/>
                    <a:lstStyle/>
                    <a:p>
                      <a:pPr algn="ctr"/>
                      <a:r>
                        <a:rPr lang="en-US" sz="1100" u="none" dirty="0">
                          <a:solidFill>
                            <a:srgbClr val="EDF2F4"/>
                          </a:solidFill>
                          <a:latin typeface="微软雅黑" pitchFamily="34" charset="0"/>
                          <a:ea typeface="微软雅黑" pitchFamily="34" charset="-122"/>
                          <a:cs typeface="微软雅黑" pitchFamily="34" charset="-120"/>
                        </a:rPr>
                        <a:t>Yes</a:t>
                      </a:r>
                      <a:endParaRPr lang="en-US" sz="1100" dirty="0">
                        <a:latin typeface="微软雅黑" charset="0"/>
                        <a:ea typeface="微软雅黑" charset="0"/>
                        <a:cs typeface="微软雅黑" charset="0"/>
                      </a:endParaRPr>
                    </a:p>
                  </a:txBody>
                  <a:tcPr marL="150287" marR="150287" marT="150287" marB="150287" anchor="ctr">
                    <a:lnL w="12700" cap="flat" cmpd="sng" algn="ctr">
                      <a:noFill/>
                      <a:prstDash val="solid"/>
                      <a:round/>
                      <a:headEnd type="none" w="med" len="med"/>
                      <a:tailEnd type="none" w="med" len="med"/>
                    </a:lnL>
                    <a:lnR w="0" cap="flat" cmpd="sng" algn="ct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alpha val="0"/>
                      </a:srgbClr>
                    </a:solidFill>
                  </a:tcPr>
                </a:tc>
                <a:extLst>
                  <a:ext uri="{0D108BD9-81ED-4DB2-BD59-A6C34878D82A}">
                    <a16:rowId xmlns:a16="http://schemas.microsoft.com/office/drawing/2014/main" val="10003"/>
                  </a:ext>
                </a:extLst>
              </a:tr>
              <a:tr h="654373">
                <a:tc>
                  <a:txBody>
                    <a:bodyPr/>
                    <a:lstStyle/>
                    <a:p>
                      <a:r>
                        <a:rPr lang="en-US" sz="1100" b="1" u="none" dirty="0">
                          <a:solidFill>
                            <a:srgbClr val="EDF2F4"/>
                          </a:solidFill>
                          <a:latin typeface="微软雅黑" pitchFamily="34" charset="0"/>
                          <a:ea typeface="微软雅黑" pitchFamily="34" charset="-122"/>
                          <a:cs typeface="微软雅黑" pitchFamily="34" charset="-120"/>
                        </a:rPr>
                        <a:t>Dynamic</a:t>
                      </a:r>
                      <a:endParaRPr lang="en-US" sz="1100" dirty="0">
                        <a:latin typeface="微软雅黑" charset="0"/>
                        <a:ea typeface="微软雅黑" charset="0"/>
                        <a:cs typeface="微软雅黑" charset="0"/>
                      </a:endParaRPr>
                    </a:p>
                  </a:txBody>
                  <a:tcPr marL="150287" marR="150287" marT="150287" marB="150287" anchor="ctr">
                    <a:lnL w="0" cap="flat" cmpd="sng" algn="ctr">
                      <a:noFill/>
                    </a:lnL>
                    <a:lnR w="0" cap="flat" cmpd="sng" algn="ct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4A6C8C">
                        <a:alpha val="10000"/>
                      </a:srgbClr>
                    </a:solidFill>
                  </a:tcPr>
                </a:tc>
                <a:tc>
                  <a:txBody>
                    <a:bodyPr/>
                    <a:lstStyle/>
                    <a:p>
                      <a:pPr algn="ctr"/>
                      <a:r>
                        <a:rPr lang="en-US" sz="1100" u="none" dirty="0">
                          <a:solidFill>
                            <a:srgbClr val="EDF2F4"/>
                          </a:solidFill>
                          <a:latin typeface="微软雅黑" pitchFamily="34" charset="0"/>
                          <a:ea typeface="微软雅黑" pitchFamily="34" charset="-122"/>
                          <a:cs typeface="微软雅黑" pitchFamily="34" charset="-120"/>
                        </a:rPr>
                        <a:t>Static</a:t>
                      </a:r>
                      <a:endParaRPr lang="en-US" sz="1100" dirty="0">
                        <a:latin typeface="微软雅黑" charset="0"/>
                        <a:ea typeface="微软雅黑" charset="0"/>
                        <a:cs typeface="微软雅黑" charset="0"/>
                      </a:endParaRPr>
                    </a:p>
                  </a:txBody>
                  <a:tcPr marL="150287" marR="150287" marT="150287" marB="150287" anchor="ctr">
                    <a:lnL w="12700" cap="flat" cmpd="sng" algn="ctr">
                      <a:noFill/>
                      <a:prstDash val="solid"/>
                      <a:round/>
                      <a:headEnd type="none" w="med" len="med"/>
                      <a:tailEnd type="none" w="med" len="med"/>
                    </a:lnL>
                    <a:lnR w="0" cap="flat" cmpd="sng" algn="ct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alpha val="0"/>
                      </a:srgbClr>
                    </a:solidFill>
                  </a:tcPr>
                </a:tc>
                <a:tc>
                  <a:txBody>
                    <a:bodyPr/>
                    <a:lstStyle/>
                    <a:p>
                      <a:pPr algn="ctr"/>
                      <a:r>
                        <a:rPr lang="en-US" sz="1100" u="none" dirty="0">
                          <a:solidFill>
                            <a:srgbClr val="EDF2F4"/>
                          </a:solidFill>
                          <a:latin typeface="微软雅黑" pitchFamily="34" charset="0"/>
                          <a:ea typeface="微软雅黑" pitchFamily="34" charset="-122"/>
                          <a:cs typeface="微软雅黑" pitchFamily="34" charset="-120"/>
                        </a:rPr>
                        <a:t>Dynamic</a:t>
                      </a:r>
                      <a:endParaRPr lang="en-US" sz="1100" dirty="0">
                        <a:latin typeface="微软雅黑" charset="0"/>
                        <a:ea typeface="微软雅黑" charset="0"/>
                        <a:cs typeface="微软雅黑" charset="0"/>
                      </a:endParaRPr>
                    </a:p>
                  </a:txBody>
                  <a:tcPr marL="150287" marR="150287" marT="150287" marB="150287" anchor="ctr">
                    <a:lnL w="12700" cap="flat" cmpd="sng" algn="ctr">
                      <a:noFill/>
                      <a:prstDash val="solid"/>
                      <a:round/>
                      <a:headEnd type="none" w="med" len="med"/>
                      <a:tailEnd type="none" w="med" len="med"/>
                    </a:lnL>
                    <a:lnR w="0" cap="flat" cmpd="sng" algn="ct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alpha val="0"/>
                      </a:srgbClr>
                    </a:solidFill>
                  </a:tcPr>
                </a:tc>
                <a:extLst>
                  <a:ext uri="{0D108BD9-81ED-4DB2-BD59-A6C34878D82A}">
                    <a16:rowId xmlns:a16="http://schemas.microsoft.com/office/drawing/2014/main" val="10004"/>
                  </a:ext>
                </a:extLst>
              </a:tr>
              <a:tr h="654373">
                <a:tc>
                  <a:txBody>
                    <a:bodyPr/>
                    <a:lstStyle/>
                    <a:p>
                      <a:r>
                        <a:rPr lang="en-US" sz="1100" b="1" u="none" dirty="0">
                          <a:solidFill>
                            <a:srgbClr val="EDF2F4"/>
                          </a:solidFill>
                          <a:latin typeface="微软雅黑" pitchFamily="34" charset="0"/>
                          <a:ea typeface="微软雅黑" pitchFamily="34" charset="-122"/>
                          <a:cs typeface="微软雅黑" pitchFamily="34" charset="-120"/>
                        </a:rPr>
                        <a:t>Architecture</a:t>
                      </a:r>
                      <a:endParaRPr lang="en-US" sz="1100" dirty="0">
                        <a:latin typeface="微软雅黑" charset="0"/>
                        <a:ea typeface="微软雅黑" charset="0"/>
                        <a:cs typeface="微软雅黑" charset="0"/>
                      </a:endParaRPr>
                    </a:p>
                  </a:txBody>
                  <a:tcPr marL="150287" marR="150287" marT="150287" marB="150287" anchor="ctr">
                    <a:lnL w="0" cap="flat" cmpd="sng" algn="ctr">
                      <a:noFill/>
                    </a:lnL>
                    <a:lnR w="0" cap="flat" cmpd="sng" algn="ctr">
                      <a:noFill/>
                    </a:lnR>
                    <a:lnT w="12700" cap="flat" cmpd="sng" algn="ctr">
                      <a:solidFill>
                        <a:srgbClr val="000000"/>
                      </a:solidFill>
                      <a:prstDash val="solid"/>
                      <a:round/>
                      <a:headEnd type="none" w="med" len="med"/>
                      <a:tailEnd type="none" w="med" len="med"/>
                    </a:lnT>
                    <a:lnB w="0" cap="flat" cmpd="sng" algn="ctr">
                      <a:noFill/>
                    </a:lnB>
                    <a:solidFill>
                      <a:srgbClr val="4A6C8C">
                        <a:alpha val="10000"/>
                      </a:srgbClr>
                    </a:solidFill>
                  </a:tcPr>
                </a:tc>
                <a:tc>
                  <a:txBody>
                    <a:bodyPr/>
                    <a:lstStyle/>
                    <a:p>
                      <a:pPr algn="ctr"/>
                      <a:r>
                        <a:rPr lang="en-US" sz="1100" u="none" dirty="0">
                          <a:solidFill>
                            <a:srgbClr val="EDF2F4"/>
                          </a:solidFill>
                          <a:latin typeface="微软雅黑" pitchFamily="34" charset="0"/>
                          <a:ea typeface="微软雅黑" pitchFamily="34" charset="-122"/>
                          <a:cs typeface="微软雅黑" pitchFamily="34" charset="-120"/>
                        </a:rPr>
                        <a:t>Deliberative + Learning</a:t>
                      </a:r>
                      <a:endParaRPr lang="en-US" sz="1100" dirty="0">
                        <a:latin typeface="微软雅黑" charset="0"/>
                        <a:ea typeface="微软雅黑" charset="0"/>
                        <a:cs typeface="微软雅黑" charset="0"/>
                      </a:endParaRPr>
                    </a:p>
                  </a:txBody>
                  <a:tcPr marL="150287" marR="150287" marT="150287" marB="150287" anchor="ctr">
                    <a:lnL w="12700" cap="flat" cmpd="sng" algn="ctr">
                      <a:noFill/>
                      <a:prstDash val="solid"/>
                      <a:round/>
                      <a:headEnd type="none" w="med" len="med"/>
                      <a:tailEnd type="none" w="med" len="med"/>
                    </a:lnL>
                    <a:lnR w="0" cap="flat" cmpd="sng" algn="ctr">
                      <a:noFill/>
                    </a:lnR>
                    <a:lnT w="12700" cap="flat" cmpd="sng" algn="ctr">
                      <a:solidFill>
                        <a:srgbClr val="000000"/>
                      </a:solidFill>
                      <a:prstDash val="solid"/>
                      <a:round/>
                      <a:headEnd type="none" w="med" len="med"/>
                      <a:tailEnd type="none" w="med" len="med"/>
                    </a:lnT>
                    <a:lnB w="0" cap="flat" cmpd="sng" algn="ctr">
                      <a:noFill/>
                    </a:lnB>
                    <a:solidFill>
                      <a:srgbClr val="FFFFFF">
                        <a:alpha val="0"/>
                      </a:srgbClr>
                    </a:solidFill>
                  </a:tcPr>
                </a:tc>
                <a:tc>
                  <a:txBody>
                    <a:bodyPr/>
                    <a:lstStyle/>
                    <a:p>
                      <a:pPr algn="ctr"/>
                      <a:r>
                        <a:rPr lang="en-US" sz="1100" u="none" dirty="0">
                          <a:solidFill>
                            <a:srgbClr val="EDF2F4"/>
                          </a:solidFill>
                          <a:latin typeface="微软雅黑" pitchFamily="34" charset="0"/>
                          <a:ea typeface="微软雅黑" pitchFamily="34" charset="-122"/>
                          <a:cs typeface="微软雅黑" pitchFamily="34" charset="-120"/>
                        </a:rPr>
                        <a:t>Reactive + Deliberative</a:t>
                      </a:r>
                      <a:endParaRPr lang="en-US" sz="1100" dirty="0">
                        <a:latin typeface="微软雅黑" charset="0"/>
                        <a:ea typeface="微软雅黑" charset="0"/>
                        <a:cs typeface="微软雅黑" charset="0"/>
                      </a:endParaRPr>
                    </a:p>
                  </a:txBody>
                  <a:tcPr marL="150287" marR="150287" marT="150287" marB="150287" anchor="ctr">
                    <a:lnL w="12700" cap="flat" cmpd="sng" algn="ctr">
                      <a:noFill/>
                      <a:prstDash val="solid"/>
                      <a:round/>
                      <a:headEnd type="none" w="med" len="med"/>
                      <a:tailEnd type="none" w="med" len="med"/>
                    </a:lnL>
                    <a:lnR w="0" cap="flat" cmpd="sng" algn="ctr">
                      <a:noFill/>
                    </a:lnR>
                    <a:lnT w="12700" cap="flat" cmpd="sng" algn="ctr">
                      <a:solidFill>
                        <a:srgbClr val="000000"/>
                      </a:solidFill>
                      <a:prstDash val="solid"/>
                      <a:round/>
                      <a:headEnd type="none" w="med" len="med"/>
                      <a:tailEnd type="none" w="med" len="med"/>
                    </a:lnT>
                    <a:lnB w="0" cap="flat" cmpd="sng" algn="ctr">
                      <a:noFill/>
                    </a:lnB>
                    <a:solidFill>
                      <a:srgbClr val="FFFFFF">
                        <a:alpha val="0"/>
                      </a:srgbClr>
                    </a:solidFill>
                  </a:tcPr>
                </a:tc>
                <a:extLst>
                  <a:ext uri="{0D108BD9-81ED-4DB2-BD59-A6C34878D82A}">
                    <a16:rowId xmlns:a16="http://schemas.microsoft.com/office/drawing/2014/main" val="10005"/>
                  </a:ext>
                </a:extLst>
              </a:tr>
            </a:tbl>
          </a:graphicData>
        </a:graphic>
      </p:graphicFrame>
      <p:sp>
        <p:nvSpPr>
          <p:cNvPr id="7" name="Shape 4"/>
          <p:cNvSpPr/>
          <p:nvPr/>
        </p:nvSpPr>
        <p:spPr>
          <a:xfrm>
            <a:off x="380413" y="5335174"/>
            <a:ext cx="5635747" cy="1361972"/>
          </a:xfrm>
          <a:custGeom>
            <a:avLst/>
            <a:gdLst/>
            <a:ahLst/>
            <a:cxnLst/>
            <a:rect l="l" t="t" r="r" b="b"/>
            <a:pathLst>
              <a:path w="5635747" h="1361972">
                <a:moveTo>
                  <a:pt x="75140" y="0"/>
                </a:moveTo>
                <a:lnTo>
                  <a:pt x="5560607" y="0"/>
                </a:lnTo>
                <a:cubicBezTo>
                  <a:pt x="5602078" y="0"/>
                  <a:pt x="5635747" y="33669"/>
                  <a:pt x="5635747" y="75140"/>
                </a:cubicBezTo>
                <a:lnTo>
                  <a:pt x="5635747" y="1286832"/>
                </a:lnTo>
                <a:cubicBezTo>
                  <a:pt x="5635747" y="1328331"/>
                  <a:pt x="5602106" y="1361972"/>
                  <a:pt x="5560607" y="1361972"/>
                </a:cubicBezTo>
                <a:lnTo>
                  <a:pt x="75140" y="1361972"/>
                </a:lnTo>
                <a:cubicBezTo>
                  <a:pt x="33669" y="1361972"/>
                  <a:pt x="0" y="1328303"/>
                  <a:pt x="0" y="1286832"/>
                </a:cubicBezTo>
                <a:lnTo>
                  <a:pt x="0" y="75140"/>
                </a:lnTo>
                <a:cubicBezTo>
                  <a:pt x="0" y="33669"/>
                  <a:pt x="33669" y="0"/>
                  <a:pt x="75140" y="0"/>
                </a:cubicBezTo>
                <a:close/>
              </a:path>
            </a:pathLst>
          </a:custGeom>
          <a:solidFill>
            <a:srgbClr val="4A6C8C">
              <a:alpha val="10196"/>
            </a:srgbClr>
          </a:solidFill>
          <a:ln w="12700">
            <a:solidFill>
              <a:srgbClr val="4A6C8C">
                <a:alpha val="30196"/>
              </a:srgbClr>
            </a:solidFill>
            <a:prstDash val="solid"/>
          </a:ln>
        </p:spPr>
        <p:txBody>
          <a:bodyPr/>
          <a:lstStyle/>
          <a:p>
            <a:endParaRPr lang="en-GB"/>
          </a:p>
        </p:txBody>
      </p:sp>
      <p:sp>
        <p:nvSpPr>
          <p:cNvPr id="8" name="Shape 5"/>
          <p:cNvSpPr/>
          <p:nvPr/>
        </p:nvSpPr>
        <p:spPr>
          <a:xfrm>
            <a:off x="489604" y="5527729"/>
            <a:ext cx="150287" cy="150287"/>
          </a:xfrm>
          <a:custGeom>
            <a:avLst/>
            <a:gdLst/>
            <a:ahLst/>
            <a:cxnLst/>
            <a:rect l="l" t="t" r="r" b="b"/>
            <a:pathLst>
              <a:path w="150287" h="150287">
                <a:moveTo>
                  <a:pt x="35223" y="16438"/>
                </a:moveTo>
                <a:cubicBezTo>
                  <a:pt x="35223" y="7368"/>
                  <a:pt x="42591" y="0"/>
                  <a:pt x="51661" y="0"/>
                </a:cubicBezTo>
                <a:lnTo>
                  <a:pt x="58706" y="0"/>
                </a:lnTo>
                <a:cubicBezTo>
                  <a:pt x="63901" y="0"/>
                  <a:pt x="68099" y="4197"/>
                  <a:pt x="68099" y="9393"/>
                </a:cubicBezTo>
                <a:lnTo>
                  <a:pt x="68099" y="140894"/>
                </a:lnTo>
                <a:cubicBezTo>
                  <a:pt x="68099" y="146089"/>
                  <a:pt x="63901" y="150287"/>
                  <a:pt x="58706" y="150287"/>
                </a:cubicBezTo>
                <a:lnTo>
                  <a:pt x="49313" y="150287"/>
                </a:lnTo>
                <a:cubicBezTo>
                  <a:pt x="40566" y="150287"/>
                  <a:pt x="33198" y="144299"/>
                  <a:pt x="31114" y="136197"/>
                </a:cubicBezTo>
                <a:cubicBezTo>
                  <a:pt x="30909" y="136197"/>
                  <a:pt x="30732" y="136197"/>
                  <a:pt x="30527" y="136197"/>
                </a:cubicBezTo>
                <a:cubicBezTo>
                  <a:pt x="17553" y="136197"/>
                  <a:pt x="7045" y="125689"/>
                  <a:pt x="7045" y="112715"/>
                </a:cubicBezTo>
                <a:cubicBezTo>
                  <a:pt x="7045" y="107431"/>
                  <a:pt x="8806" y="102559"/>
                  <a:pt x="11741" y="98626"/>
                </a:cubicBezTo>
                <a:cubicBezTo>
                  <a:pt x="6047" y="94340"/>
                  <a:pt x="2348" y="87530"/>
                  <a:pt x="2348" y="79840"/>
                </a:cubicBezTo>
                <a:cubicBezTo>
                  <a:pt x="2348" y="70770"/>
                  <a:pt x="7514" y="62874"/>
                  <a:pt x="15029" y="58970"/>
                </a:cubicBezTo>
                <a:cubicBezTo>
                  <a:pt x="12945" y="55448"/>
                  <a:pt x="11741" y="51338"/>
                  <a:pt x="11741" y="46965"/>
                </a:cubicBezTo>
                <a:cubicBezTo>
                  <a:pt x="11741" y="33991"/>
                  <a:pt x="22249" y="23482"/>
                  <a:pt x="35223" y="23482"/>
                </a:cubicBezTo>
                <a:lnTo>
                  <a:pt x="35223" y="16438"/>
                </a:lnTo>
                <a:close/>
                <a:moveTo>
                  <a:pt x="115063" y="16438"/>
                </a:moveTo>
                <a:lnTo>
                  <a:pt x="115063" y="23482"/>
                </a:lnTo>
                <a:cubicBezTo>
                  <a:pt x="128037" y="23482"/>
                  <a:pt x="138545" y="33991"/>
                  <a:pt x="138545" y="46965"/>
                </a:cubicBezTo>
                <a:cubicBezTo>
                  <a:pt x="138545" y="51367"/>
                  <a:pt x="137342" y="55477"/>
                  <a:pt x="135258" y="58970"/>
                </a:cubicBezTo>
                <a:cubicBezTo>
                  <a:pt x="142802" y="62874"/>
                  <a:pt x="147938" y="70740"/>
                  <a:pt x="147938" y="79840"/>
                </a:cubicBezTo>
                <a:cubicBezTo>
                  <a:pt x="147938" y="87530"/>
                  <a:pt x="144240" y="94340"/>
                  <a:pt x="138545" y="98626"/>
                </a:cubicBezTo>
                <a:cubicBezTo>
                  <a:pt x="141481" y="102559"/>
                  <a:pt x="143242" y="107431"/>
                  <a:pt x="143242" y="112715"/>
                </a:cubicBezTo>
                <a:cubicBezTo>
                  <a:pt x="143242" y="125689"/>
                  <a:pt x="132734" y="136197"/>
                  <a:pt x="119760" y="136197"/>
                </a:cubicBezTo>
                <a:cubicBezTo>
                  <a:pt x="119554" y="136197"/>
                  <a:pt x="119378" y="136197"/>
                  <a:pt x="119173" y="136197"/>
                </a:cubicBezTo>
                <a:cubicBezTo>
                  <a:pt x="117089" y="144299"/>
                  <a:pt x="109721" y="150287"/>
                  <a:pt x="100974" y="150287"/>
                </a:cubicBezTo>
                <a:lnTo>
                  <a:pt x="91581" y="150287"/>
                </a:lnTo>
                <a:cubicBezTo>
                  <a:pt x="86385" y="150287"/>
                  <a:pt x="82188" y="146089"/>
                  <a:pt x="82188" y="140894"/>
                </a:cubicBezTo>
                <a:lnTo>
                  <a:pt x="82188" y="9393"/>
                </a:lnTo>
                <a:cubicBezTo>
                  <a:pt x="82188" y="4197"/>
                  <a:pt x="86385" y="0"/>
                  <a:pt x="91581" y="0"/>
                </a:cubicBezTo>
                <a:lnTo>
                  <a:pt x="98626" y="0"/>
                </a:lnTo>
                <a:cubicBezTo>
                  <a:pt x="107696" y="0"/>
                  <a:pt x="115063" y="7368"/>
                  <a:pt x="115063" y="16438"/>
                </a:cubicBezTo>
                <a:close/>
              </a:path>
            </a:pathLst>
          </a:custGeom>
          <a:solidFill>
            <a:srgbClr val="C9A86A"/>
          </a:solidFill>
          <a:ln/>
        </p:spPr>
        <p:txBody>
          <a:bodyPr/>
          <a:lstStyle/>
          <a:p>
            <a:endParaRPr lang="en-GB"/>
          </a:p>
        </p:txBody>
      </p:sp>
      <p:sp>
        <p:nvSpPr>
          <p:cNvPr id="9" name="Text 6"/>
          <p:cNvSpPr/>
          <p:nvPr/>
        </p:nvSpPr>
        <p:spPr>
          <a:xfrm>
            <a:off x="723254" y="5490157"/>
            <a:ext cx="5213066" cy="225430"/>
          </a:xfrm>
          <a:prstGeom prst="rect">
            <a:avLst/>
          </a:prstGeom>
          <a:noFill/>
          <a:ln/>
        </p:spPr>
        <p:txBody>
          <a:bodyPr wrap="square" lIns="0" tIns="0" rIns="0" bIns="0" rtlCol="0" anchor="ctr"/>
          <a:lstStyle/>
          <a:p>
            <a:pPr>
              <a:lnSpc>
                <a:spcPct val="120000"/>
              </a:lnSpc>
            </a:pPr>
            <a:r>
              <a:rPr lang="en-US" sz="1183" b="1" dirty="0">
                <a:solidFill>
                  <a:srgbClr val="C9A86A"/>
                </a:solidFill>
                <a:latin typeface="Liter" pitchFamily="34" charset="0"/>
                <a:ea typeface="Liter" pitchFamily="34" charset="-122"/>
                <a:cs typeface="Liter" pitchFamily="34" charset="-120"/>
              </a:rPr>
              <a:t>Preprocessing Agent Insights</a:t>
            </a:r>
            <a:endParaRPr lang="en-US" sz="1600" dirty="0"/>
          </a:p>
        </p:txBody>
      </p:sp>
      <p:sp>
        <p:nvSpPr>
          <p:cNvPr id="10" name="Text 7"/>
          <p:cNvSpPr/>
          <p:nvPr/>
        </p:nvSpPr>
        <p:spPr>
          <a:xfrm>
            <a:off x="535396" y="5790730"/>
            <a:ext cx="5391532" cy="563575"/>
          </a:xfrm>
          <a:prstGeom prst="rect">
            <a:avLst/>
          </a:prstGeom>
          <a:noFill/>
          <a:ln/>
        </p:spPr>
        <p:txBody>
          <a:bodyPr wrap="square" lIns="0" tIns="0" rIns="0" bIns="0" rtlCol="0" anchor="ctr"/>
          <a:lstStyle/>
          <a:p>
            <a:pPr>
              <a:lnSpc>
                <a:spcPct val="120000"/>
              </a:lnSpc>
            </a:pPr>
            <a:r>
              <a:rPr lang="en-US" sz="1035" dirty="0">
                <a:solidFill>
                  <a:srgbClr val="8D99AE"/>
                </a:solidFill>
                <a:latin typeface="Quattrocento Sans" pitchFamily="34" charset="0"/>
                <a:ea typeface="Quattrocento Sans" pitchFamily="34" charset="-122"/>
                <a:cs typeface="Quattrocento Sans" pitchFamily="34" charset="-120"/>
              </a:rPr>
              <a:t>Operates in a static environment where the dataset doesn't change during processing. Uses deliberative planning combined with meta-learning to improve over time. The partially observable nature comes from not knowing the optimal preprocessing strategy a priori.</a:t>
            </a:r>
            <a:endParaRPr lang="en-US" sz="1600" dirty="0"/>
          </a:p>
        </p:txBody>
      </p:sp>
      <p:sp>
        <p:nvSpPr>
          <p:cNvPr id="6" name="Shape 8"/>
          <p:cNvSpPr/>
          <p:nvPr/>
        </p:nvSpPr>
        <p:spPr>
          <a:xfrm>
            <a:off x="6174666" y="5335174"/>
            <a:ext cx="5635747" cy="1361972"/>
          </a:xfrm>
          <a:custGeom>
            <a:avLst/>
            <a:gdLst/>
            <a:ahLst/>
            <a:cxnLst/>
            <a:rect l="l" t="t" r="r" b="b"/>
            <a:pathLst>
              <a:path w="5635747" h="1361972">
                <a:moveTo>
                  <a:pt x="75140" y="0"/>
                </a:moveTo>
                <a:lnTo>
                  <a:pt x="5560607" y="0"/>
                </a:lnTo>
                <a:cubicBezTo>
                  <a:pt x="5602078" y="0"/>
                  <a:pt x="5635747" y="33669"/>
                  <a:pt x="5635747" y="75140"/>
                </a:cubicBezTo>
                <a:lnTo>
                  <a:pt x="5635747" y="1286832"/>
                </a:lnTo>
                <a:cubicBezTo>
                  <a:pt x="5635747" y="1328331"/>
                  <a:pt x="5602106" y="1361972"/>
                  <a:pt x="5560607" y="1361972"/>
                </a:cubicBezTo>
                <a:lnTo>
                  <a:pt x="75140" y="1361972"/>
                </a:lnTo>
                <a:cubicBezTo>
                  <a:pt x="33669" y="1361972"/>
                  <a:pt x="0" y="1328303"/>
                  <a:pt x="0" y="1286832"/>
                </a:cubicBezTo>
                <a:lnTo>
                  <a:pt x="0" y="75140"/>
                </a:lnTo>
                <a:cubicBezTo>
                  <a:pt x="0" y="33669"/>
                  <a:pt x="33669" y="0"/>
                  <a:pt x="75140" y="0"/>
                </a:cubicBezTo>
                <a:close/>
              </a:path>
            </a:pathLst>
          </a:custGeom>
          <a:solidFill>
            <a:srgbClr val="C9A86A">
              <a:alpha val="10196"/>
            </a:srgbClr>
          </a:solidFill>
          <a:ln w="12700">
            <a:solidFill>
              <a:srgbClr val="C9A86A">
                <a:alpha val="30196"/>
              </a:srgbClr>
            </a:solidFill>
            <a:prstDash val="solid"/>
          </a:ln>
        </p:spPr>
        <p:txBody>
          <a:bodyPr/>
          <a:lstStyle/>
          <a:p>
            <a:endParaRPr lang="en-GB"/>
          </a:p>
        </p:txBody>
      </p:sp>
      <p:sp>
        <p:nvSpPr>
          <p:cNvPr id="12" name="Shape 9"/>
          <p:cNvSpPr/>
          <p:nvPr/>
        </p:nvSpPr>
        <p:spPr>
          <a:xfrm>
            <a:off x="6265072" y="5527729"/>
            <a:ext cx="187858" cy="150287"/>
          </a:xfrm>
          <a:custGeom>
            <a:avLst/>
            <a:gdLst/>
            <a:ahLst/>
            <a:cxnLst/>
            <a:rect l="l" t="t" r="r" b="b"/>
            <a:pathLst>
              <a:path w="187858" h="150287">
                <a:moveTo>
                  <a:pt x="103322" y="0"/>
                </a:moveTo>
                <a:cubicBezTo>
                  <a:pt x="103322" y="-5195"/>
                  <a:pt x="99125" y="-9393"/>
                  <a:pt x="93929" y="-9393"/>
                </a:cubicBezTo>
                <a:cubicBezTo>
                  <a:pt x="88734" y="-9393"/>
                  <a:pt x="84536" y="-5195"/>
                  <a:pt x="84536" y="0"/>
                </a:cubicBezTo>
                <a:lnTo>
                  <a:pt x="84536" y="18786"/>
                </a:lnTo>
                <a:lnTo>
                  <a:pt x="56357" y="18786"/>
                </a:lnTo>
                <a:cubicBezTo>
                  <a:pt x="40800" y="18786"/>
                  <a:pt x="28179" y="31408"/>
                  <a:pt x="28179" y="46965"/>
                </a:cubicBezTo>
                <a:lnTo>
                  <a:pt x="28179" y="112715"/>
                </a:lnTo>
                <a:cubicBezTo>
                  <a:pt x="28179" y="128272"/>
                  <a:pt x="40800" y="140894"/>
                  <a:pt x="56357" y="140894"/>
                </a:cubicBezTo>
                <a:lnTo>
                  <a:pt x="131501" y="140894"/>
                </a:lnTo>
                <a:cubicBezTo>
                  <a:pt x="147058" y="140894"/>
                  <a:pt x="159680" y="128272"/>
                  <a:pt x="159680" y="112715"/>
                </a:cubicBezTo>
                <a:lnTo>
                  <a:pt x="159680" y="46965"/>
                </a:lnTo>
                <a:cubicBezTo>
                  <a:pt x="159680" y="31408"/>
                  <a:pt x="147058" y="18786"/>
                  <a:pt x="131501" y="18786"/>
                </a:cubicBezTo>
                <a:lnTo>
                  <a:pt x="103322" y="18786"/>
                </a:lnTo>
                <a:lnTo>
                  <a:pt x="103322" y="0"/>
                </a:lnTo>
                <a:close/>
                <a:moveTo>
                  <a:pt x="46965" y="108018"/>
                </a:moveTo>
                <a:cubicBezTo>
                  <a:pt x="46965" y="104115"/>
                  <a:pt x="50105" y="100974"/>
                  <a:pt x="54009" y="100974"/>
                </a:cubicBezTo>
                <a:lnTo>
                  <a:pt x="63402" y="100974"/>
                </a:lnTo>
                <a:cubicBezTo>
                  <a:pt x="67306" y="100974"/>
                  <a:pt x="70447" y="104115"/>
                  <a:pt x="70447" y="108018"/>
                </a:cubicBezTo>
                <a:cubicBezTo>
                  <a:pt x="70447" y="111922"/>
                  <a:pt x="67306" y="115063"/>
                  <a:pt x="63402" y="115063"/>
                </a:cubicBezTo>
                <a:lnTo>
                  <a:pt x="54009" y="115063"/>
                </a:lnTo>
                <a:cubicBezTo>
                  <a:pt x="50105" y="115063"/>
                  <a:pt x="46965" y="111922"/>
                  <a:pt x="46965" y="108018"/>
                </a:cubicBezTo>
                <a:close/>
                <a:moveTo>
                  <a:pt x="82188" y="108018"/>
                </a:moveTo>
                <a:cubicBezTo>
                  <a:pt x="82188" y="104115"/>
                  <a:pt x="85329" y="100974"/>
                  <a:pt x="89233" y="100974"/>
                </a:cubicBezTo>
                <a:lnTo>
                  <a:pt x="98626" y="100974"/>
                </a:lnTo>
                <a:cubicBezTo>
                  <a:pt x="102530" y="100974"/>
                  <a:pt x="105670" y="104115"/>
                  <a:pt x="105670" y="108018"/>
                </a:cubicBezTo>
                <a:cubicBezTo>
                  <a:pt x="105670" y="111922"/>
                  <a:pt x="102530" y="115063"/>
                  <a:pt x="98626" y="115063"/>
                </a:cubicBezTo>
                <a:lnTo>
                  <a:pt x="89233" y="115063"/>
                </a:lnTo>
                <a:cubicBezTo>
                  <a:pt x="85329" y="115063"/>
                  <a:pt x="82188" y="111922"/>
                  <a:pt x="82188" y="108018"/>
                </a:cubicBezTo>
                <a:close/>
                <a:moveTo>
                  <a:pt x="117411" y="108018"/>
                </a:moveTo>
                <a:cubicBezTo>
                  <a:pt x="117411" y="104115"/>
                  <a:pt x="120552" y="100974"/>
                  <a:pt x="124456" y="100974"/>
                </a:cubicBezTo>
                <a:lnTo>
                  <a:pt x="133849" y="100974"/>
                </a:lnTo>
                <a:cubicBezTo>
                  <a:pt x="137753" y="100974"/>
                  <a:pt x="140894" y="104115"/>
                  <a:pt x="140894" y="108018"/>
                </a:cubicBezTo>
                <a:cubicBezTo>
                  <a:pt x="140894" y="111922"/>
                  <a:pt x="137753" y="115063"/>
                  <a:pt x="133849" y="115063"/>
                </a:cubicBezTo>
                <a:lnTo>
                  <a:pt x="124456" y="115063"/>
                </a:lnTo>
                <a:cubicBezTo>
                  <a:pt x="120552" y="115063"/>
                  <a:pt x="117411" y="111922"/>
                  <a:pt x="117411" y="108018"/>
                </a:cubicBezTo>
                <a:close/>
                <a:moveTo>
                  <a:pt x="65750" y="51661"/>
                </a:moveTo>
                <a:cubicBezTo>
                  <a:pt x="73527" y="51661"/>
                  <a:pt x="79840" y="57974"/>
                  <a:pt x="79840" y="65750"/>
                </a:cubicBezTo>
                <a:cubicBezTo>
                  <a:pt x="79840" y="73527"/>
                  <a:pt x="73527" y="79840"/>
                  <a:pt x="65750" y="79840"/>
                </a:cubicBezTo>
                <a:cubicBezTo>
                  <a:pt x="57974" y="79840"/>
                  <a:pt x="51661" y="73527"/>
                  <a:pt x="51661" y="65750"/>
                </a:cubicBezTo>
                <a:cubicBezTo>
                  <a:pt x="51661" y="57974"/>
                  <a:pt x="57974" y="51661"/>
                  <a:pt x="65750" y="51661"/>
                </a:cubicBezTo>
                <a:close/>
                <a:moveTo>
                  <a:pt x="108018" y="65750"/>
                </a:moveTo>
                <a:cubicBezTo>
                  <a:pt x="108018" y="57974"/>
                  <a:pt x="114332" y="51661"/>
                  <a:pt x="122108" y="51661"/>
                </a:cubicBezTo>
                <a:cubicBezTo>
                  <a:pt x="129884" y="51661"/>
                  <a:pt x="136197" y="57974"/>
                  <a:pt x="136197" y="65750"/>
                </a:cubicBezTo>
                <a:cubicBezTo>
                  <a:pt x="136197" y="73527"/>
                  <a:pt x="129884" y="79840"/>
                  <a:pt x="122108" y="79840"/>
                </a:cubicBezTo>
                <a:cubicBezTo>
                  <a:pt x="114332" y="79840"/>
                  <a:pt x="108018" y="73527"/>
                  <a:pt x="108018" y="65750"/>
                </a:cubicBezTo>
                <a:close/>
                <a:moveTo>
                  <a:pt x="18786" y="65750"/>
                </a:moveTo>
                <a:cubicBezTo>
                  <a:pt x="18786" y="60555"/>
                  <a:pt x="14588" y="56357"/>
                  <a:pt x="9393" y="56357"/>
                </a:cubicBezTo>
                <a:cubicBezTo>
                  <a:pt x="4197" y="56357"/>
                  <a:pt x="0" y="60555"/>
                  <a:pt x="0" y="65750"/>
                </a:cubicBezTo>
                <a:lnTo>
                  <a:pt x="0" y="93929"/>
                </a:lnTo>
                <a:cubicBezTo>
                  <a:pt x="0" y="99125"/>
                  <a:pt x="4197" y="103322"/>
                  <a:pt x="9393" y="103322"/>
                </a:cubicBezTo>
                <a:cubicBezTo>
                  <a:pt x="14588" y="103322"/>
                  <a:pt x="18786" y="99125"/>
                  <a:pt x="18786" y="93929"/>
                </a:cubicBezTo>
                <a:lnTo>
                  <a:pt x="18786" y="65750"/>
                </a:lnTo>
                <a:close/>
                <a:moveTo>
                  <a:pt x="178465" y="56357"/>
                </a:moveTo>
                <a:cubicBezTo>
                  <a:pt x="173270" y="56357"/>
                  <a:pt x="169072" y="60555"/>
                  <a:pt x="169072" y="65750"/>
                </a:cubicBezTo>
                <a:lnTo>
                  <a:pt x="169072" y="93929"/>
                </a:lnTo>
                <a:cubicBezTo>
                  <a:pt x="169072" y="99125"/>
                  <a:pt x="173270" y="103322"/>
                  <a:pt x="178465" y="103322"/>
                </a:cubicBezTo>
                <a:cubicBezTo>
                  <a:pt x="183661" y="103322"/>
                  <a:pt x="187858" y="99125"/>
                  <a:pt x="187858" y="93929"/>
                </a:cubicBezTo>
                <a:lnTo>
                  <a:pt x="187858" y="65750"/>
                </a:lnTo>
                <a:cubicBezTo>
                  <a:pt x="187858" y="60555"/>
                  <a:pt x="183661" y="56357"/>
                  <a:pt x="178465" y="56357"/>
                </a:cubicBezTo>
                <a:close/>
              </a:path>
            </a:pathLst>
          </a:custGeom>
          <a:solidFill>
            <a:srgbClr val="C9A86A"/>
          </a:solidFill>
          <a:ln/>
        </p:spPr>
        <p:txBody>
          <a:bodyPr/>
          <a:lstStyle/>
          <a:p>
            <a:endParaRPr lang="en-GB"/>
          </a:p>
        </p:txBody>
      </p:sp>
      <p:sp>
        <p:nvSpPr>
          <p:cNvPr id="13" name="Text 10"/>
          <p:cNvSpPr/>
          <p:nvPr/>
        </p:nvSpPr>
        <p:spPr>
          <a:xfrm>
            <a:off x="6517507" y="5490157"/>
            <a:ext cx="5213066" cy="225430"/>
          </a:xfrm>
          <a:prstGeom prst="rect">
            <a:avLst/>
          </a:prstGeom>
          <a:noFill/>
          <a:ln/>
        </p:spPr>
        <p:txBody>
          <a:bodyPr wrap="square" lIns="0" tIns="0" rIns="0" bIns="0" rtlCol="0" anchor="ctr"/>
          <a:lstStyle/>
          <a:p>
            <a:pPr>
              <a:lnSpc>
                <a:spcPct val="120000"/>
              </a:lnSpc>
            </a:pPr>
            <a:r>
              <a:rPr lang="en-US" sz="1183" b="1" dirty="0">
                <a:solidFill>
                  <a:srgbClr val="C9A86A"/>
                </a:solidFill>
                <a:latin typeface="Liter" pitchFamily="34" charset="0"/>
                <a:ea typeface="Liter" pitchFamily="34" charset="-122"/>
                <a:cs typeface="Liter" pitchFamily="34" charset="-120"/>
              </a:rPr>
              <a:t>Garbage Robot Insights</a:t>
            </a:r>
            <a:endParaRPr lang="en-US" sz="1600" dirty="0"/>
          </a:p>
        </p:txBody>
      </p:sp>
      <p:sp>
        <p:nvSpPr>
          <p:cNvPr id="14" name="Text 11"/>
          <p:cNvSpPr/>
          <p:nvPr/>
        </p:nvSpPr>
        <p:spPr>
          <a:xfrm>
            <a:off x="6329649" y="5790730"/>
            <a:ext cx="5391532" cy="751433"/>
          </a:xfrm>
          <a:prstGeom prst="rect">
            <a:avLst/>
          </a:prstGeom>
          <a:noFill/>
          <a:ln/>
        </p:spPr>
        <p:txBody>
          <a:bodyPr wrap="square" lIns="0" tIns="0" rIns="0" bIns="0" rtlCol="0" anchor="ctr"/>
          <a:lstStyle/>
          <a:p>
            <a:pPr>
              <a:lnSpc>
                <a:spcPct val="120000"/>
              </a:lnSpc>
            </a:pPr>
            <a:r>
              <a:rPr lang="en-US" sz="1035" dirty="0">
                <a:solidFill>
                  <a:srgbClr val="8D99AE"/>
                </a:solidFill>
                <a:latin typeface="Quattrocento Sans" pitchFamily="34" charset="0"/>
                <a:ea typeface="Quattrocento Sans" pitchFamily="34" charset="-122"/>
                <a:cs typeface="Quattrocento Sans" pitchFamily="34" charset="-120"/>
              </a:rPr>
              <a:t>Operates in a dynamic environment where obstacles, trash locations, and battery levels change continuously. Requires reactive responses for safety combined with deliberative planning for efficiency. The partially observable nature comes from limited sensor range and unknown future states.</a:t>
            </a:r>
            <a:endParaRPr lang="en-US" sz="1600" dirty="0"/>
          </a:p>
        </p:txBody>
      </p:sp>
    </p:spTree>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A1D24"/>
        </a:solidFill>
        <a:effectLst/>
      </p:bgPr>
    </p:bg>
    <p:spTree>
      <p:nvGrpSpPr>
        <p:cNvPr id="1" name=""/>
        <p:cNvGrpSpPr/>
        <p:nvPr/>
      </p:nvGrpSpPr>
      <p:grpSpPr>
        <a:xfrm>
          <a:off x="0" y="0"/>
          <a:ext cx="0" cy="0"/>
          <a:chOff x="0" y="0"/>
          <a:chExt cx="0" cy="0"/>
        </a:xfrm>
      </p:grpSpPr>
      <p:sp>
        <p:nvSpPr>
          <p:cNvPr id="2" name="Text 0"/>
          <p:cNvSpPr/>
          <p:nvPr/>
        </p:nvSpPr>
        <p:spPr>
          <a:xfrm>
            <a:off x="368617" y="368617"/>
            <a:ext cx="11528490" cy="221170"/>
          </a:xfrm>
          <a:prstGeom prst="rect">
            <a:avLst/>
          </a:prstGeom>
          <a:noFill/>
          <a:ln/>
        </p:spPr>
        <p:txBody>
          <a:bodyPr wrap="square" lIns="0" tIns="0" rIns="0" bIns="0" rtlCol="0" anchor="ctr"/>
          <a:lstStyle/>
          <a:p>
            <a:pPr>
              <a:lnSpc>
                <a:spcPct val="130000"/>
              </a:lnSpc>
            </a:pPr>
            <a:r>
              <a:rPr lang="en-US" sz="1161" b="1" kern="0" spc="116" dirty="0">
                <a:solidFill>
                  <a:srgbClr val="C9A86A"/>
                </a:solidFill>
                <a:latin typeface="Quattrocento Sans" pitchFamily="34" charset="0"/>
                <a:ea typeface="Quattrocento Sans" pitchFamily="34" charset="-122"/>
                <a:cs typeface="Quattrocento Sans" pitchFamily="34" charset="-120"/>
              </a:rPr>
              <a:t>Conclusion</a:t>
            </a:r>
            <a:endParaRPr lang="en-US" sz="1600" dirty="0"/>
          </a:p>
        </p:txBody>
      </p:sp>
      <p:sp>
        <p:nvSpPr>
          <p:cNvPr id="3" name="Text 1"/>
          <p:cNvSpPr/>
          <p:nvPr/>
        </p:nvSpPr>
        <p:spPr>
          <a:xfrm>
            <a:off x="368617" y="663510"/>
            <a:ext cx="11620644" cy="368617"/>
          </a:xfrm>
          <a:prstGeom prst="rect">
            <a:avLst/>
          </a:prstGeom>
          <a:noFill/>
          <a:ln/>
        </p:spPr>
        <p:txBody>
          <a:bodyPr wrap="square" lIns="0" tIns="0" rIns="0" bIns="0" rtlCol="0" anchor="ctr"/>
          <a:lstStyle/>
          <a:p>
            <a:pPr>
              <a:lnSpc>
                <a:spcPct val="90000"/>
              </a:lnSpc>
            </a:pPr>
            <a:r>
              <a:rPr lang="en-US" sz="2612" b="1" dirty="0">
                <a:solidFill>
                  <a:srgbClr val="EDF2F4"/>
                </a:solidFill>
                <a:latin typeface="Liter" pitchFamily="34" charset="0"/>
                <a:ea typeface="Liter" pitchFamily="34" charset="-122"/>
                <a:cs typeface="Liter" pitchFamily="34" charset="-120"/>
              </a:rPr>
              <a:t>Why These Projects Fit the Course</a:t>
            </a:r>
            <a:endParaRPr lang="en-US" sz="1600" dirty="0"/>
          </a:p>
        </p:txBody>
      </p:sp>
      <p:sp>
        <p:nvSpPr>
          <p:cNvPr id="4" name="Shape 2"/>
          <p:cNvSpPr/>
          <p:nvPr/>
        </p:nvSpPr>
        <p:spPr>
          <a:xfrm>
            <a:off x="368617" y="1142712"/>
            <a:ext cx="884680" cy="36862"/>
          </a:xfrm>
          <a:custGeom>
            <a:avLst/>
            <a:gdLst/>
            <a:ahLst/>
            <a:cxnLst/>
            <a:rect l="l" t="t" r="r" b="b"/>
            <a:pathLst>
              <a:path w="884680" h="36862">
                <a:moveTo>
                  <a:pt x="0" y="0"/>
                </a:moveTo>
                <a:lnTo>
                  <a:pt x="884680" y="0"/>
                </a:lnTo>
                <a:lnTo>
                  <a:pt x="884680" y="36862"/>
                </a:lnTo>
                <a:lnTo>
                  <a:pt x="0" y="36862"/>
                </a:lnTo>
                <a:lnTo>
                  <a:pt x="0" y="0"/>
                </a:lnTo>
                <a:close/>
              </a:path>
            </a:pathLst>
          </a:custGeom>
          <a:solidFill>
            <a:srgbClr val="C9A86A"/>
          </a:solidFill>
          <a:ln/>
        </p:spPr>
        <p:txBody>
          <a:bodyPr/>
          <a:lstStyle/>
          <a:p>
            <a:endParaRPr lang="en-GB"/>
          </a:p>
        </p:txBody>
      </p:sp>
      <p:sp>
        <p:nvSpPr>
          <p:cNvPr id="5" name="Shape 3"/>
          <p:cNvSpPr/>
          <p:nvPr/>
        </p:nvSpPr>
        <p:spPr>
          <a:xfrm>
            <a:off x="377832" y="1299375"/>
            <a:ext cx="5612190" cy="1714068"/>
          </a:xfrm>
          <a:custGeom>
            <a:avLst/>
            <a:gdLst/>
            <a:ahLst/>
            <a:cxnLst/>
            <a:rect l="l" t="t" r="r" b="b"/>
            <a:pathLst>
              <a:path w="5612190" h="1714068">
                <a:moveTo>
                  <a:pt x="110592" y="0"/>
                </a:moveTo>
                <a:lnTo>
                  <a:pt x="5501599" y="0"/>
                </a:lnTo>
                <a:cubicBezTo>
                  <a:pt x="5562677" y="0"/>
                  <a:pt x="5612190" y="49514"/>
                  <a:pt x="5612190" y="110592"/>
                </a:cubicBezTo>
                <a:lnTo>
                  <a:pt x="5612190" y="1603476"/>
                </a:lnTo>
                <a:cubicBezTo>
                  <a:pt x="5612190" y="1664554"/>
                  <a:pt x="5562677" y="1714068"/>
                  <a:pt x="5501599" y="1714068"/>
                </a:cubicBezTo>
                <a:lnTo>
                  <a:pt x="110592" y="1714068"/>
                </a:lnTo>
                <a:cubicBezTo>
                  <a:pt x="49514" y="1714068"/>
                  <a:pt x="0" y="1664554"/>
                  <a:pt x="0" y="1603476"/>
                </a:cubicBezTo>
                <a:lnTo>
                  <a:pt x="0" y="110592"/>
                </a:lnTo>
                <a:cubicBezTo>
                  <a:pt x="0" y="49554"/>
                  <a:pt x="49554" y="0"/>
                  <a:pt x="110592" y="0"/>
                </a:cubicBezTo>
                <a:close/>
              </a:path>
            </a:pathLst>
          </a:custGeom>
          <a:gradFill flip="none" rotWithShape="1">
            <a:gsLst>
              <a:gs pos="0">
                <a:srgbClr val="4A6C8C">
                  <a:alpha val="30000"/>
                </a:srgbClr>
              </a:gs>
              <a:gs pos="100000">
                <a:srgbClr val="4A6C8C">
                  <a:alpha val="10000"/>
                </a:srgbClr>
              </a:gs>
            </a:gsLst>
            <a:lin ang="2700000" scaled="1"/>
          </a:gradFill>
          <a:ln w="25400">
            <a:solidFill>
              <a:srgbClr val="4A6C8C"/>
            </a:solidFill>
            <a:prstDash val="solid"/>
          </a:ln>
        </p:spPr>
        <p:txBody>
          <a:bodyPr/>
          <a:lstStyle/>
          <a:p>
            <a:endParaRPr lang="en-GB"/>
          </a:p>
        </p:txBody>
      </p:sp>
      <p:sp>
        <p:nvSpPr>
          <p:cNvPr id="6" name="Shape 4"/>
          <p:cNvSpPr/>
          <p:nvPr/>
        </p:nvSpPr>
        <p:spPr>
          <a:xfrm>
            <a:off x="571356" y="1511329"/>
            <a:ext cx="516063" cy="516063"/>
          </a:xfrm>
          <a:custGeom>
            <a:avLst/>
            <a:gdLst/>
            <a:ahLst/>
            <a:cxnLst/>
            <a:rect l="l" t="t" r="r" b="b"/>
            <a:pathLst>
              <a:path w="516063" h="516063">
                <a:moveTo>
                  <a:pt x="110587" y="0"/>
                </a:moveTo>
                <a:lnTo>
                  <a:pt x="405476" y="0"/>
                </a:lnTo>
                <a:cubicBezTo>
                  <a:pt x="466552" y="0"/>
                  <a:pt x="516063" y="49512"/>
                  <a:pt x="516063" y="110587"/>
                </a:cubicBezTo>
                <a:lnTo>
                  <a:pt x="516063" y="405476"/>
                </a:lnTo>
                <a:cubicBezTo>
                  <a:pt x="516063" y="466552"/>
                  <a:pt x="466552" y="516063"/>
                  <a:pt x="405476" y="516063"/>
                </a:cubicBezTo>
                <a:lnTo>
                  <a:pt x="110587" y="516063"/>
                </a:lnTo>
                <a:cubicBezTo>
                  <a:pt x="49512" y="516063"/>
                  <a:pt x="0" y="466552"/>
                  <a:pt x="0" y="405476"/>
                </a:cubicBezTo>
                <a:lnTo>
                  <a:pt x="0" y="110587"/>
                </a:lnTo>
                <a:cubicBezTo>
                  <a:pt x="0" y="49512"/>
                  <a:pt x="49512" y="0"/>
                  <a:pt x="110587" y="0"/>
                </a:cubicBezTo>
                <a:close/>
              </a:path>
            </a:pathLst>
          </a:custGeom>
          <a:solidFill>
            <a:srgbClr val="C9A86A"/>
          </a:solidFill>
          <a:ln/>
        </p:spPr>
        <p:txBody>
          <a:bodyPr/>
          <a:lstStyle/>
          <a:p>
            <a:endParaRPr lang="en-GB"/>
          </a:p>
        </p:txBody>
      </p:sp>
      <p:sp>
        <p:nvSpPr>
          <p:cNvPr id="7" name="Shape 5"/>
          <p:cNvSpPr/>
          <p:nvPr/>
        </p:nvSpPr>
        <p:spPr>
          <a:xfrm>
            <a:off x="718803" y="1658776"/>
            <a:ext cx="221170" cy="221170"/>
          </a:xfrm>
          <a:custGeom>
            <a:avLst/>
            <a:gdLst/>
            <a:ahLst/>
            <a:cxnLst/>
            <a:rect l="l" t="t" r="r" b="b"/>
            <a:pathLst>
              <a:path w="221170" h="221170">
                <a:moveTo>
                  <a:pt x="110585" y="221170"/>
                </a:moveTo>
                <a:cubicBezTo>
                  <a:pt x="171619" y="221170"/>
                  <a:pt x="221170" y="171619"/>
                  <a:pt x="221170" y="110585"/>
                </a:cubicBezTo>
                <a:cubicBezTo>
                  <a:pt x="221170" y="49551"/>
                  <a:pt x="171619" y="0"/>
                  <a:pt x="110585" y="0"/>
                </a:cubicBezTo>
                <a:cubicBezTo>
                  <a:pt x="49551" y="0"/>
                  <a:pt x="0" y="49551"/>
                  <a:pt x="0" y="110585"/>
                </a:cubicBezTo>
                <a:cubicBezTo>
                  <a:pt x="0" y="171619"/>
                  <a:pt x="49551" y="221170"/>
                  <a:pt x="110585" y="221170"/>
                </a:cubicBezTo>
                <a:close/>
                <a:moveTo>
                  <a:pt x="147044" y="91881"/>
                </a:moveTo>
                <a:lnTo>
                  <a:pt x="112486" y="147173"/>
                </a:lnTo>
                <a:cubicBezTo>
                  <a:pt x="110671" y="150067"/>
                  <a:pt x="107561" y="151882"/>
                  <a:pt x="104149" y="152054"/>
                </a:cubicBezTo>
                <a:cubicBezTo>
                  <a:pt x="100736" y="152227"/>
                  <a:pt x="97453" y="150672"/>
                  <a:pt x="95423" y="147907"/>
                </a:cubicBezTo>
                <a:lnTo>
                  <a:pt x="74688" y="120261"/>
                </a:lnTo>
                <a:cubicBezTo>
                  <a:pt x="71232" y="115682"/>
                  <a:pt x="72183" y="109203"/>
                  <a:pt x="76762" y="105747"/>
                </a:cubicBezTo>
                <a:cubicBezTo>
                  <a:pt x="81340" y="102291"/>
                  <a:pt x="87820" y="103241"/>
                  <a:pt x="91276" y="107820"/>
                </a:cubicBezTo>
                <a:lnTo>
                  <a:pt x="102939" y="123371"/>
                </a:lnTo>
                <a:lnTo>
                  <a:pt x="129462" y="80909"/>
                </a:lnTo>
                <a:cubicBezTo>
                  <a:pt x="132486" y="76070"/>
                  <a:pt x="138879" y="74559"/>
                  <a:pt x="143761" y="77626"/>
                </a:cubicBezTo>
                <a:cubicBezTo>
                  <a:pt x="148642" y="80693"/>
                  <a:pt x="150111" y="87043"/>
                  <a:pt x="147044" y="91924"/>
                </a:cubicBezTo>
                <a:close/>
              </a:path>
            </a:pathLst>
          </a:custGeom>
          <a:solidFill>
            <a:srgbClr val="1A1D24"/>
          </a:solidFill>
          <a:ln/>
        </p:spPr>
        <p:txBody>
          <a:bodyPr/>
          <a:lstStyle/>
          <a:p>
            <a:endParaRPr lang="en-GB"/>
          </a:p>
        </p:txBody>
      </p:sp>
      <p:sp>
        <p:nvSpPr>
          <p:cNvPr id="8" name="Text 6"/>
          <p:cNvSpPr/>
          <p:nvPr/>
        </p:nvSpPr>
        <p:spPr>
          <a:xfrm>
            <a:off x="1234866" y="1511329"/>
            <a:ext cx="4653787" cy="258032"/>
          </a:xfrm>
          <a:prstGeom prst="rect">
            <a:avLst/>
          </a:prstGeom>
          <a:noFill/>
          <a:ln/>
        </p:spPr>
        <p:txBody>
          <a:bodyPr wrap="square" lIns="0" tIns="0" rIns="0" bIns="0" rtlCol="0" anchor="ctr"/>
          <a:lstStyle/>
          <a:p>
            <a:pPr>
              <a:lnSpc>
                <a:spcPct val="120000"/>
              </a:lnSpc>
            </a:pPr>
            <a:r>
              <a:rPr lang="en-US" sz="1451" b="1" dirty="0">
                <a:solidFill>
                  <a:srgbClr val="EDF2F4"/>
                </a:solidFill>
                <a:latin typeface="Liter" pitchFamily="34" charset="0"/>
                <a:ea typeface="Liter" pitchFamily="34" charset="-122"/>
                <a:cs typeface="Liter" pitchFamily="34" charset="-120"/>
              </a:rPr>
              <a:t>Clearly Intelligent Agents</a:t>
            </a:r>
            <a:endParaRPr lang="en-US" sz="1600" dirty="0"/>
          </a:p>
        </p:txBody>
      </p:sp>
      <p:sp>
        <p:nvSpPr>
          <p:cNvPr id="9" name="Text 7"/>
          <p:cNvSpPr/>
          <p:nvPr/>
        </p:nvSpPr>
        <p:spPr>
          <a:xfrm>
            <a:off x="1234866" y="1843084"/>
            <a:ext cx="4635356" cy="958404"/>
          </a:xfrm>
          <a:prstGeom prst="rect">
            <a:avLst/>
          </a:prstGeom>
          <a:noFill/>
          <a:ln/>
        </p:spPr>
        <p:txBody>
          <a:bodyPr wrap="square" lIns="0" tIns="0" rIns="0" bIns="0" rtlCol="0" anchor="ctr"/>
          <a:lstStyle/>
          <a:p>
            <a:pPr>
              <a:lnSpc>
                <a:spcPct val="140000"/>
              </a:lnSpc>
            </a:pPr>
            <a:r>
              <a:rPr lang="en-US" sz="1161" dirty="0">
                <a:solidFill>
                  <a:srgbClr val="8D99AE"/>
                </a:solidFill>
                <a:latin typeface="Quattrocento Sans" pitchFamily="34" charset="0"/>
                <a:ea typeface="Quattrocento Sans" pitchFamily="34" charset="-122"/>
                <a:cs typeface="Quattrocento Sans" pitchFamily="34" charset="-120"/>
              </a:rPr>
              <a:t>Both projects embody the core principles of intelligent agents: </a:t>
            </a:r>
            <a:r>
              <a:rPr lang="en-US" sz="1161" b="1" dirty="0">
                <a:solidFill>
                  <a:srgbClr val="C9A86A"/>
                </a:solidFill>
                <a:latin typeface="Quattrocento Sans" pitchFamily="34" charset="0"/>
                <a:ea typeface="Quattrocento Sans" pitchFamily="34" charset="-122"/>
                <a:cs typeface="Quattrocento Sans" pitchFamily="34" charset="-120"/>
              </a:rPr>
              <a:t>perception, decision-making, action, and learning</a:t>
            </a:r>
            <a:r>
              <a:rPr lang="en-US" sz="1161" dirty="0">
                <a:solidFill>
                  <a:srgbClr val="8D99AE"/>
                </a:solidFill>
                <a:latin typeface="Quattrocento Sans" pitchFamily="34" charset="0"/>
                <a:ea typeface="Quattrocento Sans" pitchFamily="34" charset="-122"/>
                <a:cs typeface="Quattrocento Sans" pitchFamily="34" charset="-120"/>
              </a:rPr>
              <a:t>. They demonstrate autonomous operation in complex environments with clear performance metrics.</a:t>
            </a:r>
            <a:endParaRPr lang="en-US" sz="1600" dirty="0"/>
          </a:p>
        </p:txBody>
      </p:sp>
      <p:sp>
        <p:nvSpPr>
          <p:cNvPr id="10" name="Shape 8"/>
          <p:cNvSpPr/>
          <p:nvPr/>
        </p:nvSpPr>
        <p:spPr>
          <a:xfrm>
            <a:off x="377832" y="3179320"/>
            <a:ext cx="5612190" cy="1714068"/>
          </a:xfrm>
          <a:custGeom>
            <a:avLst/>
            <a:gdLst/>
            <a:ahLst/>
            <a:cxnLst/>
            <a:rect l="l" t="t" r="r" b="b"/>
            <a:pathLst>
              <a:path w="5612190" h="1714068">
                <a:moveTo>
                  <a:pt x="110592" y="0"/>
                </a:moveTo>
                <a:lnTo>
                  <a:pt x="5501599" y="0"/>
                </a:lnTo>
                <a:cubicBezTo>
                  <a:pt x="5562677" y="0"/>
                  <a:pt x="5612190" y="49514"/>
                  <a:pt x="5612190" y="110592"/>
                </a:cubicBezTo>
                <a:lnTo>
                  <a:pt x="5612190" y="1603476"/>
                </a:lnTo>
                <a:cubicBezTo>
                  <a:pt x="5612190" y="1664554"/>
                  <a:pt x="5562677" y="1714068"/>
                  <a:pt x="5501599" y="1714068"/>
                </a:cubicBezTo>
                <a:lnTo>
                  <a:pt x="110592" y="1714068"/>
                </a:lnTo>
                <a:cubicBezTo>
                  <a:pt x="49514" y="1714068"/>
                  <a:pt x="0" y="1664554"/>
                  <a:pt x="0" y="1603476"/>
                </a:cubicBezTo>
                <a:lnTo>
                  <a:pt x="0" y="110592"/>
                </a:lnTo>
                <a:cubicBezTo>
                  <a:pt x="0" y="49554"/>
                  <a:pt x="49554" y="0"/>
                  <a:pt x="110592" y="0"/>
                </a:cubicBezTo>
                <a:close/>
              </a:path>
            </a:pathLst>
          </a:custGeom>
          <a:gradFill flip="none" rotWithShape="1">
            <a:gsLst>
              <a:gs pos="0">
                <a:srgbClr val="4A6C8C">
                  <a:alpha val="30000"/>
                </a:srgbClr>
              </a:gs>
              <a:gs pos="100000">
                <a:srgbClr val="4A6C8C">
                  <a:alpha val="10000"/>
                </a:srgbClr>
              </a:gs>
            </a:gsLst>
            <a:lin ang="2700000" scaled="1"/>
          </a:gradFill>
          <a:ln w="25400">
            <a:solidFill>
              <a:srgbClr val="4A6C8C"/>
            </a:solidFill>
            <a:prstDash val="solid"/>
          </a:ln>
        </p:spPr>
        <p:txBody>
          <a:bodyPr/>
          <a:lstStyle/>
          <a:p>
            <a:endParaRPr lang="en-GB"/>
          </a:p>
        </p:txBody>
      </p:sp>
      <p:sp>
        <p:nvSpPr>
          <p:cNvPr id="11" name="Shape 9"/>
          <p:cNvSpPr/>
          <p:nvPr/>
        </p:nvSpPr>
        <p:spPr>
          <a:xfrm>
            <a:off x="571356" y="3391275"/>
            <a:ext cx="516063" cy="516063"/>
          </a:xfrm>
          <a:custGeom>
            <a:avLst/>
            <a:gdLst/>
            <a:ahLst/>
            <a:cxnLst/>
            <a:rect l="l" t="t" r="r" b="b"/>
            <a:pathLst>
              <a:path w="516063" h="516063">
                <a:moveTo>
                  <a:pt x="110587" y="0"/>
                </a:moveTo>
                <a:lnTo>
                  <a:pt x="405476" y="0"/>
                </a:lnTo>
                <a:cubicBezTo>
                  <a:pt x="466552" y="0"/>
                  <a:pt x="516063" y="49512"/>
                  <a:pt x="516063" y="110587"/>
                </a:cubicBezTo>
                <a:lnTo>
                  <a:pt x="516063" y="405476"/>
                </a:lnTo>
                <a:cubicBezTo>
                  <a:pt x="516063" y="466552"/>
                  <a:pt x="466552" y="516063"/>
                  <a:pt x="405476" y="516063"/>
                </a:cubicBezTo>
                <a:lnTo>
                  <a:pt x="110587" y="516063"/>
                </a:lnTo>
                <a:cubicBezTo>
                  <a:pt x="49512" y="516063"/>
                  <a:pt x="0" y="466552"/>
                  <a:pt x="0" y="405476"/>
                </a:cubicBezTo>
                <a:lnTo>
                  <a:pt x="0" y="110587"/>
                </a:lnTo>
                <a:cubicBezTo>
                  <a:pt x="0" y="49512"/>
                  <a:pt x="49512" y="0"/>
                  <a:pt x="110587" y="0"/>
                </a:cubicBezTo>
                <a:close/>
              </a:path>
            </a:pathLst>
          </a:custGeom>
          <a:solidFill>
            <a:srgbClr val="4A6C8C"/>
          </a:solidFill>
          <a:ln/>
        </p:spPr>
        <p:txBody>
          <a:bodyPr/>
          <a:lstStyle/>
          <a:p>
            <a:endParaRPr lang="en-GB"/>
          </a:p>
        </p:txBody>
      </p:sp>
      <p:sp>
        <p:nvSpPr>
          <p:cNvPr id="12" name="Shape 10"/>
          <p:cNvSpPr/>
          <p:nvPr/>
        </p:nvSpPr>
        <p:spPr>
          <a:xfrm>
            <a:off x="718803" y="3538721"/>
            <a:ext cx="221170" cy="221170"/>
          </a:xfrm>
          <a:custGeom>
            <a:avLst/>
            <a:gdLst/>
            <a:ahLst/>
            <a:cxnLst/>
            <a:rect l="l" t="t" r="r" b="b"/>
            <a:pathLst>
              <a:path w="221170" h="221170">
                <a:moveTo>
                  <a:pt x="82939" y="27646"/>
                </a:moveTo>
                <a:cubicBezTo>
                  <a:pt x="82939" y="20000"/>
                  <a:pt x="89116" y="13823"/>
                  <a:pt x="96762" y="13823"/>
                </a:cubicBezTo>
                <a:lnTo>
                  <a:pt x="124408" y="13823"/>
                </a:lnTo>
                <a:cubicBezTo>
                  <a:pt x="132054" y="13823"/>
                  <a:pt x="138231" y="20000"/>
                  <a:pt x="138231" y="27646"/>
                </a:cubicBezTo>
                <a:lnTo>
                  <a:pt x="138231" y="55293"/>
                </a:lnTo>
                <a:cubicBezTo>
                  <a:pt x="138231" y="62938"/>
                  <a:pt x="132054" y="69116"/>
                  <a:pt x="124408" y="69116"/>
                </a:cubicBezTo>
                <a:lnTo>
                  <a:pt x="120952" y="69116"/>
                </a:lnTo>
                <a:lnTo>
                  <a:pt x="120952" y="96762"/>
                </a:lnTo>
                <a:lnTo>
                  <a:pt x="172789" y="96762"/>
                </a:lnTo>
                <a:cubicBezTo>
                  <a:pt x="189982" y="96762"/>
                  <a:pt x="203891" y="110671"/>
                  <a:pt x="203891" y="127864"/>
                </a:cubicBezTo>
                <a:lnTo>
                  <a:pt x="203891" y="152054"/>
                </a:lnTo>
                <a:lnTo>
                  <a:pt x="207347" y="152054"/>
                </a:lnTo>
                <a:cubicBezTo>
                  <a:pt x="214993" y="152054"/>
                  <a:pt x="221170" y="158232"/>
                  <a:pt x="221170" y="165878"/>
                </a:cubicBezTo>
                <a:lnTo>
                  <a:pt x="221170" y="193524"/>
                </a:lnTo>
                <a:cubicBezTo>
                  <a:pt x="221170" y="201170"/>
                  <a:pt x="214993" y="207347"/>
                  <a:pt x="207347" y="207347"/>
                </a:cubicBezTo>
                <a:lnTo>
                  <a:pt x="179701" y="207347"/>
                </a:lnTo>
                <a:cubicBezTo>
                  <a:pt x="172055" y="207347"/>
                  <a:pt x="165878" y="201170"/>
                  <a:pt x="165878" y="193524"/>
                </a:cubicBezTo>
                <a:lnTo>
                  <a:pt x="165878" y="165878"/>
                </a:lnTo>
                <a:cubicBezTo>
                  <a:pt x="165878" y="158232"/>
                  <a:pt x="172055" y="152054"/>
                  <a:pt x="179701" y="152054"/>
                </a:cubicBezTo>
                <a:lnTo>
                  <a:pt x="183156" y="152054"/>
                </a:lnTo>
                <a:lnTo>
                  <a:pt x="183156" y="127864"/>
                </a:lnTo>
                <a:cubicBezTo>
                  <a:pt x="183156" y="122119"/>
                  <a:pt x="178534" y="117497"/>
                  <a:pt x="172789" y="117497"/>
                </a:cubicBezTo>
                <a:lnTo>
                  <a:pt x="120952" y="117497"/>
                </a:lnTo>
                <a:lnTo>
                  <a:pt x="120952" y="152054"/>
                </a:lnTo>
                <a:lnTo>
                  <a:pt x="124408" y="152054"/>
                </a:lnTo>
                <a:cubicBezTo>
                  <a:pt x="132054" y="152054"/>
                  <a:pt x="138231" y="158232"/>
                  <a:pt x="138231" y="165878"/>
                </a:cubicBezTo>
                <a:lnTo>
                  <a:pt x="138231" y="193524"/>
                </a:lnTo>
                <a:cubicBezTo>
                  <a:pt x="138231" y="201170"/>
                  <a:pt x="132054" y="207347"/>
                  <a:pt x="124408" y="207347"/>
                </a:cubicBezTo>
                <a:lnTo>
                  <a:pt x="96762" y="207347"/>
                </a:lnTo>
                <a:cubicBezTo>
                  <a:pt x="89116" y="207347"/>
                  <a:pt x="82939" y="201170"/>
                  <a:pt x="82939" y="193524"/>
                </a:cubicBezTo>
                <a:lnTo>
                  <a:pt x="82939" y="165878"/>
                </a:lnTo>
                <a:cubicBezTo>
                  <a:pt x="82939" y="158232"/>
                  <a:pt x="89116" y="152054"/>
                  <a:pt x="96762" y="152054"/>
                </a:cubicBezTo>
                <a:lnTo>
                  <a:pt x="100218" y="152054"/>
                </a:lnTo>
                <a:lnTo>
                  <a:pt x="100218" y="117497"/>
                </a:lnTo>
                <a:lnTo>
                  <a:pt x="48381" y="117497"/>
                </a:lnTo>
                <a:cubicBezTo>
                  <a:pt x="42636" y="117497"/>
                  <a:pt x="38014" y="122119"/>
                  <a:pt x="38014" y="127864"/>
                </a:cubicBezTo>
                <a:lnTo>
                  <a:pt x="38014" y="152054"/>
                </a:lnTo>
                <a:lnTo>
                  <a:pt x="41469" y="152054"/>
                </a:lnTo>
                <a:cubicBezTo>
                  <a:pt x="49115" y="152054"/>
                  <a:pt x="55293" y="158232"/>
                  <a:pt x="55293" y="165878"/>
                </a:cubicBezTo>
                <a:lnTo>
                  <a:pt x="55293" y="193524"/>
                </a:lnTo>
                <a:cubicBezTo>
                  <a:pt x="55293" y="201170"/>
                  <a:pt x="49115" y="207347"/>
                  <a:pt x="41469" y="207347"/>
                </a:cubicBezTo>
                <a:lnTo>
                  <a:pt x="13823" y="207347"/>
                </a:lnTo>
                <a:cubicBezTo>
                  <a:pt x="6177" y="207347"/>
                  <a:pt x="0" y="201170"/>
                  <a:pt x="0" y="193524"/>
                </a:cubicBezTo>
                <a:lnTo>
                  <a:pt x="0" y="165878"/>
                </a:lnTo>
                <a:cubicBezTo>
                  <a:pt x="0" y="158232"/>
                  <a:pt x="6177" y="152054"/>
                  <a:pt x="13823" y="152054"/>
                </a:cubicBezTo>
                <a:lnTo>
                  <a:pt x="17279" y="152054"/>
                </a:lnTo>
                <a:lnTo>
                  <a:pt x="17279" y="127864"/>
                </a:lnTo>
                <a:cubicBezTo>
                  <a:pt x="17279" y="110671"/>
                  <a:pt x="31188" y="96762"/>
                  <a:pt x="48381" y="96762"/>
                </a:cubicBezTo>
                <a:lnTo>
                  <a:pt x="100218" y="96762"/>
                </a:lnTo>
                <a:lnTo>
                  <a:pt x="100218" y="69116"/>
                </a:lnTo>
                <a:lnTo>
                  <a:pt x="96762" y="69116"/>
                </a:lnTo>
                <a:cubicBezTo>
                  <a:pt x="89116" y="69116"/>
                  <a:pt x="82939" y="62938"/>
                  <a:pt x="82939" y="55293"/>
                </a:cubicBezTo>
                <a:lnTo>
                  <a:pt x="82939" y="27646"/>
                </a:lnTo>
                <a:close/>
              </a:path>
            </a:pathLst>
          </a:custGeom>
          <a:solidFill>
            <a:srgbClr val="EDF2F4"/>
          </a:solidFill>
          <a:ln/>
        </p:spPr>
        <p:txBody>
          <a:bodyPr/>
          <a:lstStyle/>
          <a:p>
            <a:endParaRPr lang="en-GB"/>
          </a:p>
        </p:txBody>
      </p:sp>
      <p:sp>
        <p:nvSpPr>
          <p:cNvPr id="13" name="Text 11"/>
          <p:cNvSpPr/>
          <p:nvPr/>
        </p:nvSpPr>
        <p:spPr>
          <a:xfrm>
            <a:off x="1234866" y="3391275"/>
            <a:ext cx="4653787" cy="258032"/>
          </a:xfrm>
          <a:prstGeom prst="rect">
            <a:avLst/>
          </a:prstGeom>
          <a:noFill/>
          <a:ln/>
        </p:spPr>
        <p:txBody>
          <a:bodyPr wrap="square" lIns="0" tIns="0" rIns="0" bIns="0" rtlCol="0" anchor="ctr"/>
          <a:lstStyle/>
          <a:p>
            <a:pPr>
              <a:lnSpc>
                <a:spcPct val="120000"/>
              </a:lnSpc>
            </a:pPr>
            <a:r>
              <a:rPr lang="en-US" sz="1451" b="1" dirty="0">
                <a:solidFill>
                  <a:srgbClr val="EDF2F4"/>
                </a:solidFill>
                <a:latin typeface="Liter" pitchFamily="34" charset="0"/>
                <a:ea typeface="Liter" pitchFamily="34" charset="-122"/>
                <a:cs typeface="Liter" pitchFamily="34" charset="-120"/>
              </a:rPr>
              <a:t>Strong Architectural Reasoning</a:t>
            </a:r>
            <a:endParaRPr lang="en-US" sz="1600" dirty="0"/>
          </a:p>
        </p:txBody>
      </p:sp>
      <p:sp>
        <p:nvSpPr>
          <p:cNvPr id="14" name="Text 12"/>
          <p:cNvSpPr/>
          <p:nvPr/>
        </p:nvSpPr>
        <p:spPr>
          <a:xfrm>
            <a:off x="1234866" y="3723030"/>
            <a:ext cx="4635356" cy="958404"/>
          </a:xfrm>
          <a:prstGeom prst="rect">
            <a:avLst/>
          </a:prstGeom>
          <a:noFill/>
          <a:ln/>
        </p:spPr>
        <p:txBody>
          <a:bodyPr wrap="square" lIns="0" tIns="0" rIns="0" bIns="0" rtlCol="0" anchor="ctr"/>
          <a:lstStyle/>
          <a:p>
            <a:pPr>
              <a:lnSpc>
                <a:spcPct val="140000"/>
              </a:lnSpc>
            </a:pPr>
            <a:r>
              <a:rPr lang="en-US" sz="1161" dirty="0">
                <a:solidFill>
                  <a:srgbClr val="8D99AE"/>
                </a:solidFill>
                <a:latin typeface="Quattrocento Sans" pitchFamily="34" charset="0"/>
                <a:ea typeface="Quattrocento Sans" pitchFamily="34" charset="-122"/>
                <a:cs typeface="Quattrocento Sans" pitchFamily="34" charset="-120"/>
              </a:rPr>
              <a:t>Each project features </a:t>
            </a:r>
            <a:r>
              <a:rPr lang="en-US" sz="1161" b="1" dirty="0">
                <a:solidFill>
                  <a:srgbClr val="C9A86A"/>
                </a:solidFill>
                <a:latin typeface="Quattrocento Sans" pitchFamily="34" charset="0"/>
                <a:ea typeface="Quattrocento Sans" pitchFamily="34" charset="-122"/>
                <a:cs typeface="Quattrocento Sans" pitchFamily="34" charset="-120"/>
              </a:rPr>
              <a:t>well-designed hybrid architectures</a:t>
            </a:r>
            <a:r>
              <a:rPr lang="en-US" sz="1161" dirty="0">
                <a:solidFill>
                  <a:srgbClr val="8D99AE"/>
                </a:solidFill>
                <a:latin typeface="Quattrocento Sans" pitchFamily="34" charset="0"/>
                <a:ea typeface="Quattrocento Sans" pitchFamily="34" charset="-122"/>
                <a:cs typeface="Quattrocento Sans" pitchFamily="34" charset="-120"/>
              </a:rPr>
              <a:t> combining multiple AI paradigms: deliberative + learning for preprocessing, reactive + deliberative for robotics. This demonstrates deep understanding of agent design principles.</a:t>
            </a:r>
            <a:endParaRPr lang="en-US" sz="1600" dirty="0"/>
          </a:p>
        </p:txBody>
      </p:sp>
      <p:sp>
        <p:nvSpPr>
          <p:cNvPr id="15" name="Shape 13"/>
          <p:cNvSpPr/>
          <p:nvPr/>
        </p:nvSpPr>
        <p:spPr>
          <a:xfrm>
            <a:off x="3183927" y="5013188"/>
            <a:ext cx="5612190" cy="1714068"/>
          </a:xfrm>
          <a:custGeom>
            <a:avLst/>
            <a:gdLst/>
            <a:ahLst/>
            <a:cxnLst/>
            <a:rect l="l" t="t" r="r" b="b"/>
            <a:pathLst>
              <a:path w="5612190" h="1714068">
                <a:moveTo>
                  <a:pt x="110592" y="0"/>
                </a:moveTo>
                <a:lnTo>
                  <a:pt x="5501599" y="0"/>
                </a:lnTo>
                <a:cubicBezTo>
                  <a:pt x="5562677" y="0"/>
                  <a:pt x="5612190" y="49514"/>
                  <a:pt x="5612190" y="110592"/>
                </a:cubicBezTo>
                <a:lnTo>
                  <a:pt x="5612190" y="1603476"/>
                </a:lnTo>
                <a:cubicBezTo>
                  <a:pt x="5612190" y="1664554"/>
                  <a:pt x="5562677" y="1714068"/>
                  <a:pt x="5501599" y="1714068"/>
                </a:cubicBezTo>
                <a:lnTo>
                  <a:pt x="110592" y="1714068"/>
                </a:lnTo>
                <a:cubicBezTo>
                  <a:pt x="49514" y="1714068"/>
                  <a:pt x="0" y="1664554"/>
                  <a:pt x="0" y="1603476"/>
                </a:cubicBezTo>
                <a:lnTo>
                  <a:pt x="0" y="110592"/>
                </a:lnTo>
                <a:cubicBezTo>
                  <a:pt x="0" y="49554"/>
                  <a:pt x="49554" y="0"/>
                  <a:pt x="110592" y="0"/>
                </a:cubicBezTo>
                <a:close/>
              </a:path>
            </a:pathLst>
          </a:custGeom>
          <a:gradFill flip="none" rotWithShape="1">
            <a:gsLst>
              <a:gs pos="0">
                <a:srgbClr val="4A6C8C">
                  <a:alpha val="30000"/>
                </a:srgbClr>
              </a:gs>
              <a:gs pos="100000">
                <a:srgbClr val="4A6C8C">
                  <a:alpha val="10000"/>
                </a:srgbClr>
              </a:gs>
            </a:gsLst>
            <a:lin ang="2700000" scaled="1"/>
          </a:gradFill>
          <a:ln w="25400">
            <a:solidFill>
              <a:srgbClr val="4A6C8C"/>
            </a:solidFill>
            <a:prstDash val="solid"/>
          </a:ln>
        </p:spPr>
        <p:txBody>
          <a:bodyPr/>
          <a:lstStyle/>
          <a:p>
            <a:endParaRPr lang="en-GB"/>
          </a:p>
        </p:txBody>
      </p:sp>
      <p:sp>
        <p:nvSpPr>
          <p:cNvPr id="16" name="Shape 14"/>
          <p:cNvSpPr/>
          <p:nvPr/>
        </p:nvSpPr>
        <p:spPr>
          <a:xfrm>
            <a:off x="3377451" y="5225142"/>
            <a:ext cx="516063" cy="516063"/>
          </a:xfrm>
          <a:custGeom>
            <a:avLst/>
            <a:gdLst/>
            <a:ahLst/>
            <a:cxnLst/>
            <a:rect l="l" t="t" r="r" b="b"/>
            <a:pathLst>
              <a:path w="516063" h="516063">
                <a:moveTo>
                  <a:pt x="110587" y="0"/>
                </a:moveTo>
                <a:lnTo>
                  <a:pt x="405476" y="0"/>
                </a:lnTo>
                <a:cubicBezTo>
                  <a:pt x="466552" y="0"/>
                  <a:pt x="516063" y="49512"/>
                  <a:pt x="516063" y="110587"/>
                </a:cubicBezTo>
                <a:lnTo>
                  <a:pt x="516063" y="405476"/>
                </a:lnTo>
                <a:cubicBezTo>
                  <a:pt x="516063" y="466552"/>
                  <a:pt x="466552" y="516063"/>
                  <a:pt x="405476" y="516063"/>
                </a:cubicBezTo>
                <a:lnTo>
                  <a:pt x="110587" y="516063"/>
                </a:lnTo>
                <a:cubicBezTo>
                  <a:pt x="49512" y="516063"/>
                  <a:pt x="0" y="466552"/>
                  <a:pt x="0" y="405476"/>
                </a:cubicBezTo>
                <a:lnTo>
                  <a:pt x="0" y="110587"/>
                </a:lnTo>
                <a:cubicBezTo>
                  <a:pt x="0" y="49512"/>
                  <a:pt x="49512" y="0"/>
                  <a:pt x="110587" y="0"/>
                </a:cubicBezTo>
                <a:close/>
              </a:path>
            </a:pathLst>
          </a:custGeom>
          <a:solidFill>
            <a:srgbClr val="C9A86A"/>
          </a:solidFill>
          <a:ln/>
        </p:spPr>
        <p:txBody>
          <a:bodyPr/>
          <a:lstStyle/>
          <a:p>
            <a:endParaRPr lang="en-GB"/>
          </a:p>
        </p:txBody>
      </p:sp>
      <p:sp>
        <p:nvSpPr>
          <p:cNvPr id="17" name="Shape 15"/>
          <p:cNvSpPr/>
          <p:nvPr/>
        </p:nvSpPr>
        <p:spPr>
          <a:xfrm>
            <a:off x="3524898" y="5372589"/>
            <a:ext cx="221170" cy="221170"/>
          </a:xfrm>
          <a:custGeom>
            <a:avLst/>
            <a:gdLst/>
            <a:ahLst/>
            <a:cxnLst/>
            <a:rect l="l" t="t" r="r" b="b"/>
            <a:pathLst>
              <a:path w="221170" h="221170">
                <a:moveTo>
                  <a:pt x="152011" y="120952"/>
                </a:moveTo>
                <a:lnTo>
                  <a:pt x="69548" y="120952"/>
                </a:lnTo>
                <a:cubicBezTo>
                  <a:pt x="70800" y="148815"/>
                  <a:pt x="76978" y="174474"/>
                  <a:pt x="85747" y="193265"/>
                </a:cubicBezTo>
                <a:cubicBezTo>
                  <a:pt x="90671" y="203848"/>
                  <a:pt x="95984" y="211321"/>
                  <a:pt x="100909" y="215900"/>
                </a:cubicBezTo>
                <a:cubicBezTo>
                  <a:pt x="105747" y="220436"/>
                  <a:pt x="109073" y="221170"/>
                  <a:pt x="110801" y="221170"/>
                </a:cubicBezTo>
                <a:cubicBezTo>
                  <a:pt x="112529" y="221170"/>
                  <a:pt x="115855" y="220436"/>
                  <a:pt x="120693" y="215900"/>
                </a:cubicBezTo>
                <a:cubicBezTo>
                  <a:pt x="125618" y="211321"/>
                  <a:pt x="130931" y="203805"/>
                  <a:pt x="135855" y="193265"/>
                </a:cubicBezTo>
                <a:cubicBezTo>
                  <a:pt x="144624" y="174474"/>
                  <a:pt x="150802" y="148815"/>
                  <a:pt x="152054" y="120952"/>
                </a:cubicBezTo>
                <a:close/>
                <a:moveTo>
                  <a:pt x="69504" y="100218"/>
                </a:moveTo>
                <a:lnTo>
                  <a:pt x="151968" y="100218"/>
                </a:lnTo>
                <a:cubicBezTo>
                  <a:pt x="150759" y="72355"/>
                  <a:pt x="144581" y="46696"/>
                  <a:pt x="135812" y="27905"/>
                </a:cubicBezTo>
                <a:cubicBezTo>
                  <a:pt x="130888" y="17365"/>
                  <a:pt x="125574" y="9849"/>
                  <a:pt x="120650" y="5270"/>
                </a:cubicBezTo>
                <a:cubicBezTo>
                  <a:pt x="115812" y="734"/>
                  <a:pt x="112486" y="0"/>
                  <a:pt x="110758" y="0"/>
                </a:cubicBezTo>
                <a:cubicBezTo>
                  <a:pt x="109030" y="0"/>
                  <a:pt x="105704" y="734"/>
                  <a:pt x="100866" y="5270"/>
                </a:cubicBezTo>
                <a:cubicBezTo>
                  <a:pt x="95941" y="9849"/>
                  <a:pt x="90628" y="17365"/>
                  <a:pt x="85703" y="27905"/>
                </a:cubicBezTo>
                <a:cubicBezTo>
                  <a:pt x="76934" y="46696"/>
                  <a:pt x="70757" y="72355"/>
                  <a:pt x="69504" y="100218"/>
                </a:cubicBezTo>
                <a:close/>
                <a:moveTo>
                  <a:pt x="48770" y="100218"/>
                </a:moveTo>
                <a:cubicBezTo>
                  <a:pt x="50282" y="63241"/>
                  <a:pt x="59828" y="28899"/>
                  <a:pt x="73781" y="6350"/>
                </a:cubicBezTo>
                <a:cubicBezTo>
                  <a:pt x="33996" y="20432"/>
                  <a:pt x="4709" y="56675"/>
                  <a:pt x="648" y="100218"/>
                </a:cubicBezTo>
                <a:lnTo>
                  <a:pt x="48770" y="100218"/>
                </a:lnTo>
                <a:close/>
                <a:moveTo>
                  <a:pt x="648" y="120952"/>
                </a:moveTo>
                <a:cubicBezTo>
                  <a:pt x="4709" y="164495"/>
                  <a:pt x="33996" y="200738"/>
                  <a:pt x="73781" y="214820"/>
                </a:cubicBezTo>
                <a:cubicBezTo>
                  <a:pt x="59828" y="192271"/>
                  <a:pt x="50282" y="157929"/>
                  <a:pt x="48770" y="120952"/>
                </a:cubicBezTo>
                <a:lnTo>
                  <a:pt x="648" y="120952"/>
                </a:lnTo>
                <a:close/>
                <a:moveTo>
                  <a:pt x="172746" y="120952"/>
                </a:moveTo>
                <a:cubicBezTo>
                  <a:pt x="171234" y="157929"/>
                  <a:pt x="161687" y="192271"/>
                  <a:pt x="147735" y="214820"/>
                </a:cubicBezTo>
                <a:cubicBezTo>
                  <a:pt x="187519" y="200695"/>
                  <a:pt x="216807" y="164495"/>
                  <a:pt x="220868" y="120952"/>
                </a:cubicBezTo>
                <a:lnTo>
                  <a:pt x="172746" y="120952"/>
                </a:lnTo>
                <a:close/>
                <a:moveTo>
                  <a:pt x="220868" y="100218"/>
                </a:moveTo>
                <a:cubicBezTo>
                  <a:pt x="216807" y="56675"/>
                  <a:pt x="187519" y="20432"/>
                  <a:pt x="147735" y="6350"/>
                </a:cubicBezTo>
                <a:cubicBezTo>
                  <a:pt x="161687" y="28899"/>
                  <a:pt x="171234" y="63241"/>
                  <a:pt x="172746" y="100218"/>
                </a:cubicBezTo>
                <a:lnTo>
                  <a:pt x="220868" y="100218"/>
                </a:lnTo>
                <a:close/>
              </a:path>
            </a:pathLst>
          </a:custGeom>
          <a:solidFill>
            <a:srgbClr val="1A1D24"/>
          </a:solidFill>
          <a:ln/>
        </p:spPr>
        <p:txBody>
          <a:bodyPr/>
          <a:lstStyle/>
          <a:p>
            <a:endParaRPr lang="en-GB"/>
          </a:p>
        </p:txBody>
      </p:sp>
      <p:sp>
        <p:nvSpPr>
          <p:cNvPr id="18" name="Text 16"/>
          <p:cNvSpPr/>
          <p:nvPr/>
        </p:nvSpPr>
        <p:spPr>
          <a:xfrm>
            <a:off x="4040961" y="5225142"/>
            <a:ext cx="4653787" cy="258032"/>
          </a:xfrm>
          <a:prstGeom prst="rect">
            <a:avLst/>
          </a:prstGeom>
          <a:noFill/>
          <a:ln/>
        </p:spPr>
        <p:txBody>
          <a:bodyPr wrap="square" lIns="0" tIns="0" rIns="0" bIns="0" rtlCol="0" anchor="ctr"/>
          <a:lstStyle/>
          <a:p>
            <a:pPr>
              <a:lnSpc>
                <a:spcPct val="120000"/>
              </a:lnSpc>
            </a:pPr>
            <a:r>
              <a:rPr lang="en-US" sz="1451" b="1" dirty="0">
                <a:solidFill>
                  <a:srgbClr val="EDF2F4"/>
                </a:solidFill>
                <a:latin typeface="Liter" pitchFamily="34" charset="0"/>
                <a:ea typeface="Liter" pitchFamily="34" charset="-122"/>
                <a:cs typeface="Liter" pitchFamily="34" charset="-120"/>
              </a:rPr>
              <a:t>Real-World Impact</a:t>
            </a:r>
            <a:endParaRPr lang="en-US" sz="1600" dirty="0"/>
          </a:p>
        </p:txBody>
      </p:sp>
      <p:sp>
        <p:nvSpPr>
          <p:cNvPr id="19" name="Text 17"/>
          <p:cNvSpPr/>
          <p:nvPr/>
        </p:nvSpPr>
        <p:spPr>
          <a:xfrm>
            <a:off x="4040961" y="5556897"/>
            <a:ext cx="4635356" cy="958404"/>
          </a:xfrm>
          <a:prstGeom prst="rect">
            <a:avLst/>
          </a:prstGeom>
          <a:noFill/>
          <a:ln/>
        </p:spPr>
        <p:txBody>
          <a:bodyPr wrap="square" lIns="0" tIns="0" rIns="0" bIns="0" rtlCol="0" anchor="ctr"/>
          <a:lstStyle/>
          <a:p>
            <a:pPr>
              <a:lnSpc>
                <a:spcPct val="140000"/>
              </a:lnSpc>
            </a:pPr>
            <a:r>
              <a:rPr lang="en-US" sz="1161" dirty="0">
                <a:solidFill>
                  <a:srgbClr val="8D99AE"/>
                </a:solidFill>
                <a:latin typeface="Quattrocento Sans" pitchFamily="34" charset="0"/>
                <a:ea typeface="Quattrocento Sans" pitchFamily="34" charset="-122"/>
                <a:cs typeface="Quattrocento Sans" pitchFamily="34" charset="-120"/>
              </a:rPr>
              <a:t>Both projects address </a:t>
            </a:r>
            <a:r>
              <a:rPr lang="en-US" sz="1161" b="1" dirty="0">
                <a:solidFill>
                  <a:srgbClr val="C9A86A"/>
                </a:solidFill>
                <a:latin typeface="Quattrocento Sans" pitchFamily="34" charset="0"/>
                <a:ea typeface="Quattrocento Sans" pitchFamily="34" charset="-122"/>
                <a:cs typeface="Quattrocento Sans" pitchFamily="34" charset="-120"/>
              </a:rPr>
              <a:t>practical, high-impact problems</a:t>
            </a:r>
            <a:r>
              <a:rPr lang="en-US" sz="1161" dirty="0">
                <a:solidFill>
                  <a:srgbClr val="8D99AE"/>
                </a:solidFill>
                <a:latin typeface="Quattrocento Sans" pitchFamily="34" charset="0"/>
                <a:ea typeface="Quattrocento Sans" pitchFamily="34" charset="-122"/>
                <a:cs typeface="Quattrocento Sans" pitchFamily="34" charset="-120"/>
              </a:rPr>
              <a:t>: automated data preprocessing accelerates AI development, while autonomous waste collection contributes to smart city infrastructure and environmental sustainability.</a:t>
            </a:r>
            <a:endParaRPr lang="en-US" sz="1600" dirty="0"/>
          </a:p>
        </p:txBody>
      </p:sp>
      <p:sp>
        <p:nvSpPr>
          <p:cNvPr id="20" name="Shape 18"/>
          <p:cNvSpPr/>
          <p:nvPr/>
        </p:nvSpPr>
        <p:spPr>
          <a:xfrm>
            <a:off x="6195786" y="1299375"/>
            <a:ext cx="5612190" cy="1677206"/>
          </a:xfrm>
          <a:custGeom>
            <a:avLst/>
            <a:gdLst/>
            <a:ahLst/>
            <a:cxnLst/>
            <a:rect l="l" t="t" r="r" b="b"/>
            <a:pathLst>
              <a:path w="5612190" h="1677206">
                <a:moveTo>
                  <a:pt x="110578" y="0"/>
                </a:moveTo>
                <a:lnTo>
                  <a:pt x="5501612" y="0"/>
                </a:lnTo>
                <a:cubicBezTo>
                  <a:pt x="5562683" y="0"/>
                  <a:pt x="5612190" y="49508"/>
                  <a:pt x="5612190" y="110578"/>
                </a:cubicBezTo>
                <a:lnTo>
                  <a:pt x="5612190" y="1566628"/>
                </a:lnTo>
                <a:cubicBezTo>
                  <a:pt x="5612190" y="1627699"/>
                  <a:pt x="5562683" y="1677206"/>
                  <a:pt x="5501612" y="1677206"/>
                </a:cubicBezTo>
                <a:lnTo>
                  <a:pt x="110578" y="1677206"/>
                </a:lnTo>
                <a:cubicBezTo>
                  <a:pt x="49508" y="1677206"/>
                  <a:pt x="0" y="1627699"/>
                  <a:pt x="0" y="1566628"/>
                </a:cubicBezTo>
                <a:lnTo>
                  <a:pt x="0" y="110578"/>
                </a:lnTo>
                <a:cubicBezTo>
                  <a:pt x="0" y="49508"/>
                  <a:pt x="49508" y="0"/>
                  <a:pt x="110578" y="0"/>
                </a:cubicBezTo>
                <a:close/>
              </a:path>
            </a:pathLst>
          </a:custGeom>
          <a:gradFill flip="none" rotWithShape="1">
            <a:gsLst>
              <a:gs pos="0">
                <a:srgbClr val="C9A86A">
                  <a:alpha val="30000"/>
                </a:srgbClr>
              </a:gs>
              <a:gs pos="100000">
                <a:srgbClr val="C9A86A">
                  <a:alpha val="10000"/>
                </a:srgbClr>
              </a:gs>
            </a:gsLst>
            <a:lin ang="2700000" scaled="1"/>
          </a:gradFill>
          <a:ln w="25400">
            <a:solidFill>
              <a:srgbClr val="C9A86A"/>
            </a:solidFill>
            <a:prstDash val="solid"/>
          </a:ln>
        </p:spPr>
        <p:txBody>
          <a:bodyPr/>
          <a:lstStyle/>
          <a:p>
            <a:endParaRPr lang="en-GB"/>
          </a:p>
        </p:txBody>
      </p:sp>
      <p:sp>
        <p:nvSpPr>
          <p:cNvPr id="21" name="Shape 19"/>
          <p:cNvSpPr/>
          <p:nvPr/>
        </p:nvSpPr>
        <p:spPr>
          <a:xfrm>
            <a:off x="6389310" y="1492898"/>
            <a:ext cx="516063" cy="516063"/>
          </a:xfrm>
          <a:custGeom>
            <a:avLst/>
            <a:gdLst/>
            <a:ahLst/>
            <a:cxnLst/>
            <a:rect l="l" t="t" r="r" b="b"/>
            <a:pathLst>
              <a:path w="516063" h="516063">
                <a:moveTo>
                  <a:pt x="110587" y="0"/>
                </a:moveTo>
                <a:lnTo>
                  <a:pt x="405476" y="0"/>
                </a:lnTo>
                <a:cubicBezTo>
                  <a:pt x="466552" y="0"/>
                  <a:pt x="516063" y="49512"/>
                  <a:pt x="516063" y="110587"/>
                </a:cubicBezTo>
                <a:lnTo>
                  <a:pt x="516063" y="405476"/>
                </a:lnTo>
                <a:cubicBezTo>
                  <a:pt x="516063" y="466552"/>
                  <a:pt x="466552" y="516063"/>
                  <a:pt x="405476" y="516063"/>
                </a:cubicBezTo>
                <a:lnTo>
                  <a:pt x="110587" y="516063"/>
                </a:lnTo>
                <a:cubicBezTo>
                  <a:pt x="49512" y="516063"/>
                  <a:pt x="0" y="466552"/>
                  <a:pt x="0" y="405476"/>
                </a:cubicBezTo>
                <a:lnTo>
                  <a:pt x="0" y="110587"/>
                </a:lnTo>
                <a:cubicBezTo>
                  <a:pt x="0" y="49512"/>
                  <a:pt x="49512" y="0"/>
                  <a:pt x="110587" y="0"/>
                </a:cubicBezTo>
                <a:close/>
              </a:path>
            </a:pathLst>
          </a:custGeom>
          <a:solidFill>
            <a:srgbClr val="4A6C8C"/>
          </a:solidFill>
          <a:ln/>
        </p:spPr>
        <p:txBody>
          <a:bodyPr/>
          <a:lstStyle/>
          <a:p>
            <a:endParaRPr lang="en-GB"/>
          </a:p>
        </p:txBody>
      </p:sp>
      <p:sp>
        <p:nvSpPr>
          <p:cNvPr id="22" name="Shape 20"/>
          <p:cNvSpPr/>
          <p:nvPr/>
        </p:nvSpPr>
        <p:spPr>
          <a:xfrm>
            <a:off x="6550579" y="1640345"/>
            <a:ext cx="193524" cy="221170"/>
          </a:xfrm>
          <a:custGeom>
            <a:avLst/>
            <a:gdLst/>
            <a:ahLst/>
            <a:cxnLst/>
            <a:rect l="l" t="t" r="r" b="b"/>
            <a:pathLst>
              <a:path w="193524" h="221170">
                <a:moveTo>
                  <a:pt x="72571" y="13823"/>
                </a:moveTo>
                <a:lnTo>
                  <a:pt x="10367" y="13823"/>
                </a:lnTo>
                <a:cubicBezTo>
                  <a:pt x="4622" y="13823"/>
                  <a:pt x="0" y="18445"/>
                  <a:pt x="0" y="24190"/>
                </a:cubicBezTo>
                <a:lnTo>
                  <a:pt x="0" y="86395"/>
                </a:lnTo>
                <a:cubicBezTo>
                  <a:pt x="0" y="90585"/>
                  <a:pt x="2505" y="94386"/>
                  <a:pt x="6393" y="95984"/>
                </a:cubicBezTo>
                <a:cubicBezTo>
                  <a:pt x="10281" y="97583"/>
                  <a:pt x="14730" y="96676"/>
                  <a:pt x="17711" y="93738"/>
                </a:cubicBezTo>
                <a:lnTo>
                  <a:pt x="34990" y="76459"/>
                </a:lnTo>
                <a:lnTo>
                  <a:pt x="69116" y="110585"/>
                </a:lnTo>
                <a:lnTo>
                  <a:pt x="34990" y="144711"/>
                </a:lnTo>
                <a:lnTo>
                  <a:pt x="17711" y="127432"/>
                </a:lnTo>
                <a:cubicBezTo>
                  <a:pt x="14730" y="124451"/>
                  <a:pt x="10281" y="123587"/>
                  <a:pt x="6393" y="125186"/>
                </a:cubicBezTo>
                <a:cubicBezTo>
                  <a:pt x="2505" y="126784"/>
                  <a:pt x="0" y="130585"/>
                  <a:pt x="0" y="134776"/>
                </a:cubicBezTo>
                <a:lnTo>
                  <a:pt x="0" y="196980"/>
                </a:lnTo>
                <a:cubicBezTo>
                  <a:pt x="0" y="202725"/>
                  <a:pt x="4622" y="207347"/>
                  <a:pt x="10367" y="207347"/>
                </a:cubicBezTo>
                <a:lnTo>
                  <a:pt x="72571" y="207347"/>
                </a:lnTo>
                <a:cubicBezTo>
                  <a:pt x="76762" y="207347"/>
                  <a:pt x="80563" y="204841"/>
                  <a:pt x="82161" y="200954"/>
                </a:cubicBezTo>
                <a:cubicBezTo>
                  <a:pt x="83760" y="197066"/>
                  <a:pt x="82896" y="192617"/>
                  <a:pt x="79915" y="189636"/>
                </a:cubicBezTo>
                <a:lnTo>
                  <a:pt x="62636" y="172357"/>
                </a:lnTo>
                <a:lnTo>
                  <a:pt x="96762" y="138231"/>
                </a:lnTo>
                <a:lnTo>
                  <a:pt x="130888" y="172357"/>
                </a:lnTo>
                <a:lnTo>
                  <a:pt x="113609" y="189636"/>
                </a:lnTo>
                <a:cubicBezTo>
                  <a:pt x="110628" y="192617"/>
                  <a:pt x="109764" y="197066"/>
                  <a:pt x="111363" y="200954"/>
                </a:cubicBezTo>
                <a:cubicBezTo>
                  <a:pt x="112961" y="204841"/>
                  <a:pt x="116762" y="207347"/>
                  <a:pt x="120952" y="207347"/>
                </a:cubicBezTo>
                <a:lnTo>
                  <a:pt x="183156" y="207347"/>
                </a:lnTo>
                <a:cubicBezTo>
                  <a:pt x="188902" y="207347"/>
                  <a:pt x="193524" y="202725"/>
                  <a:pt x="193524" y="196980"/>
                </a:cubicBezTo>
                <a:lnTo>
                  <a:pt x="193524" y="134776"/>
                </a:lnTo>
                <a:cubicBezTo>
                  <a:pt x="193524" y="130585"/>
                  <a:pt x="191018" y="126784"/>
                  <a:pt x="187131" y="125186"/>
                </a:cubicBezTo>
                <a:cubicBezTo>
                  <a:pt x="183243" y="123587"/>
                  <a:pt x="178794" y="124451"/>
                  <a:pt x="175813" y="127432"/>
                </a:cubicBezTo>
                <a:lnTo>
                  <a:pt x="158534" y="144711"/>
                </a:lnTo>
                <a:lnTo>
                  <a:pt x="124408" y="110585"/>
                </a:lnTo>
                <a:lnTo>
                  <a:pt x="158534" y="76459"/>
                </a:lnTo>
                <a:lnTo>
                  <a:pt x="175813" y="93738"/>
                </a:lnTo>
                <a:cubicBezTo>
                  <a:pt x="178794" y="96719"/>
                  <a:pt x="183243" y="97583"/>
                  <a:pt x="187131" y="95984"/>
                </a:cubicBezTo>
                <a:cubicBezTo>
                  <a:pt x="191018" y="94386"/>
                  <a:pt x="193524" y="90585"/>
                  <a:pt x="193524" y="86395"/>
                </a:cubicBezTo>
                <a:lnTo>
                  <a:pt x="193524" y="24190"/>
                </a:lnTo>
                <a:cubicBezTo>
                  <a:pt x="193524" y="18445"/>
                  <a:pt x="188902" y="13823"/>
                  <a:pt x="183156" y="13823"/>
                </a:cubicBezTo>
                <a:lnTo>
                  <a:pt x="120952" y="13823"/>
                </a:lnTo>
                <a:cubicBezTo>
                  <a:pt x="116762" y="13823"/>
                  <a:pt x="112961" y="16329"/>
                  <a:pt x="111363" y="20216"/>
                </a:cubicBezTo>
                <a:cubicBezTo>
                  <a:pt x="109764" y="24104"/>
                  <a:pt x="110671" y="28553"/>
                  <a:pt x="113609" y="31534"/>
                </a:cubicBezTo>
                <a:lnTo>
                  <a:pt x="130888" y="48813"/>
                </a:lnTo>
                <a:lnTo>
                  <a:pt x="96762" y="82939"/>
                </a:lnTo>
                <a:lnTo>
                  <a:pt x="62636" y="48813"/>
                </a:lnTo>
                <a:lnTo>
                  <a:pt x="79915" y="31534"/>
                </a:lnTo>
                <a:cubicBezTo>
                  <a:pt x="82896" y="28553"/>
                  <a:pt x="83760" y="24104"/>
                  <a:pt x="82161" y="20216"/>
                </a:cubicBezTo>
                <a:cubicBezTo>
                  <a:pt x="80563" y="16329"/>
                  <a:pt x="76762" y="13823"/>
                  <a:pt x="72571" y="13823"/>
                </a:cubicBezTo>
                <a:close/>
              </a:path>
            </a:pathLst>
          </a:custGeom>
          <a:solidFill>
            <a:srgbClr val="EDF2F4"/>
          </a:solidFill>
          <a:ln/>
        </p:spPr>
        <p:txBody>
          <a:bodyPr/>
          <a:lstStyle/>
          <a:p>
            <a:endParaRPr lang="en-GB"/>
          </a:p>
        </p:txBody>
      </p:sp>
      <p:sp>
        <p:nvSpPr>
          <p:cNvPr id="23" name="Text 21"/>
          <p:cNvSpPr/>
          <p:nvPr/>
        </p:nvSpPr>
        <p:spPr>
          <a:xfrm>
            <a:off x="7052820" y="1492898"/>
            <a:ext cx="4653787" cy="258032"/>
          </a:xfrm>
          <a:prstGeom prst="rect">
            <a:avLst/>
          </a:prstGeom>
          <a:noFill/>
          <a:ln/>
        </p:spPr>
        <p:txBody>
          <a:bodyPr wrap="square" lIns="0" tIns="0" rIns="0" bIns="0" rtlCol="0" anchor="ctr"/>
          <a:lstStyle/>
          <a:p>
            <a:pPr>
              <a:lnSpc>
                <a:spcPct val="120000"/>
              </a:lnSpc>
            </a:pPr>
            <a:r>
              <a:rPr lang="en-US" sz="1451" b="1" dirty="0">
                <a:solidFill>
                  <a:srgbClr val="EDF2F4"/>
                </a:solidFill>
                <a:latin typeface="Liter" pitchFamily="34" charset="0"/>
                <a:ea typeface="Liter" pitchFamily="34" charset="-122"/>
                <a:cs typeface="Liter" pitchFamily="34" charset="-120"/>
              </a:rPr>
              <a:t>Scalable and Extensible</a:t>
            </a:r>
            <a:endParaRPr lang="en-US" sz="1600" dirty="0"/>
          </a:p>
        </p:txBody>
      </p:sp>
      <p:sp>
        <p:nvSpPr>
          <p:cNvPr id="24" name="Text 22"/>
          <p:cNvSpPr/>
          <p:nvPr/>
        </p:nvSpPr>
        <p:spPr>
          <a:xfrm>
            <a:off x="7052820" y="1824653"/>
            <a:ext cx="4635356" cy="958404"/>
          </a:xfrm>
          <a:prstGeom prst="rect">
            <a:avLst/>
          </a:prstGeom>
          <a:noFill/>
          <a:ln/>
        </p:spPr>
        <p:txBody>
          <a:bodyPr wrap="square" lIns="0" tIns="0" rIns="0" bIns="0" rtlCol="0" anchor="ctr"/>
          <a:lstStyle/>
          <a:p>
            <a:pPr>
              <a:lnSpc>
                <a:spcPct val="140000"/>
              </a:lnSpc>
            </a:pPr>
            <a:r>
              <a:rPr lang="en-US" sz="1161" dirty="0">
                <a:solidFill>
                  <a:srgbClr val="8D99AE"/>
                </a:solidFill>
                <a:latin typeface="Quattrocento Sans" pitchFamily="34" charset="0"/>
                <a:ea typeface="Quattrocento Sans" pitchFamily="34" charset="-122"/>
                <a:cs typeface="Quattrocento Sans" pitchFamily="34" charset="-120"/>
              </a:rPr>
              <a:t>The architectures are designed for </a:t>
            </a:r>
            <a:r>
              <a:rPr lang="en-US" sz="1161" b="1" dirty="0">
                <a:solidFill>
                  <a:srgbClr val="C9A86A"/>
                </a:solidFill>
                <a:latin typeface="Quattrocento Sans" pitchFamily="34" charset="0"/>
                <a:ea typeface="Quattrocento Sans" pitchFamily="34" charset="-122"/>
                <a:cs typeface="Quattrocento Sans" pitchFamily="34" charset="-120"/>
              </a:rPr>
              <a:t>future growth and enhancement</a:t>
            </a:r>
            <a:r>
              <a:rPr lang="en-US" sz="1161" dirty="0">
                <a:solidFill>
                  <a:srgbClr val="8D99AE"/>
                </a:solidFill>
                <a:latin typeface="Quattrocento Sans" pitchFamily="34" charset="0"/>
                <a:ea typeface="Quattrocento Sans" pitchFamily="34" charset="-122"/>
                <a:cs typeface="Quattrocento Sans" pitchFamily="34" charset="-120"/>
              </a:rPr>
              <a:t>. The preprocessing agent can support additional data modalities, while the robot can integrate new sensors, manipulation capabilities, and coordination with other agents.</a:t>
            </a:r>
            <a:endParaRPr lang="en-US" sz="1600" dirty="0"/>
          </a:p>
        </p:txBody>
      </p:sp>
      <p:sp>
        <p:nvSpPr>
          <p:cNvPr id="25" name="Shape 23"/>
          <p:cNvSpPr/>
          <p:nvPr/>
        </p:nvSpPr>
        <p:spPr>
          <a:xfrm>
            <a:off x="6195786" y="3179320"/>
            <a:ext cx="5612190" cy="1677206"/>
          </a:xfrm>
          <a:custGeom>
            <a:avLst/>
            <a:gdLst/>
            <a:ahLst/>
            <a:cxnLst/>
            <a:rect l="l" t="t" r="r" b="b"/>
            <a:pathLst>
              <a:path w="5612190" h="1677206">
                <a:moveTo>
                  <a:pt x="110578" y="0"/>
                </a:moveTo>
                <a:lnTo>
                  <a:pt x="5501612" y="0"/>
                </a:lnTo>
                <a:cubicBezTo>
                  <a:pt x="5562683" y="0"/>
                  <a:pt x="5612190" y="49508"/>
                  <a:pt x="5612190" y="110578"/>
                </a:cubicBezTo>
                <a:lnTo>
                  <a:pt x="5612190" y="1566628"/>
                </a:lnTo>
                <a:cubicBezTo>
                  <a:pt x="5612190" y="1627699"/>
                  <a:pt x="5562683" y="1677206"/>
                  <a:pt x="5501612" y="1677206"/>
                </a:cubicBezTo>
                <a:lnTo>
                  <a:pt x="110578" y="1677206"/>
                </a:lnTo>
                <a:cubicBezTo>
                  <a:pt x="49508" y="1677206"/>
                  <a:pt x="0" y="1627699"/>
                  <a:pt x="0" y="1566628"/>
                </a:cubicBezTo>
                <a:lnTo>
                  <a:pt x="0" y="110578"/>
                </a:lnTo>
                <a:cubicBezTo>
                  <a:pt x="0" y="49508"/>
                  <a:pt x="49508" y="0"/>
                  <a:pt x="110578" y="0"/>
                </a:cubicBezTo>
                <a:close/>
              </a:path>
            </a:pathLst>
          </a:custGeom>
          <a:gradFill flip="none" rotWithShape="1">
            <a:gsLst>
              <a:gs pos="0">
                <a:srgbClr val="C9A86A">
                  <a:alpha val="30000"/>
                </a:srgbClr>
              </a:gs>
              <a:gs pos="100000">
                <a:srgbClr val="C9A86A">
                  <a:alpha val="10000"/>
                </a:srgbClr>
              </a:gs>
            </a:gsLst>
            <a:lin ang="2700000" scaled="1"/>
          </a:gradFill>
          <a:ln w="25400">
            <a:solidFill>
              <a:srgbClr val="C9A86A"/>
            </a:solidFill>
            <a:prstDash val="solid"/>
          </a:ln>
        </p:spPr>
        <p:txBody>
          <a:bodyPr/>
          <a:lstStyle/>
          <a:p>
            <a:endParaRPr lang="en-GB"/>
          </a:p>
        </p:txBody>
      </p:sp>
      <p:sp>
        <p:nvSpPr>
          <p:cNvPr id="26" name="Shape 24"/>
          <p:cNvSpPr/>
          <p:nvPr/>
        </p:nvSpPr>
        <p:spPr>
          <a:xfrm>
            <a:off x="6389310" y="3372844"/>
            <a:ext cx="516063" cy="516063"/>
          </a:xfrm>
          <a:custGeom>
            <a:avLst/>
            <a:gdLst/>
            <a:ahLst/>
            <a:cxnLst/>
            <a:rect l="l" t="t" r="r" b="b"/>
            <a:pathLst>
              <a:path w="516063" h="516063">
                <a:moveTo>
                  <a:pt x="110587" y="0"/>
                </a:moveTo>
                <a:lnTo>
                  <a:pt x="405476" y="0"/>
                </a:lnTo>
                <a:cubicBezTo>
                  <a:pt x="466552" y="0"/>
                  <a:pt x="516063" y="49512"/>
                  <a:pt x="516063" y="110587"/>
                </a:cubicBezTo>
                <a:lnTo>
                  <a:pt x="516063" y="405476"/>
                </a:lnTo>
                <a:cubicBezTo>
                  <a:pt x="516063" y="466552"/>
                  <a:pt x="466552" y="516063"/>
                  <a:pt x="405476" y="516063"/>
                </a:cubicBezTo>
                <a:lnTo>
                  <a:pt x="110587" y="516063"/>
                </a:lnTo>
                <a:cubicBezTo>
                  <a:pt x="49512" y="516063"/>
                  <a:pt x="0" y="466552"/>
                  <a:pt x="0" y="405476"/>
                </a:cubicBezTo>
                <a:lnTo>
                  <a:pt x="0" y="110587"/>
                </a:lnTo>
                <a:cubicBezTo>
                  <a:pt x="0" y="49512"/>
                  <a:pt x="49512" y="0"/>
                  <a:pt x="110587" y="0"/>
                </a:cubicBezTo>
                <a:close/>
              </a:path>
            </a:pathLst>
          </a:custGeom>
          <a:solidFill>
            <a:srgbClr val="C9A86A"/>
          </a:solidFill>
          <a:ln/>
        </p:spPr>
        <p:txBody>
          <a:bodyPr/>
          <a:lstStyle/>
          <a:p>
            <a:endParaRPr lang="en-GB"/>
          </a:p>
        </p:txBody>
      </p:sp>
      <p:sp>
        <p:nvSpPr>
          <p:cNvPr id="27" name="Shape 25"/>
          <p:cNvSpPr/>
          <p:nvPr/>
        </p:nvSpPr>
        <p:spPr>
          <a:xfrm>
            <a:off x="6522933" y="3520291"/>
            <a:ext cx="248816" cy="221170"/>
          </a:xfrm>
          <a:custGeom>
            <a:avLst/>
            <a:gdLst/>
            <a:ahLst/>
            <a:cxnLst/>
            <a:rect l="l" t="t" r="r" b="b"/>
            <a:pathLst>
              <a:path w="248816" h="221170">
                <a:moveTo>
                  <a:pt x="220047" y="42593"/>
                </a:moveTo>
                <a:cubicBezTo>
                  <a:pt x="223330" y="39310"/>
                  <a:pt x="228816" y="40130"/>
                  <a:pt x="230457" y="44450"/>
                </a:cubicBezTo>
                <a:cubicBezTo>
                  <a:pt x="233395" y="52096"/>
                  <a:pt x="234993" y="60433"/>
                  <a:pt x="234993" y="69116"/>
                </a:cubicBezTo>
                <a:cubicBezTo>
                  <a:pt x="234993" y="107302"/>
                  <a:pt x="204064" y="138231"/>
                  <a:pt x="165878" y="138231"/>
                </a:cubicBezTo>
                <a:cubicBezTo>
                  <a:pt x="158318" y="138231"/>
                  <a:pt x="151018" y="137022"/>
                  <a:pt x="144193" y="134776"/>
                </a:cubicBezTo>
                <a:lnTo>
                  <a:pt x="63457" y="215511"/>
                </a:lnTo>
                <a:cubicBezTo>
                  <a:pt x="51318" y="227650"/>
                  <a:pt x="31620" y="227650"/>
                  <a:pt x="19482" y="215511"/>
                </a:cubicBezTo>
                <a:cubicBezTo>
                  <a:pt x="7344" y="203373"/>
                  <a:pt x="7344" y="183675"/>
                  <a:pt x="19482" y="171536"/>
                </a:cubicBezTo>
                <a:lnTo>
                  <a:pt x="100218" y="90801"/>
                </a:lnTo>
                <a:cubicBezTo>
                  <a:pt x="97971" y="83976"/>
                  <a:pt x="96762" y="76718"/>
                  <a:pt x="96762" y="69116"/>
                </a:cubicBezTo>
                <a:cubicBezTo>
                  <a:pt x="96762" y="30929"/>
                  <a:pt x="127691" y="0"/>
                  <a:pt x="165878" y="0"/>
                </a:cubicBezTo>
                <a:cubicBezTo>
                  <a:pt x="174560" y="0"/>
                  <a:pt x="182897" y="1598"/>
                  <a:pt x="190543" y="4536"/>
                </a:cubicBezTo>
                <a:cubicBezTo>
                  <a:pt x="194863" y="6177"/>
                  <a:pt x="195640" y="11663"/>
                  <a:pt x="192401" y="14946"/>
                </a:cubicBezTo>
                <a:lnTo>
                  <a:pt x="154085" y="53262"/>
                </a:lnTo>
                <a:cubicBezTo>
                  <a:pt x="152789" y="54558"/>
                  <a:pt x="152054" y="56329"/>
                  <a:pt x="152054" y="58144"/>
                </a:cubicBezTo>
                <a:lnTo>
                  <a:pt x="152054" y="76027"/>
                </a:lnTo>
                <a:cubicBezTo>
                  <a:pt x="152054" y="79829"/>
                  <a:pt x="155165" y="82939"/>
                  <a:pt x="158966" y="82939"/>
                </a:cubicBezTo>
                <a:lnTo>
                  <a:pt x="176850" y="82939"/>
                </a:lnTo>
                <a:cubicBezTo>
                  <a:pt x="178664" y="82939"/>
                  <a:pt x="180435" y="82204"/>
                  <a:pt x="181731" y="80909"/>
                </a:cubicBezTo>
                <a:lnTo>
                  <a:pt x="220047" y="42593"/>
                </a:lnTo>
                <a:close/>
              </a:path>
            </a:pathLst>
          </a:custGeom>
          <a:solidFill>
            <a:srgbClr val="1A1D24"/>
          </a:solidFill>
          <a:ln/>
        </p:spPr>
        <p:txBody>
          <a:bodyPr/>
          <a:lstStyle/>
          <a:p>
            <a:endParaRPr lang="en-GB"/>
          </a:p>
        </p:txBody>
      </p:sp>
      <p:sp>
        <p:nvSpPr>
          <p:cNvPr id="28" name="Text 26"/>
          <p:cNvSpPr/>
          <p:nvPr/>
        </p:nvSpPr>
        <p:spPr>
          <a:xfrm>
            <a:off x="7052820" y="3372844"/>
            <a:ext cx="4653787" cy="258032"/>
          </a:xfrm>
          <a:prstGeom prst="rect">
            <a:avLst/>
          </a:prstGeom>
          <a:noFill/>
          <a:ln/>
        </p:spPr>
        <p:txBody>
          <a:bodyPr wrap="square" lIns="0" tIns="0" rIns="0" bIns="0" rtlCol="0" anchor="ctr"/>
          <a:lstStyle/>
          <a:p>
            <a:pPr>
              <a:lnSpc>
                <a:spcPct val="120000"/>
              </a:lnSpc>
            </a:pPr>
            <a:r>
              <a:rPr lang="en-US" sz="1451" b="1" dirty="0">
                <a:solidFill>
                  <a:srgbClr val="EDF2F4"/>
                </a:solidFill>
                <a:latin typeface="Liter" pitchFamily="34" charset="0"/>
                <a:ea typeface="Liter" pitchFamily="34" charset="-122"/>
                <a:cs typeface="Liter" pitchFamily="34" charset="-120"/>
              </a:rPr>
              <a:t>Technically Feasible</a:t>
            </a:r>
            <a:endParaRPr lang="en-US" sz="1600" dirty="0"/>
          </a:p>
        </p:txBody>
      </p:sp>
      <p:sp>
        <p:nvSpPr>
          <p:cNvPr id="29" name="Text 27"/>
          <p:cNvSpPr/>
          <p:nvPr/>
        </p:nvSpPr>
        <p:spPr>
          <a:xfrm>
            <a:off x="7052820" y="3704599"/>
            <a:ext cx="4635356" cy="958404"/>
          </a:xfrm>
          <a:prstGeom prst="rect">
            <a:avLst/>
          </a:prstGeom>
          <a:noFill/>
          <a:ln/>
        </p:spPr>
        <p:txBody>
          <a:bodyPr wrap="square" lIns="0" tIns="0" rIns="0" bIns="0" rtlCol="0" anchor="ctr"/>
          <a:lstStyle/>
          <a:p>
            <a:pPr>
              <a:lnSpc>
                <a:spcPct val="140000"/>
              </a:lnSpc>
            </a:pPr>
            <a:r>
              <a:rPr lang="en-US" sz="1161" dirty="0">
                <a:solidFill>
                  <a:srgbClr val="8D99AE"/>
                </a:solidFill>
                <a:latin typeface="Quattrocento Sans" pitchFamily="34" charset="0"/>
                <a:ea typeface="Quattrocento Sans" pitchFamily="34" charset="-122"/>
                <a:cs typeface="Quattrocento Sans" pitchFamily="34" charset="-120"/>
              </a:rPr>
              <a:t>Both projects leverage </a:t>
            </a:r>
            <a:r>
              <a:rPr lang="en-US" sz="1161" b="1" dirty="0">
                <a:solidFill>
                  <a:srgbClr val="C9A86A"/>
                </a:solidFill>
                <a:latin typeface="Quattrocento Sans" pitchFamily="34" charset="0"/>
                <a:ea typeface="Quattrocento Sans" pitchFamily="34" charset="-122"/>
                <a:cs typeface="Quattrocento Sans" pitchFamily="34" charset="-120"/>
              </a:rPr>
              <a:t>established technologies and frameworks</a:t>
            </a:r>
            <a:r>
              <a:rPr lang="en-US" sz="1161" dirty="0">
                <a:solidFill>
                  <a:srgbClr val="8D99AE"/>
                </a:solidFill>
                <a:latin typeface="Quattrocento Sans" pitchFamily="34" charset="0"/>
                <a:ea typeface="Quattrocento Sans" pitchFamily="34" charset="-122"/>
                <a:cs typeface="Quattrocento Sans" pitchFamily="34" charset="-120"/>
              </a:rPr>
              <a:t>: Python ML libraries, ROS for robotics, computer vision models, and simulation environments. They are achievable within course timelines while remaining academically rigorous.</a:t>
            </a:r>
            <a:endParaRPr lang="en-US" sz="1600" dirty="0"/>
          </a:p>
        </p:txBody>
      </p:sp>
    </p:spTree>
  </p:cSld>
  <p:clrMapOvr>
    <a:masterClrMapping/>
  </p:clrMapOvr>
  <p:transition>
    <p:fade/>
  </p:transition>
</p:sld>
</file>

<file path=ppt/theme/theme1.xml><?xml version="1.0" encoding="utf-8"?>
<a:theme xmlns:a="http://schemas.openxmlformats.org/drawingml/2006/main" name="Custom Theme">
  <a:themeElements>
    <a:clrScheme name="Custom">
      <a:dk1>
        <a:srgbClr val="000000"/>
      </a:dk1>
      <a:lt1>
        <a:srgbClr val="FFFFFF"/>
      </a:lt1>
      <a:dk2>
        <a:srgbClr val="333333"/>
      </a:dk2>
      <a:lt2>
        <a:srgbClr val="EEEEEE"/>
      </a:lt2>
      <a:accent1>
        <a:srgbClr val="8DAAC2"/>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18</TotalTime>
  <Words>1295</Words>
  <Application>Microsoft Office PowerPoint</Application>
  <PresentationFormat>Widescreen</PresentationFormat>
  <Paragraphs>237</Paragraphs>
  <Slides>11</Slides>
  <Notes>11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微软雅黑</vt:lpstr>
      <vt:lpstr>Arial</vt:lpstr>
      <vt:lpstr>Quattrocento Sans</vt:lpstr>
      <vt:lpstr>Liter</vt:lpstr>
      <vt:lpstr>Custom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Moonshot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Proposed Intelligent Agent Projects</dc:title>
  <dc:subject>Proposed Intelligent Agent Projects</dc:subject>
  <dc:creator>Kimi</dc:creator>
  <cp:lastModifiedBy>Ammar Alaa Bektash</cp:lastModifiedBy>
  <cp:revision>4</cp:revision>
  <dcterms:created xsi:type="dcterms:W3CDTF">2026-03-04T13:32:34Z</dcterms:created>
  <dcterms:modified xsi:type="dcterms:W3CDTF">2026-03-05T07:14:29Z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IGC">
    <vt:lpwstr>{"Label":"Proposed Intelligent Agent Projects","ContentProducer":"001191110108MACG2KBH8F10000","ProduceID":"19cb90a5-7d32-8d37-8000-00005f094e7a","ReservedCode1":"","ContentPropagator":"001191110108MACG2KBH8F20000","PropagateID":"19cb90a5-7d32-8d37-8000-00005f094e7a","ReservedCode2":""}</vt:lpwstr>
  </property>
</Properties>
</file>